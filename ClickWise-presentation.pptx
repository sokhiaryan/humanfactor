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otivation" id="{676df2c0-e539-395e-5832-97ac131b7d57}">
          <p14:sldIdLst>
            <p14:sldId id="256"/>
            <p14:sldId id="257"/>
            <p14:sldId id="258"/>
          </p14:sldIdLst>
        </p14:section>
        <p14:section name="Philosophy &amp; method" id="{472b1459-891b-986d-9c57-bf7a885ae7e4}">
          <p14:sldIdLst>
            <p14:sldId id="259"/>
            <p14:sldId id="260"/>
            <p14:sldId id="261"/>
          </p14:sldIdLst>
        </p14:section>
        <p14:section name="The project" id="{da52e9e8-74c7-eaf1-9e81-1006a0a2b4fc}">
          <p14:sldIdLst>
            <p14:sldId id="262"/>
            <p14:sldId id="263"/>
            <p14:sldId id="264"/>
            <p14:sldId id="265"/>
          </p14:sldIdLst>
        </p14:section>
        <p14:section name="Campaign &amp; nudges" id="{f005f12f-9485-c871-c391-2ef31a766908}">
          <p14:sldIdLst>
            <p14:sldId id="266"/>
            <p14:sldId id="267"/>
          </p14:sldIdLst>
        </p14:section>
        <p14:section name="Results" id="{0803f5ce-ab6f-6af4-f364-ebd176b65c9c}">
          <p14:sldIdLst>
            <p14:sldId id="268"/>
            <p14:sldId id="269"/>
            <p14:sldId id="270"/>
            <p14:sldId id="271"/>
          </p14:sldIdLst>
        </p14:section>
        <p14:section name="Learning &amp; effectiveness" id="{d16decae-18b1-2630-b766-d77e69378a49}">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
Good morning everyone. We're [names], and our project is ClickWise: a security awareness campaign for students about phishing, scams and passwords.
Our tagline is "Think. Check. Stay safe.", three habits that stop most scams.
We'll walk you through our philosophy and method, how we designed the survey around human traits, the nudges behind each poster, and then our results, what we learned and how effective the program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
Quick show of hands: who has had a "your parcel is held" text, or an email saying your account will be suspended, in the last month? [pause]
Here is one of our posters. It looks like a normal university email: the logo and layout are right.
But there are three clues. The sender's domain is "university-login.com", not the university's own. It creates urgency: suspended in 24 hours. And it wants you to press "Verify Now" and type in your login.
People don't fall for scams because they're careless. Scams are designed for the five seconds when they aren't thinking. That observation is the starting point of our whole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
Verizon's 2024 breach report found that about two-thirds of breaches involved a human element: someone clicked, reused a password or made a mistake.
In June 2025, researchers at Cybernews reported 16 billion leaked login credentials. We turned that story into an Instagram post.
So the weakest point isn't the firewall. It's the moment a person decides whether to click.
[Check both statistics against the original sources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B.
Our philosophy has four parts.
First, human-centred, not blame. The usual line is that people are the weakest link. We think they're the most targeted. So we design for how students actually decide: fast, on a phone, between classes.
Second, nudge, don't scare. Fear campaigns make people tune out. A small cue at the right moment, with one clear action, works better.
Third, one habit at a time. Our tagline, "Think. Check. Stay safe.", is short enough to recall in the five seconds a scam gives you.
Fourth, measure behaviour honestly. We test what people would do in realistic situations, before and after, and we report what didn't work as well as what did.
Everything comes back to three habits: spot it, verify it, report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B.
Our method is a design loop, borrowed from human-centred design.
One, understand the audience: students over 18, who get university-account phishing, scam texts and links in group chats, and often reuse passwords.
Two, design nudge-based content. That's ClickWise, our poster series and posts, each built around one habit.
Three, deliver it through campus posters and our Instagram account, @cyber.decoded_.
Four, measure it with HumanFactor, the survey platform we built: the same ten scenarios before and after.
Five, learn. And step five feeds back into step two. Every wrong answer points to a specific human trait, which tells us what content to make next. Our data has already shown one gap: nothing in the campaign covered the padlock myth.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B.
Here's how the loop runs in time. In week zero we open the PRE survey, sharing the link in class and group chats and on posters with a QR code.
In weeks one and two the campaign is live: posters on campus noticeboards, and Instagram posts three times a week on Monday, Wednesday and Friday evenings, between 7 and 9 pm when students are most active, with daily stories.
In week two we add polls and quiz stickers. In week three participants take the POST survey with the same code. Week four is analysis.
This is the planned schedule. The live run starts once we have ethics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C.
Now the project itself, starting with the quiz.
Coverage first. We picked the five ways students actually get attacked (email phishing, fake links and websites, scam texts and QR codes, account takeover, and impersonation) and wrote two scenarios for each. Every topic matches a piece of our campaign, so the survey measures exactly what the campaign teaches.
Then each item had to pass five rules.
One: realism. Every question shows something students really receive: a suspension email, a parcel-fee text, a friend asking for a code, a QR sticker on a parking meter.
Two: we test behaviour, not vocabulary. We never ask "what is smishing?". We ask "what should you do?", with one answer a security professional would defend.
Three: the wrong answers are real mistakes, such as trusting the padlock or approving a sign-in prompt to make it stop, so a wrong answer tells us which misconception someone holds.
Four: fairness. No jargon, no hint that something is a scam, the right answer isn't always the longest, and "I'm not sure" lets people admit uncertainty.
Five: the same questions before and after, because with about 30 people we can't validate two different versions. Options are shuffled.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C.
This is the core idea behind our evaluation. Scams don't attack computers; they attack human traits. So we mapped each question to the trait an attacker is exploiting.
Urgency and fear: the suspension email and the parcel-fee text both use a deadline to stop you thinking.
Authority: a fake IT caller pushing sign-in prompts, or a lecturer asking for gift cards. We tend to obey people in charge.
Social trust: a friend asks for your code, but their account has been taken over.
Trust in familiar cues: the padlock and a QR sticker in an official-looking place both feel safe when they aren't.
Attention and habit: we skim URLs and read what we expect to see.
Optimism and inaction: after typing your password into a fake page, the instinct is "it'll be fine".
We also measure self-perception, meaning how confident people are compared with how they actually score, and uncertainty, by keeping "I'm not sure" apart from wrong answers.
This mapping lets us say not just "scores went up", but which human weaknesses the campaign reached and which it didn't.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C.
To judge whether the program works, we asked four questions.
Did knowledge improve? We compare each person's ten-item score before and after, with a paired t-test, a Wilcoxon test as a check, and an effect size.
Which traits are still exploited? Each wrong answer maps to a misconception and a trait, so we can report accuracy per trait.
Do people know what they don't know? We compare their confidence and self-estimated score with their real score.
Did the campaign reach them? The POST survey asks what they saw, and we use Instagram analytics.
All of this runs in HumanFactor's dashboard. Because we're making claims from these numbers, we tested it: 63 automated tests pass, the statistics were checked against R, and an independent script recomputes 184 dashboard figures from the raw data. All of them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C.
Ethics were built in from the start.
Nobody sees a question until they've read a plain-language consent notice and confirmed they're 18 or over. We collect no names, emails, student IDs or IP addresses; a random code links the two surveys. Taking part is voluntary, and you can withdraw later by quoting your code. Only our team can see the data, and we only report group-level results. We don't show answers, so the first survey doesn't teach.
On accessibility: everything works with a keyboard and screen reader, colours meet WCAG contrast, it's designed for phones first, and motion can be turned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
Each ClickWise poster is designed as a behavioural nudge: a small change in how a choice is presented that makes the safe action easier.
"It looks real. But is it?" uses salience. It points out the four clues where your eye lands, then replaces a complicated judgement with one rule of thumb: when in doubt, don't click; verify. It counters skimming habits and urgency.
"A stronger password, a stronger you" uses identity framing, making security about you, plus easy defaults: four simple tips and a password manager.
"They only need the OTP" is pre-bunking. It shows you the scam before it happens, so when a "bank" asks for your code, it already feels wrong. It counters authority and social trust.
"Spotted something suspicious?" gives a ready-made plan: stop, secure, report, stay alert. Having the plan in advance stops people freezing or hoping it'll be fine, the optimism and inaction 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
On Instagram, @cyber.decoded_, each post uses a nudge suited to a scrolling feed.
The eight-slide password carousel builds a mental model: one key that opens email, social, shopping and banking. "Don't get hooked" uses a memorable fishing-hook metaphor. "Verify before you click" is a decision flowchart for scary Instagram messages. "16 billion credentials exposed" makes the risk feel real. And "Think before you click" is a simple pause prompt.
To be honest about reach: at the time of these screenshots, the account had 2 followers and about one like per post. The account was brand new and the posts were less than half a day old. That matters for how effective the program can be, and we come back to it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
These results come from our demonstration dataset, which we use to check the analysis pipeline. The live results will replace them once we run the study.
Among people who took both surveys, the average score rose from 6.3 to 7.5 out of 10, a gain of about 1.2 questions. Both the paired t-test and the Wilcoxon test say this is very unlikely to be chance, and the effect size is moderate.
31 people improved, 5 stayed the same and 6 declined.
On the right, every scenario improved, most of all reading URLs, the padlock and the friend asking for a code.
We call this observed change, not proof of cause: there's no control group, people see the same questions twice, and volunteers may be more motivated.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
Because every question maps to a trait, we can also read the results by trait. Each trait's score is the average of its questions. Demonstration figures again.
At the start, the weakest traits were trust in familiar cues (believing padlocks, logos and official-looking places) and attention and habit, meaning skimming URLs.
The biggest gains, about 19 points, were in social trust and familiar cues, exactly where we had a poster or post aimed at that trait.
The smallest gains were optimism and inaction, and urgency. Knowing what to do after you've made a mistake barely moved. That's a clear target for the next round of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B.
Behind each trait are specific misconceptions. Again, demonstration figures.
The most common is that the browser padlock means a site is safe. It only means the connection is encrypted; scam sites have padlocks too. Others: ignoring unexpected sign-in prompts, trusting irrelevant details like logos, and reading the brand at the start of a URL as the real domain.
On the right, each one is mapped to its trait and our content. Three are covered. The padlock is a gap: nothing in our campaign addresses it yet, so it becomes the next post. That's the design loop working: the data tells us what to make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C.
The self-perception trait. Demonstration figures again.
Before the campaign, people estimated they'd get about 7 out of 10 but actually got about 5.7, overestimating by nearly one and a half questions. Afterwards the gap shrinks to under half a question.
At the start, confidence barely predicts skill: a correlation of 0.15. Afterwards it's 0.41. People become more accurate about what they know.
This matters because an overconfident person doesn't stop to check. "Think. Check." only works if people realise they need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
What did we learn?
About students: confidence isn't competence, so awareness has to begin by showing people the gap. The real weak spot isn't obvious scams but trusted symbols and habits, like the padlock and skimmed URLs. And acting after a mistake is the hardest behaviour to change; it needs its own content.
About running a campaign: reach is the bottleneck. Good content on a two-follower account reaches almost nobody. Measuring what you teach pays off: mapping questions to content and traits is what exposed the padlock gap. And ethics shaped the design itself: anonymity, consent and not showing answers changed how we built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
So how effective was the program? We rated each dimension against the evidence, using the demonstration analysis.
Knowledge: moderate. About a one-point gain out of ten, with a moderate effect size.
Human traits: strong where we had content, with gains of 14 to 19 points on authority, social trust, familiar cues and attention.
Self-awareness: strong. Overconfidence dropped sharply.
Acting after a mistake: weak. Only a seven-point gain.
Reach and engagement: weak. Two followers and about one like per post so far.
Ethics and data quality: strong.
Our overall verdict: the design is effective, but reach is limited. Scores moved where we had content. What we need to fix next is distribution, not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
Five next steps. One, grow reach through group chats, collaborations with student society accounts, and polls. Two, run the live study with 30 or more students after ethics approval. Three, target the weak traits with a padlock post and an "I clicked, now what?" post. Four, strengthen the evidence with a comparison group, and a simulated phishing test if ethics allow. Five, check whether it lasts with a follow-up a month or so later.
Think. Check. Stay safe. Please follow @cyber.decoded_ and take part when the survey opens. Thank you, and we're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with sources; not presented unless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MARIGOLD">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240280"/>
            <a:ext cx="6217920" cy="1188720"/>
          </a:xfrm>
          <a:prstGeom prst="rect">
            <a:avLst/>
          </a:prstGeom>
          <a:noFill/>
          <a:ln/>
        </p:spPr>
        <p:txBody>
          <a:bodyPr wrap="square" rtlCol="0"/>
          <a:lstStyle>
            <a:lvl1pPr algn="l" indent="0" marL="0">
              <a:buNone/>
              <a:defRPr lang="en-US" sz="6600" b="1" dirty="0">
                <a:solidFill>
                  <a:schemeClr val="tx1"/>
                </a:solidFill>
              </a:defRPr>
            </a:lvl1pPr>
          </a:lstStyle>
          <a:p>
            <a:pPr algn="l" indent="0" marL="0">
              <a:buNone/>
            </a:pPr>
            <a:endParaRPr lang="en-US" sz="6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00800"/>
            <a:ext cx="4572000" cy="274320"/>
          </a:xfrm>
          <a:prstGeom prst="rect">
            <a:avLst/>
          </a:prstGeom>
          <a:noFill/>
          <a:ln/>
        </p:spPr>
        <p:txBody>
          <a:bodyPr wrap="square" lIns="0" tIns="0" rIns="0" bIns="0" rtlCol="0" anchor="ctr"/>
          <a:lstStyle/>
          <a:p>
            <a:pPr indent="0" marL="0">
              <a:buNone/>
            </a:pPr>
            <a:r>
              <a:rPr lang="en-US" sz="1000" dirty="0">
                <a:solidFill>
                  <a:schemeClr val="tx2"/>
                </a:solidFill>
              </a:rPr>
              <a:t>ClickWise · HumanFactor · HLAC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eg"/><Relationship Id="rId3" Type="http://schemas.openxmlformats.org/officeDocument/2006/relationships/image" Target="../media/image-1-3.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3.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jpg"/><Relationship Id="rId11" Type="http://schemas.openxmlformats.org/officeDocument/2006/relationships/slideLayout" Target="../slideLayouts/slideLayout3.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image" Target="../media/image-11-4.jpe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3.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HumanFactor Vitruvian mark">    </p:cNvPr>
          <p:cNvPicPr>
            <a:picLocks noChangeAspect="1"/>
          </p:cNvPicPr>
          <p:nvPr/>
        </p:nvPicPr>
        <p:blipFill>
          <a:blip r:embed="rId1"/>
          <a:stretch>
            <a:fillRect/>
          </a:stretch>
        </p:blipFill>
        <p:spPr>
          <a:xfrm>
            <a:off x="640080" y="548640"/>
            <a:ext cx="822960" cy="822960"/>
          </a:xfrm>
          <a:prstGeom prst="rect">
            <a:avLst/>
          </a:prstGeom>
        </p:spPr>
      </p:pic>
      <p:sp>
        <p:nvSpPr>
          <p:cNvPr id="3" name="Text 0"/>
          <p:cNvSpPr txBox="1"/>
          <p:nvPr/>
        </p:nvSpPr>
        <p:spPr>
          <a:xfrm>
            <a:off x="640080" y="1783080"/>
            <a:ext cx="6217920" cy="365760"/>
          </a:xfrm>
          <a:prstGeom prst="rect">
            <a:avLst/>
          </a:prstGeom>
          <a:noFill/>
          <a:ln/>
        </p:spPr>
        <p:txBody>
          <a:bodyPr wrap="square" lIns="0" tIns="0" rIns="0" bIns="0" rtlCol="0" anchor="t"/>
          <a:lstStyle/>
          <a:p>
            <a:pPr indent="0" marL="0">
              <a:buNone/>
            </a:pPr>
            <a:r>
              <a:rPr lang="en-US" sz="1400" b="1" spc="200" kern="0" dirty="0">
                <a:solidFill>
                  <a:schemeClr val="tx1"/>
                </a:solidFill>
              </a:rPr>
              <a:t>HLAC · HUMAN-CENTRED SECURITY AWARENESS</a:t>
            </a:r>
            <a:endParaRPr lang="en-US" sz="1400" dirty="0"/>
          </a:p>
        </p:txBody>
      </p:sp>
      <p:sp>
        <p:nvSpPr>
          <p:cNvPr id="4" name="Text 0"/>
          <p:cNvSpPr/>
          <p:nvPr>
            <p:ph idx="100" type="title" hasCustomPrompt="1"/>
          </p:nvPr>
        </p:nvSpPr>
        <p:spPr>
          <a:xfrm>
            <a:off x="640080" y="2240280"/>
            <a:ext cx="6217920" cy="1188720"/>
          </a:xfrm>
          <a:prstGeom prst="rect">
            <a:avLst/>
          </a:prstGeom>
          <a:noFill/>
          <a:ln/>
        </p:spPr>
        <p:txBody>
          <a:bodyPr wrap="square" lIns="0" tIns="0" rIns="0" bIns="0" rtlCol="0" anchor="b"/>
          <a:lstStyle/>
          <a:p>
            <a:pPr algn="l" indent="0" marL="0">
              <a:buNone/>
            </a:pPr>
            <a:r>
              <a:rPr lang="en-US" sz="6600" b="1" dirty="0">
                <a:solidFill>
                  <a:schemeClr val="tx1"/>
                </a:solidFill>
              </a:rPr>
              <a:t>ClickWise</a:t>
            </a:r>
            <a:endParaRPr lang="en-US" sz="6600" dirty="0"/>
          </a:p>
        </p:txBody>
      </p:sp>
      <p:sp>
        <p:nvSpPr>
          <p:cNvPr id="5" name="Text 2"/>
          <p:cNvSpPr txBox="1"/>
          <p:nvPr/>
        </p:nvSpPr>
        <p:spPr>
          <a:xfrm>
            <a:off x="640080" y="3520440"/>
            <a:ext cx="6217920" cy="640080"/>
          </a:xfrm>
          <a:prstGeom prst="rect">
            <a:avLst/>
          </a:prstGeom>
          <a:noFill/>
          <a:ln/>
        </p:spPr>
        <p:txBody>
          <a:bodyPr wrap="square" lIns="0" tIns="0" rIns="0" bIns="0" rtlCol="0" anchor="t"/>
          <a:lstStyle/>
          <a:p>
            <a:pPr indent="0" marL="0">
              <a:buNone/>
            </a:pPr>
            <a:r>
              <a:rPr lang="en-US" sz="3200" b="1" i="1" dirty="0">
                <a:solidFill>
                  <a:schemeClr val="tx1"/>
                </a:solidFill>
                <a:latin typeface="Arial" pitchFamily="34" charset="0"/>
                <a:ea typeface="Arial" pitchFamily="34" charset="-122"/>
                <a:cs typeface="Arial" pitchFamily="34" charset="-120"/>
              </a:rPr>
              <a:t>Think. Check. Stay safe.</a:t>
            </a:r>
            <a:endParaRPr lang="en-US" sz="3200" dirty="0"/>
          </a:p>
        </p:txBody>
      </p:sp>
      <p:sp>
        <p:nvSpPr>
          <p:cNvPr id="6" name="Text 3"/>
          <p:cNvSpPr txBox="1"/>
          <p:nvPr/>
        </p:nvSpPr>
        <p:spPr>
          <a:xfrm>
            <a:off x="640080" y="4297680"/>
            <a:ext cx="5669280" cy="731520"/>
          </a:xfrm>
          <a:prstGeom prst="rect">
            <a:avLst/>
          </a:prstGeom>
          <a:noFill/>
          <a:ln/>
        </p:spPr>
        <p:txBody>
          <a:bodyPr wrap="square" lIns="0" tIns="0" rIns="0" bIns="0" rtlCol="0" anchor="t"/>
          <a:lstStyle/>
          <a:p>
            <a:pPr indent="0" marL="0">
              <a:buNone/>
            </a:pPr>
            <a:r>
              <a:rPr lang="en-US" sz="1800" dirty="0">
                <a:solidFill>
                  <a:schemeClr val="tx1"/>
                </a:solidFill>
              </a:rPr>
              <a:t>A student phishing and password awareness campaign, measured with HumanFactor</a:t>
            </a:r>
            <a:endParaRPr lang="en-US" sz="1800" dirty="0"/>
          </a:p>
        </p:txBody>
      </p:sp>
      <p:sp>
        <p:nvSpPr>
          <p:cNvPr id="7" name="Text 4"/>
          <p:cNvSpPr txBox="1"/>
          <p:nvPr/>
        </p:nvSpPr>
        <p:spPr>
          <a:xfrm>
            <a:off x="640080" y="5943600"/>
            <a:ext cx="5486400" cy="365760"/>
          </a:xfrm>
          <a:prstGeom prst="rect">
            <a:avLst/>
          </a:prstGeom>
          <a:noFill/>
          <a:ln/>
        </p:spPr>
        <p:txBody>
          <a:bodyPr wrap="square" lIns="0" tIns="0" rIns="0" bIns="0" rtlCol="0" anchor="t"/>
          <a:lstStyle/>
          <a:p>
            <a:pPr indent="0" marL="0">
              <a:buNone/>
            </a:pPr>
            <a:r>
              <a:rPr lang="en-US" sz="1400" dirty="0">
                <a:solidFill>
                  <a:schemeClr val="tx1"/>
                </a:solidFill>
              </a:rPr>
              <a:t>[Group member names]  ·  October 2026</a:t>
            </a:r>
            <a:endParaRPr lang="en-US" sz="1400" dirty="0"/>
          </a:p>
        </p:txBody>
      </p:sp>
      <p:sp>
        <p:nvSpPr>
          <p:cNvPr id="8" name="print"/>
          <p:cNvSpPr/>
          <p:nvPr/>
        </p:nvSpPr>
        <p:spPr>
          <a:xfrm rot="180000">
            <a:off x="8467344" y="629221"/>
            <a:ext cx="3273552" cy="4227957"/>
          </a:xfrm>
          <a:prstGeom prst="rect">
            <a:avLst/>
          </a:prstGeom>
          <a:solidFill>
            <a:schemeClr val="bg1"/>
          </a:solidFill>
          <a:ln w="9525">
            <a:solidFill>
              <a:schemeClr val="accent6"/>
            </a:solidFill>
            <a:prstDash val="solid"/>
          </a:ln>
          <a:effectLst>
            <a:outerShdw sx="100000" sy="100000" kx="0" ky="0" algn="bl" rotWithShape="0" blurRad="127000" dist="38100" dir="5400000">
              <a:srgbClr val="14213D">
                <a:alpha val="18000"/>
              </a:srgbClr>
            </a:outerShdw>
          </a:effectLst>
        </p:spPr>
      </p:sp>
      <p:pic>
        <p:nvPicPr>
          <p:cNvPr id="9" name="image" descr="ClickWise poster: It looks real. But is it? A fake university email.">    </p:cNvPr>
          <p:cNvPicPr>
            <a:picLocks noChangeAspect="1"/>
          </p:cNvPicPr>
          <p:nvPr/>
        </p:nvPicPr>
        <p:blipFill>
          <a:blip r:embed="rId2"/>
          <a:stretch>
            <a:fillRect/>
          </a:stretch>
        </p:blipFill>
        <p:spPr>
          <a:xfrm rot="180000">
            <a:off x="8549640" y="711517"/>
            <a:ext cx="3108960" cy="4063365"/>
          </a:xfrm>
          <a:prstGeom prst="rect">
            <a:avLst/>
          </a:prstGeom>
        </p:spPr>
      </p:pic>
      <p:sp>
        <p:nvSpPr>
          <p:cNvPr id="10" name="print"/>
          <p:cNvSpPr/>
          <p:nvPr/>
        </p:nvSpPr>
        <p:spPr>
          <a:xfrm rot="-240000">
            <a:off x="6904126" y="2569464"/>
            <a:ext cx="3108149" cy="3822192"/>
          </a:xfrm>
          <a:prstGeom prst="rect">
            <a:avLst/>
          </a:prstGeom>
          <a:solidFill>
            <a:schemeClr val="bg1"/>
          </a:solidFill>
          <a:ln w="9525">
            <a:solidFill>
              <a:schemeClr val="accent6"/>
            </a:solidFill>
            <a:prstDash val="solid"/>
          </a:ln>
          <a:effectLst>
            <a:outerShdw sx="100000" sy="100000" kx="0" ky="0" algn="bl" rotWithShape="0" blurRad="127000" dist="38100" dir="5400000">
              <a:srgbClr val="14213D">
                <a:alpha val="18000"/>
              </a:srgbClr>
            </a:outerShdw>
          </a:effectLst>
        </p:spPr>
      </p:sp>
      <p:pic>
        <p:nvPicPr>
          <p:cNvPr id="11" name="image" descr="Instagram post: Don't get hooked. Think before you click.">    </p:cNvPr>
          <p:cNvPicPr>
            <a:picLocks noChangeAspect="1"/>
          </p:cNvPicPr>
          <p:nvPr/>
        </p:nvPicPr>
        <p:blipFill>
          <a:blip r:embed="rId3"/>
          <a:stretch>
            <a:fillRect/>
          </a:stretch>
        </p:blipFill>
        <p:spPr>
          <a:xfrm rot="-240000">
            <a:off x="6986422" y="2651760"/>
            <a:ext cx="2943557" cy="36576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Real, or phish?</a:t>
            </a:r>
            <a:endParaRPr lang="en-US" sz="3400" dirty="0"/>
          </a:p>
        </p:txBody>
      </p:sp>
      <p:sp>
        <p:nvSpPr>
          <p:cNvPr id="3" name="print"/>
          <p:cNvSpPr/>
          <p:nvPr/>
        </p:nvSpPr>
        <p:spPr>
          <a:xfrm>
            <a:off x="715457" y="1243584"/>
            <a:ext cx="3872606" cy="5010912"/>
          </a:xfrm>
          <a:prstGeom prst="rect">
            <a:avLst/>
          </a:prstGeom>
          <a:solidFill>
            <a:schemeClr val="bg1"/>
          </a:solidFill>
          <a:ln w="9525">
            <a:solidFill>
              <a:schemeClr val="accent6"/>
            </a:solidFill>
            <a:prstDash val="solid"/>
          </a:ln>
          <a:effectLst>
            <a:outerShdw sx="100000" sy="100000" kx="0" ky="0" algn="bl" rotWithShape="0" blurRad="127000" dist="38100" dir="5400000">
              <a:srgbClr val="14213D">
                <a:alpha val="18000"/>
              </a:srgbClr>
            </a:outerShdw>
          </a:effectLst>
        </p:spPr>
      </p:sp>
      <p:pic>
        <p:nvPicPr>
          <p:cNvPr id="4" name="image" descr="ClickWise poster showing a fake University Support email asking you to verify your account within 24 hours.">    </p:cNvPr>
          <p:cNvPicPr>
            <a:picLocks noChangeAspect="1"/>
          </p:cNvPicPr>
          <p:nvPr/>
        </p:nvPicPr>
        <p:blipFill>
          <a:blip r:embed="rId1"/>
          <a:stretch>
            <a:fillRect/>
          </a:stretch>
        </p:blipFill>
        <p:spPr>
          <a:xfrm>
            <a:off x="797753" y="1325880"/>
            <a:ext cx="3708014" cy="4846320"/>
          </a:xfrm>
          <a:prstGeom prst="rect">
            <a:avLst/>
          </a:prstGeom>
        </p:spPr>
      </p:pic>
      <p:sp>
        <p:nvSpPr>
          <p:cNvPr id="5" name="Text 2"/>
          <p:cNvSpPr txBox="1"/>
          <p:nvPr/>
        </p:nvSpPr>
        <p:spPr>
          <a:xfrm>
            <a:off x="5486400" y="1463040"/>
            <a:ext cx="6126480" cy="548640"/>
          </a:xfrm>
          <a:prstGeom prst="rect">
            <a:avLst/>
          </a:prstGeom>
          <a:noFill/>
          <a:ln/>
        </p:spPr>
        <p:txBody>
          <a:bodyPr wrap="square" lIns="0" tIns="0" rIns="0" bIns="0" rtlCol="0" anchor="t"/>
          <a:lstStyle/>
          <a:p>
            <a:pPr indent="0" marL="0">
              <a:buNone/>
            </a:pPr>
            <a:r>
              <a:rPr lang="en-US" sz="2400" b="1" dirty="0">
                <a:solidFill>
                  <a:schemeClr val="tx1"/>
                </a:solidFill>
              </a:rPr>
              <a:t>You have five seconds. Would you click?</a:t>
            </a:r>
            <a:endParaRPr lang="en-US" sz="2400" dirty="0"/>
          </a:p>
        </p:txBody>
      </p:sp>
      <p:sp>
        <p:nvSpPr>
          <p:cNvPr id="6" name="Text 3"/>
          <p:cNvSpPr txBox="1"/>
          <p:nvPr/>
        </p:nvSpPr>
        <p:spPr>
          <a:xfrm>
            <a:off x="5486400" y="2148840"/>
            <a:ext cx="6126480" cy="365760"/>
          </a:xfrm>
          <a:prstGeom prst="rect">
            <a:avLst/>
          </a:prstGeom>
          <a:noFill/>
          <a:ln/>
        </p:spPr>
        <p:txBody>
          <a:bodyPr wrap="square" lIns="0" tIns="0" rIns="0" bIns="0" rtlCol="0" anchor="t"/>
          <a:lstStyle/>
          <a:p>
            <a:pPr indent="0" marL="0">
              <a:buNone/>
            </a:pPr>
            <a:r>
              <a:rPr lang="en-US" sz="1600" dirty="0">
                <a:solidFill>
                  <a:schemeClr val="tx2"/>
                </a:solidFill>
              </a:rPr>
              <a:t>Three clues give it away:</a:t>
            </a:r>
            <a:endParaRPr lang="en-US" sz="1600" dirty="0"/>
          </a:p>
        </p:txBody>
      </p:sp>
      <p:sp>
        <p:nvSpPr>
          <p:cNvPr id="7" name="tag"/>
          <p:cNvSpPr txBox="1"/>
          <p:nvPr/>
        </p:nvSpPr>
        <p:spPr>
          <a:xfrm rot="-90000">
            <a:off x="5486400" y="2697480"/>
            <a:ext cx="5852160" cy="594360"/>
          </a:xfrm>
          <a:prstGeom prst="rect">
            <a:avLst/>
          </a:prstGeom>
          <a:solidFill>
            <a:schemeClr val="accent1"/>
          </a:solidFill>
          <a:ln/>
          <a:effectLst>
            <a:outerShdw sx="100000" sy="100000" kx="0" ky="0" algn="bl" rotWithShape="0" blurRad="76200" dist="25400" dir="5400000">
              <a:srgbClr val="14213D">
                <a:alpha val="18000"/>
              </a:srgbClr>
            </a:outerShdw>
          </a:effectLst>
        </p:spPr>
        <p:txBody>
          <a:bodyPr wrap="square" lIns="50800" tIns="127000" rIns="127000" bIns="50800" rtlCol="0" anchor="ctr"/>
          <a:lstStyle/>
          <a:p>
            <a:pPr algn="l" indent="0" marL="0">
              <a:buNone/>
            </a:pPr>
            <a:r>
              <a:rPr lang="en-US" sz="1600" b="1" dirty="0">
                <a:solidFill>
                  <a:schemeClr val="tx1"/>
                </a:solidFill>
              </a:rPr>
              <a:t>1   From: support@university-login.com: a look-alike domain</a:t>
            </a:r>
            <a:endParaRPr lang="en-US" sz="1600" dirty="0"/>
          </a:p>
        </p:txBody>
      </p:sp>
      <p:sp>
        <p:nvSpPr>
          <p:cNvPr id="8" name="tag"/>
          <p:cNvSpPr txBox="1"/>
          <p:nvPr/>
        </p:nvSpPr>
        <p:spPr>
          <a:xfrm rot="60000">
            <a:off x="5715000" y="3520440"/>
            <a:ext cx="5852160" cy="594360"/>
          </a:xfrm>
          <a:prstGeom prst="rect">
            <a:avLst/>
          </a:prstGeom>
          <a:solidFill>
            <a:schemeClr val="accent1"/>
          </a:solidFill>
          <a:ln/>
          <a:effectLst>
            <a:outerShdw sx="100000" sy="100000" kx="0" ky="0" algn="bl" rotWithShape="0" blurRad="76200" dist="25400" dir="5400000">
              <a:srgbClr val="14213D">
                <a:alpha val="18000"/>
              </a:srgbClr>
            </a:outerShdw>
          </a:effectLst>
        </p:spPr>
        <p:txBody>
          <a:bodyPr wrap="square" lIns="50800" tIns="127000" rIns="127000" bIns="50800" rtlCol="0" anchor="ctr"/>
          <a:lstStyle/>
          <a:p>
            <a:pPr algn="l" indent="0" marL="0">
              <a:buNone/>
            </a:pPr>
            <a:r>
              <a:rPr lang="en-US" sz="1600" b="1" dirty="0">
                <a:solidFill>
                  <a:schemeClr val="tx1"/>
                </a:solidFill>
              </a:rPr>
              <a:t>2   "Suspended in 24 hours": urgency to stop you thinking</a:t>
            </a:r>
            <a:endParaRPr lang="en-US" sz="1600" dirty="0"/>
          </a:p>
        </p:txBody>
      </p:sp>
      <p:sp>
        <p:nvSpPr>
          <p:cNvPr id="9" name="tag"/>
          <p:cNvSpPr txBox="1"/>
          <p:nvPr/>
        </p:nvSpPr>
        <p:spPr>
          <a:xfrm rot="-60000">
            <a:off x="5486400" y="4343400"/>
            <a:ext cx="5852160" cy="594360"/>
          </a:xfrm>
          <a:prstGeom prst="rect">
            <a:avLst/>
          </a:prstGeom>
          <a:solidFill>
            <a:schemeClr val="accent1"/>
          </a:solidFill>
          <a:ln/>
          <a:effectLst>
            <a:outerShdw sx="100000" sy="100000" kx="0" ky="0" algn="bl" rotWithShape="0" blurRad="76200" dist="25400" dir="5400000">
              <a:srgbClr val="14213D">
                <a:alpha val="18000"/>
              </a:srgbClr>
            </a:outerShdw>
          </a:effectLst>
        </p:spPr>
        <p:txBody>
          <a:bodyPr wrap="square" lIns="50800" tIns="127000" rIns="127000" bIns="50800" rtlCol="0" anchor="ctr"/>
          <a:lstStyle/>
          <a:p>
            <a:pPr algn="l" indent="0" marL="0">
              <a:buNone/>
            </a:pPr>
            <a:r>
              <a:rPr lang="en-US" sz="1600" b="1" dirty="0">
                <a:solidFill>
                  <a:schemeClr val="tx1"/>
                </a:solidFill>
              </a:rPr>
              <a:t>3   "Verify Now": a button asking for your login details</a:t>
            </a:r>
            <a:endParaRPr lang="en-US" sz="1600" dirty="0"/>
          </a:p>
        </p:txBody>
      </p:sp>
      <p:sp>
        <p:nvSpPr>
          <p:cNvPr id="10" name="Text 7"/>
          <p:cNvSpPr txBox="1"/>
          <p:nvPr/>
        </p:nvSpPr>
        <p:spPr>
          <a:xfrm>
            <a:off x="5486400" y="5349240"/>
            <a:ext cx="6126480" cy="457200"/>
          </a:xfrm>
          <a:prstGeom prst="rect">
            <a:avLst/>
          </a:prstGeom>
          <a:noFill/>
          <a:ln/>
        </p:spPr>
        <p:txBody>
          <a:bodyPr wrap="square" lIns="0" tIns="0" rIns="0" bIns="0" rtlCol="0" anchor="t"/>
          <a:lstStyle/>
          <a:p>
            <a:pPr indent="0" marL="0">
              <a:buNone/>
            </a:pPr>
            <a:r>
              <a:rPr lang="en-US" sz="2200" b="1" dirty="0">
                <a:solidFill>
                  <a:schemeClr val="accent2"/>
                </a:solidFill>
              </a:rPr>
              <a:t>When in doubt, don't click. Verify.</a:t>
            </a:r>
            <a:endParaRPr lang="en-US" sz="2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Attackers target people, not firewalls</a:t>
            </a:r>
            <a:endParaRPr lang="en-US" sz="3400" dirty="0"/>
          </a:p>
        </p:txBody>
      </p:sp>
      <p:sp>
        <p:nvSpPr>
          <p:cNvPr id="3" name="card"/>
          <p:cNvSpPr/>
          <p:nvPr/>
        </p:nvSpPr>
        <p:spPr>
          <a:xfrm>
            <a:off x="548640" y="1371600"/>
            <a:ext cx="3749040" cy="2240280"/>
          </a:xfrm>
          <a:prstGeom prst="roundRect">
            <a:avLst>
              <a:gd name="adj" fmla="val 4082"/>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4" name="Text 2"/>
          <p:cNvSpPr txBox="1"/>
          <p:nvPr/>
        </p:nvSpPr>
        <p:spPr>
          <a:xfrm>
            <a:off x="822960" y="1554480"/>
            <a:ext cx="3291840" cy="914400"/>
          </a:xfrm>
          <a:prstGeom prst="rect">
            <a:avLst/>
          </a:prstGeom>
          <a:noFill/>
          <a:ln/>
        </p:spPr>
        <p:txBody>
          <a:bodyPr wrap="square" lIns="0" tIns="0" rIns="0" bIns="0" rtlCol="0" anchor="t"/>
          <a:lstStyle/>
          <a:p>
            <a:pPr indent="0" marL="0">
              <a:buNone/>
            </a:pPr>
            <a:r>
              <a:rPr lang="en-US" sz="6000" b="1" dirty="0">
                <a:solidFill>
                  <a:schemeClr val="accent2"/>
                </a:solidFill>
                <a:latin typeface="Arial" pitchFamily="34" charset="0"/>
                <a:ea typeface="Arial" pitchFamily="34" charset="-122"/>
                <a:cs typeface="Arial" pitchFamily="34" charset="-120"/>
              </a:rPr>
              <a:t>68%</a:t>
            </a:r>
            <a:endParaRPr lang="en-US" sz="6000" dirty="0"/>
          </a:p>
        </p:txBody>
      </p:sp>
      <p:sp>
        <p:nvSpPr>
          <p:cNvPr id="5" name="Text 3"/>
          <p:cNvSpPr txBox="1"/>
          <p:nvPr/>
        </p:nvSpPr>
        <p:spPr>
          <a:xfrm>
            <a:off x="822960" y="2514600"/>
            <a:ext cx="3291840" cy="731520"/>
          </a:xfrm>
          <a:prstGeom prst="rect">
            <a:avLst/>
          </a:prstGeom>
          <a:noFill/>
          <a:ln/>
        </p:spPr>
        <p:txBody>
          <a:bodyPr wrap="square" lIns="0" tIns="0" rIns="0" bIns="0" rtlCol="0" anchor="t"/>
          <a:lstStyle/>
          <a:p>
            <a:pPr indent="0" marL="0">
              <a:buNone/>
            </a:pPr>
            <a:r>
              <a:rPr lang="en-US" sz="1500" dirty="0">
                <a:solidFill>
                  <a:schemeClr val="tx1"/>
                </a:solidFill>
              </a:rPr>
              <a:t>of breaches involved a human element: a click, a reused password, a mistake</a:t>
            </a:r>
            <a:endParaRPr lang="en-US" sz="1500" dirty="0"/>
          </a:p>
        </p:txBody>
      </p:sp>
      <p:sp>
        <p:nvSpPr>
          <p:cNvPr id="6" name="Text 4"/>
          <p:cNvSpPr txBox="1"/>
          <p:nvPr/>
        </p:nvSpPr>
        <p:spPr>
          <a:xfrm>
            <a:off x="822960" y="3246120"/>
            <a:ext cx="3291840" cy="274320"/>
          </a:xfrm>
          <a:prstGeom prst="rect">
            <a:avLst/>
          </a:prstGeom>
          <a:noFill/>
          <a:ln/>
        </p:spPr>
        <p:txBody>
          <a:bodyPr wrap="square" lIns="0" tIns="0" rIns="0" bIns="0" rtlCol="0" anchor="t"/>
          <a:lstStyle/>
          <a:p>
            <a:pPr indent="0" marL="0">
              <a:buNone/>
            </a:pPr>
            <a:r>
              <a:rPr lang="en-US" sz="1100" i="1" dirty="0">
                <a:solidFill>
                  <a:schemeClr val="tx2"/>
                </a:solidFill>
              </a:rPr>
              <a:t>Verizon, 2024 Data Breach Investigations Report</a:t>
            </a:r>
            <a:endParaRPr lang="en-US" sz="1100" dirty="0"/>
          </a:p>
        </p:txBody>
      </p:sp>
      <p:sp>
        <p:nvSpPr>
          <p:cNvPr id="7" name="card"/>
          <p:cNvSpPr/>
          <p:nvPr/>
        </p:nvSpPr>
        <p:spPr>
          <a:xfrm>
            <a:off x="548640" y="3840480"/>
            <a:ext cx="3749040" cy="2240280"/>
          </a:xfrm>
          <a:prstGeom prst="roundRect">
            <a:avLst>
              <a:gd name="adj" fmla="val 4082"/>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8" name="Text 6"/>
          <p:cNvSpPr txBox="1"/>
          <p:nvPr/>
        </p:nvSpPr>
        <p:spPr>
          <a:xfrm>
            <a:off x="822960" y="4023360"/>
            <a:ext cx="3291840" cy="914400"/>
          </a:xfrm>
          <a:prstGeom prst="rect">
            <a:avLst/>
          </a:prstGeom>
          <a:noFill/>
          <a:ln/>
        </p:spPr>
        <p:txBody>
          <a:bodyPr wrap="square" lIns="0" tIns="0" rIns="0" bIns="0" rtlCol="0" anchor="t"/>
          <a:lstStyle/>
          <a:p>
            <a:pPr indent="0" marL="0">
              <a:buNone/>
            </a:pPr>
            <a:r>
              <a:rPr lang="en-US" sz="5400" b="1" dirty="0">
                <a:solidFill>
                  <a:schemeClr val="accent3"/>
                </a:solidFill>
                <a:latin typeface="Arial" pitchFamily="34" charset="0"/>
                <a:ea typeface="Arial" pitchFamily="34" charset="-122"/>
                <a:cs typeface="Arial" pitchFamily="34" charset="-120"/>
              </a:rPr>
              <a:t>16 billion</a:t>
            </a:r>
            <a:endParaRPr lang="en-US" sz="5400" dirty="0"/>
          </a:p>
        </p:txBody>
      </p:sp>
      <p:sp>
        <p:nvSpPr>
          <p:cNvPr id="9" name="Text 7"/>
          <p:cNvSpPr txBox="1"/>
          <p:nvPr/>
        </p:nvSpPr>
        <p:spPr>
          <a:xfrm>
            <a:off x="822960" y="4983480"/>
            <a:ext cx="3291840" cy="731520"/>
          </a:xfrm>
          <a:prstGeom prst="rect">
            <a:avLst/>
          </a:prstGeom>
          <a:noFill/>
          <a:ln/>
        </p:spPr>
        <p:txBody>
          <a:bodyPr wrap="square" lIns="0" tIns="0" rIns="0" bIns="0" rtlCol="0" anchor="t"/>
          <a:lstStyle/>
          <a:p>
            <a:pPr indent="0" marL="0">
              <a:buNone/>
            </a:pPr>
            <a:r>
              <a:rPr lang="en-US" sz="1500" dirty="0">
                <a:solidFill>
                  <a:schemeClr val="tx1"/>
                </a:solidFill>
              </a:rPr>
              <a:t>login credentials found in leaked datasets, many reused across accounts</a:t>
            </a:r>
            <a:endParaRPr lang="en-US" sz="1500" dirty="0"/>
          </a:p>
        </p:txBody>
      </p:sp>
      <p:sp>
        <p:nvSpPr>
          <p:cNvPr id="10" name="Text 8"/>
          <p:cNvSpPr txBox="1"/>
          <p:nvPr/>
        </p:nvSpPr>
        <p:spPr>
          <a:xfrm>
            <a:off x="822960" y="5715000"/>
            <a:ext cx="3291840" cy="274320"/>
          </a:xfrm>
          <a:prstGeom prst="rect">
            <a:avLst/>
          </a:prstGeom>
          <a:noFill/>
          <a:ln/>
        </p:spPr>
        <p:txBody>
          <a:bodyPr wrap="square" lIns="0" tIns="0" rIns="0" bIns="0" rtlCol="0" anchor="t"/>
          <a:lstStyle/>
          <a:p>
            <a:pPr indent="0" marL="0">
              <a:buNone/>
            </a:pPr>
            <a:r>
              <a:rPr lang="en-US" sz="1100" i="1" dirty="0">
                <a:solidFill>
                  <a:schemeClr val="tx2"/>
                </a:solidFill>
              </a:rPr>
              <a:t>Cybernews research, June 2025</a:t>
            </a:r>
            <a:endParaRPr lang="en-US" sz="1100" dirty="0"/>
          </a:p>
        </p:txBody>
      </p:sp>
      <p:sp>
        <p:nvSpPr>
          <p:cNvPr id="11" name="print"/>
          <p:cNvSpPr/>
          <p:nvPr/>
        </p:nvSpPr>
        <p:spPr>
          <a:xfrm>
            <a:off x="4718304" y="1315228"/>
            <a:ext cx="3273552" cy="3770345"/>
          </a:xfrm>
          <a:prstGeom prst="rect">
            <a:avLst/>
          </a:prstGeom>
          <a:solidFill>
            <a:schemeClr val="bg1"/>
          </a:solidFill>
          <a:ln w="9525">
            <a:solidFill>
              <a:schemeClr val="accent6"/>
            </a:solidFill>
            <a:prstDash val="solid"/>
          </a:ln>
          <a:effectLst>
            <a:outerShdw sx="100000" sy="100000" kx="0" ky="0" algn="bl" rotWithShape="0" blurRad="127000" dist="38100" dir="5400000">
              <a:srgbClr val="14213D">
                <a:alpha val="18000"/>
              </a:srgbClr>
            </a:outerShdw>
          </a:effectLst>
        </p:spPr>
      </p:sp>
      <p:pic>
        <p:nvPicPr>
          <p:cNvPr id="12" name="image" descr="Instagram post: 16 billion credentials exposed, data breach detected.">    </p:cNvPr>
          <p:cNvPicPr>
            <a:picLocks noChangeAspect="1"/>
          </p:cNvPicPr>
          <p:nvPr/>
        </p:nvPicPr>
        <p:blipFill>
          <a:blip r:embed="rId1"/>
          <a:stretch>
            <a:fillRect/>
          </a:stretch>
        </p:blipFill>
        <p:spPr>
          <a:xfrm>
            <a:off x="4800600" y="1397524"/>
            <a:ext cx="3108960" cy="3605753"/>
          </a:xfrm>
          <a:prstGeom prst="rect">
            <a:avLst/>
          </a:prstGeom>
        </p:spPr>
      </p:pic>
      <p:sp>
        <p:nvSpPr>
          <p:cNvPr id="13" name="Text 10"/>
          <p:cNvSpPr txBox="1"/>
          <p:nvPr/>
        </p:nvSpPr>
        <p:spPr>
          <a:xfrm>
            <a:off x="4800600" y="5257800"/>
            <a:ext cx="3108960" cy="365760"/>
          </a:xfrm>
          <a:prstGeom prst="rect">
            <a:avLst/>
          </a:prstGeom>
          <a:noFill/>
          <a:ln/>
        </p:spPr>
        <p:txBody>
          <a:bodyPr wrap="square" lIns="0" tIns="0" rIns="0" bIns="0" rtlCol="0" anchor="t"/>
          <a:lstStyle/>
          <a:p>
            <a:pPr algn="ctr" indent="0" marL="0">
              <a:buNone/>
            </a:pPr>
            <a:r>
              <a:rPr lang="en-US" sz="1200" dirty="0">
                <a:solidFill>
                  <a:schemeClr val="tx2"/>
                </a:solidFill>
              </a:rPr>
              <a:t>Our Instagram post on the same story</a:t>
            </a:r>
            <a:endParaRPr lang="en-US" sz="1200" dirty="0"/>
          </a:p>
        </p:txBody>
      </p:sp>
      <p:sp>
        <p:nvSpPr>
          <p:cNvPr id="14" name="icon-bg-mail"/>
          <p:cNvSpPr/>
          <p:nvPr/>
        </p:nvSpPr>
        <p:spPr>
          <a:xfrm>
            <a:off x="8321040" y="1463040"/>
            <a:ext cx="548640" cy="548640"/>
          </a:xfrm>
          <a:prstGeom prst="ellipse">
            <a:avLst/>
          </a:prstGeom>
          <a:solidFill>
            <a:schemeClr val="accent3">
              <a:alpha val="18000"/>
            </a:schemeClr>
          </a:solidFill>
          <a:ln/>
        </p:spPr>
      </p:sp>
      <p:pic>
        <p:nvPicPr>
          <p:cNvPr id="15" name="icon-mail" descr="preencoded.png">    </p:cNvPr>
          <p:cNvPicPr>
            <a:picLocks noChangeAspect="1"/>
          </p:cNvPicPr>
          <p:nvPr/>
        </p:nvPicPr>
        <p:blipFill>
          <a:blip r:embed="rId2"/>
          <a:stretch>
            <a:fillRect/>
          </a:stretch>
        </p:blipFill>
        <p:spPr>
          <a:xfrm>
            <a:off x="8441741" y="1583741"/>
            <a:ext cx="307238" cy="307238"/>
          </a:xfrm>
          <a:prstGeom prst="rect">
            <a:avLst/>
          </a:prstGeom>
        </p:spPr>
      </p:pic>
      <p:sp>
        <p:nvSpPr>
          <p:cNvPr id="16" name="Text 12"/>
          <p:cNvSpPr txBox="1"/>
          <p:nvPr/>
        </p:nvSpPr>
        <p:spPr>
          <a:xfrm>
            <a:off x="9006840" y="1463040"/>
            <a:ext cx="2651760" cy="365760"/>
          </a:xfrm>
          <a:prstGeom prst="rect">
            <a:avLst/>
          </a:prstGeom>
          <a:noFill/>
          <a:ln/>
        </p:spPr>
        <p:txBody>
          <a:bodyPr wrap="square" lIns="0" tIns="0" rIns="0" bIns="0" rtlCol="0" anchor="t"/>
          <a:lstStyle/>
          <a:p>
            <a:pPr indent="0" marL="0">
              <a:buNone/>
            </a:pPr>
            <a:r>
              <a:rPr lang="en-US" sz="1700" b="1" dirty="0">
                <a:solidFill>
                  <a:schemeClr val="tx1"/>
                </a:solidFill>
              </a:rPr>
              <a:t>Phishing is cheap</a:t>
            </a:r>
            <a:endParaRPr lang="en-US" sz="1700" dirty="0"/>
          </a:p>
        </p:txBody>
      </p:sp>
      <p:sp>
        <p:nvSpPr>
          <p:cNvPr id="17" name="Text 13"/>
          <p:cNvSpPr txBox="1"/>
          <p:nvPr/>
        </p:nvSpPr>
        <p:spPr>
          <a:xfrm>
            <a:off x="9006840" y="1847088"/>
            <a:ext cx="2651760" cy="914400"/>
          </a:xfrm>
          <a:prstGeom prst="rect">
            <a:avLst/>
          </a:prstGeom>
          <a:noFill/>
          <a:ln/>
        </p:spPr>
        <p:txBody>
          <a:bodyPr wrap="square" lIns="0" tIns="0" rIns="0" bIns="0" rtlCol="0" anchor="t"/>
          <a:lstStyle/>
          <a:p>
            <a:pPr indent="0" marL="0">
              <a:buNone/>
            </a:pPr>
            <a:r>
              <a:rPr lang="en-US" sz="1400" dirty="0">
                <a:solidFill>
                  <a:schemeClr val="tx2"/>
                </a:solidFill>
              </a:rPr>
              <a:t>One email reaches thousands of inboxes at no cost.</a:t>
            </a:r>
            <a:endParaRPr lang="en-US" sz="1400" dirty="0"/>
          </a:p>
        </p:txBody>
      </p:sp>
      <p:sp>
        <p:nvSpPr>
          <p:cNvPr id="18" name="icon-bg-key"/>
          <p:cNvSpPr/>
          <p:nvPr/>
        </p:nvSpPr>
        <p:spPr>
          <a:xfrm>
            <a:off x="8321040" y="2971800"/>
            <a:ext cx="548640" cy="548640"/>
          </a:xfrm>
          <a:prstGeom prst="ellipse">
            <a:avLst/>
          </a:prstGeom>
          <a:solidFill>
            <a:schemeClr val="accent3">
              <a:alpha val="18000"/>
            </a:schemeClr>
          </a:solidFill>
          <a:ln/>
        </p:spPr>
      </p:sp>
      <p:pic>
        <p:nvPicPr>
          <p:cNvPr id="19" name="icon-key" descr="preencoded.png">    </p:cNvPr>
          <p:cNvPicPr>
            <a:picLocks noChangeAspect="1"/>
          </p:cNvPicPr>
          <p:nvPr/>
        </p:nvPicPr>
        <p:blipFill>
          <a:blip r:embed="rId3"/>
          <a:stretch>
            <a:fillRect/>
          </a:stretch>
        </p:blipFill>
        <p:spPr>
          <a:xfrm>
            <a:off x="8441741" y="3092501"/>
            <a:ext cx="307238" cy="307238"/>
          </a:xfrm>
          <a:prstGeom prst="rect">
            <a:avLst/>
          </a:prstGeom>
        </p:spPr>
      </p:pic>
      <p:sp>
        <p:nvSpPr>
          <p:cNvPr id="20" name="Text 15"/>
          <p:cNvSpPr txBox="1"/>
          <p:nvPr/>
        </p:nvSpPr>
        <p:spPr>
          <a:xfrm>
            <a:off x="9006840" y="2971800"/>
            <a:ext cx="2651760" cy="365760"/>
          </a:xfrm>
          <a:prstGeom prst="rect">
            <a:avLst/>
          </a:prstGeom>
          <a:noFill/>
          <a:ln/>
        </p:spPr>
        <p:txBody>
          <a:bodyPr wrap="square" lIns="0" tIns="0" rIns="0" bIns="0" rtlCol="0" anchor="t"/>
          <a:lstStyle/>
          <a:p>
            <a:pPr indent="0" marL="0">
              <a:buNone/>
            </a:pPr>
            <a:r>
              <a:rPr lang="en-US" sz="1700" b="1" dirty="0">
                <a:solidFill>
                  <a:schemeClr val="tx1"/>
                </a:solidFill>
              </a:rPr>
              <a:t>One password, many doors</a:t>
            </a:r>
            <a:endParaRPr lang="en-US" sz="1700" dirty="0"/>
          </a:p>
        </p:txBody>
      </p:sp>
      <p:sp>
        <p:nvSpPr>
          <p:cNvPr id="21" name="Text 16"/>
          <p:cNvSpPr txBox="1"/>
          <p:nvPr/>
        </p:nvSpPr>
        <p:spPr>
          <a:xfrm>
            <a:off x="9006840" y="3355848"/>
            <a:ext cx="2651760" cy="914400"/>
          </a:xfrm>
          <a:prstGeom prst="rect">
            <a:avLst/>
          </a:prstGeom>
          <a:noFill/>
          <a:ln/>
        </p:spPr>
        <p:txBody>
          <a:bodyPr wrap="square" lIns="0" tIns="0" rIns="0" bIns="0" rtlCol="0" anchor="t"/>
          <a:lstStyle/>
          <a:p>
            <a:pPr indent="0" marL="0">
              <a:buNone/>
            </a:pPr>
            <a:r>
              <a:rPr lang="en-US" sz="1400" dirty="0">
                <a:solidFill>
                  <a:schemeClr val="tx2"/>
                </a:solidFill>
              </a:rPr>
              <a:t>A single leaked, reused password unlocks email, banking and social accounts.</a:t>
            </a:r>
            <a:endParaRPr lang="en-US" sz="1400" dirty="0"/>
          </a:p>
        </p:txBody>
      </p:sp>
      <p:sp>
        <p:nvSpPr>
          <p:cNvPr id="22" name="icon-bg-users"/>
          <p:cNvSpPr/>
          <p:nvPr/>
        </p:nvSpPr>
        <p:spPr>
          <a:xfrm>
            <a:off x="8321040" y="4480560"/>
            <a:ext cx="548640" cy="548640"/>
          </a:xfrm>
          <a:prstGeom prst="ellipse">
            <a:avLst/>
          </a:prstGeom>
          <a:solidFill>
            <a:schemeClr val="accent3">
              <a:alpha val="18000"/>
            </a:schemeClr>
          </a:solidFill>
          <a:ln/>
        </p:spPr>
      </p:sp>
      <p:pic>
        <p:nvPicPr>
          <p:cNvPr id="23" name="icon-users" descr="preencoded.png">    </p:cNvPr>
          <p:cNvPicPr>
            <a:picLocks noChangeAspect="1"/>
          </p:cNvPicPr>
          <p:nvPr/>
        </p:nvPicPr>
        <p:blipFill>
          <a:blip r:embed="rId4"/>
          <a:stretch>
            <a:fillRect/>
          </a:stretch>
        </p:blipFill>
        <p:spPr>
          <a:xfrm>
            <a:off x="8441741" y="4601261"/>
            <a:ext cx="307238" cy="307238"/>
          </a:xfrm>
          <a:prstGeom prst="rect">
            <a:avLst/>
          </a:prstGeom>
        </p:spPr>
      </p:pic>
      <p:sp>
        <p:nvSpPr>
          <p:cNvPr id="24" name="Text 18"/>
          <p:cNvSpPr txBox="1"/>
          <p:nvPr/>
        </p:nvSpPr>
        <p:spPr>
          <a:xfrm>
            <a:off x="9006840" y="4480560"/>
            <a:ext cx="2651760" cy="365760"/>
          </a:xfrm>
          <a:prstGeom prst="rect">
            <a:avLst/>
          </a:prstGeom>
          <a:noFill/>
          <a:ln/>
        </p:spPr>
        <p:txBody>
          <a:bodyPr wrap="square" lIns="0" tIns="0" rIns="0" bIns="0" rtlCol="0" anchor="t"/>
          <a:lstStyle/>
          <a:p>
            <a:pPr indent="0" marL="0">
              <a:buNone/>
            </a:pPr>
            <a:r>
              <a:rPr lang="en-US" sz="1700" b="1" dirty="0">
                <a:solidFill>
                  <a:schemeClr val="tx1"/>
                </a:solidFill>
              </a:rPr>
              <a:t>People make the call</a:t>
            </a:r>
            <a:endParaRPr lang="en-US" sz="1700" dirty="0"/>
          </a:p>
        </p:txBody>
      </p:sp>
      <p:sp>
        <p:nvSpPr>
          <p:cNvPr id="25" name="Text 19"/>
          <p:cNvSpPr txBox="1"/>
          <p:nvPr/>
        </p:nvSpPr>
        <p:spPr>
          <a:xfrm>
            <a:off x="9006840" y="4864608"/>
            <a:ext cx="2651760" cy="914400"/>
          </a:xfrm>
          <a:prstGeom prst="rect">
            <a:avLst/>
          </a:prstGeom>
          <a:noFill/>
          <a:ln/>
        </p:spPr>
        <p:txBody>
          <a:bodyPr wrap="square" lIns="0" tIns="0" rIns="0" bIns="0" rtlCol="0" anchor="t"/>
          <a:lstStyle/>
          <a:p>
            <a:pPr indent="0" marL="0">
              <a:buNone/>
            </a:pPr>
            <a:r>
              <a:rPr lang="en-US" sz="1400" dirty="0">
                <a:solidFill>
                  <a:schemeClr val="tx2"/>
                </a:solidFill>
              </a:rPr>
              <a:t>Filters miss messages that look normal. People decide whether to click.</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Our philosophy: people are the target, not the problem</a:t>
            </a:r>
            <a:endParaRPr lang="en-US" sz="3400" dirty="0"/>
          </a:p>
        </p:txBody>
      </p:sp>
      <p:sp>
        <p:nvSpPr>
          <p:cNvPr id="3" name="card"/>
          <p:cNvSpPr/>
          <p:nvPr/>
        </p:nvSpPr>
        <p:spPr>
          <a:xfrm>
            <a:off x="548640" y="1371600"/>
            <a:ext cx="5440680" cy="1737360"/>
          </a:xfrm>
          <a:prstGeom prst="roundRect">
            <a:avLst>
              <a:gd name="adj" fmla="val 5263"/>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4" name="icon-bg-heart"/>
          <p:cNvSpPr/>
          <p:nvPr/>
        </p:nvSpPr>
        <p:spPr>
          <a:xfrm>
            <a:off x="822960" y="1664208"/>
            <a:ext cx="685800" cy="685800"/>
          </a:xfrm>
          <a:prstGeom prst="ellipse">
            <a:avLst/>
          </a:prstGeom>
          <a:solidFill>
            <a:schemeClr val="accent2">
              <a:alpha val="18000"/>
            </a:schemeClr>
          </a:solidFill>
          <a:ln/>
        </p:spPr>
      </p:sp>
      <p:pic>
        <p:nvPicPr>
          <p:cNvPr id="5" name="icon-heart" descr="preencoded.png">    </p:cNvPr>
          <p:cNvPicPr>
            <a:picLocks noChangeAspect="1"/>
          </p:cNvPicPr>
          <p:nvPr/>
        </p:nvPicPr>
        <p:blipFill>
          <a:blip r:embed="rId1"/>
          <a:stretch>
            <a:fillRect/>
          </a:stretch>
        </p:blipFill>
        <p:spPr>
          <a:xfrm>
            <a:off x="973836" y="1815084"/>
            <a:ext cx="384048" cy="384048"/>
          </a:xfrm>
          <a:prstGeom prst="rect">
            <a:avLst/>
          </a:prstGeom>
        </p:spPr>
      </p:pic>
      <p:sp>
        <p:nvSpPr>
          <p:cNvPr id="6" name="Text 3"/>
          <p:cNvSpPr txBox="1"/>
          <p:nvPr/>
        </p:nvSpPr>
        <p:spPr>
          <a:xfrm>
            <a:off x="1737360" y="1645920"/>
            <a:ext cx="4023360" cy="411480"/>
          </a:xfrm>
          <a:prstGeom prst="rect">
            <a:avLst/>
          </a:prstGeom>
          <a:noFill/>
          <a:ln/>
        </p:spPr>
        <p:txBody>
          <a:bodyPr wrap="square" lIns="0" tIns="0" rIns="0" bIns="0" rtlCol="0" anchor="t"/>
          <a:lstStyle/>
          <a:p>
            <a:pPr indent="0" marL="0">
              <a:buNone/>
            </a:pPr>
            <a:r>
              <a:rPr lang="en-US" sz="1900" b="1" dirty="0">
                <a:solidFill>
                  <a:schemeClr val="tx1"/>
                </a:solidFill>
              </a:rPr>
              <a:t>Human-centred, not blame</a:t>
            </a:r>
            <a:endParaRPr lang="en-US" sz="1900" dirty="0"/>
          </a:p>
        </p:txBody>
      </p:sp>
      <p:sp>
        <p:nvSpPr>
          <p:cNvPr id="7" name="Text 4"/>
          <p:cNvSpPr txBox="1"/>
          <p:nvPr/>
        </p:nvSpPr>
        <p:spPr>
          <a:xfrm>
            <a:off x="1737360" y="2103120"/>
            <a:ext cx="4023360" cy="914400"/>
          </a:xfrm>
          <a:prstGeom prst="rect">
            <a:avLst/>
          </a:prstGeom>
          <a:noFill/>
          <a:ln/>
        </p:spPr>
        <p:txBody>
          <a:bodyPr wrap="square" lIns="0" tIns="0" rIns="0" bIns="0" rtlCol="0" anchor="t"/>
          <a:lstStyle/>
          <a:p>
            <a:pPr indent="0" marL="0">
              <a:buNone/>
            </a:pPr>
            <a:r>
              <a:rPr lang="en-US" sz="1400" dirty="0">
                <a:solidFill>
                  <a:schemeClr val="tx2"/>
                </a:solidFill>
              </a:rPr>
              <a:t>People aren't the weakest link; they're the most targeted. We design for how students really decide, in a hurry, on a phone.</a:t>
            </a:r>
            <a:endParaRPr lang="en-US" sz="1400" dirty="0"/>
          </a:p>
        </p:txBody>
      </p:sp>
      <p:sp>
        <p:nvSpPr>
          <p:cNvPr id="8" name="card"/>
          <p:cNvSpPr/>
          <p:nvPr/>
        </p:nvSpPr>
        <p:spPr>
          <a:xfrm>
            <a:off x="6199632" y="1371600"/>
            <a:ext cx="5440680" cy="1737360"/>
          </a:xfrm>
          <a:prstGeom prst="roundRect">
            <a:avLst>
              <a:gd name="adj" fmla="val 5263"/>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9" name="icon-bg-eye"/>
          <p:cNvSpPr/>
          <p:nvPr/>
        </p:nvSpPr>
        <p:spPr>
          <a:xfrm>
            <a:off x="6473952" y="1664208"/>
            <a:ext cx="685800" cy="685800"/>
          </a:xfrm>
          <a:prstGeom prst="ellipse">
            <a:avLst/>
          </a:prstGeom>
          <a:solidFill>
            <a:schemeClr val="accent3">
              <a:alpha val="18000"/>
            </a:schemeClr>
          </a:solidFill>
          <a:ln/>
        </p:spPr>
      </p:sp>
      <p:pic>
        <p:nvPicPr>
          <p:cNvPr id="10" name="icon-eye" descr="preencoded.png">    </p:cNvPr>
          <p:cNvPicPr>
            <a:picLocks noChangeAspect="1"/>
          </p:cNvPicPr>
          <p:nvPr/>
        </p:nvPicPr>
        <p:blipFill>
          <a:blip r:embed="rId2"/>
          <a:stretch>
            <a:fillRect/>
          </a:stretch>
        </p:blipFill>
        <p:spPr>
          <a:xfrm>
            <a:off x="6624828" y="1815084"/>
            <a:ext cx="384048" cy="384048"/>
          </a:xfrm>
          <a:prstGeom prst="rect">
            <a:avLst/>
          </a:prstGeom>
        </p:spPr>
      </p:pic>
      <p:sp>
        <p:nvSpPr>
          <p:cNvPr id="11" name="Text 7"/>
          <p:cNvSpPr txBox="1"/>
          <p:nvPr/>
        </p:nvSpPr>
        <p:spPr>
          <a:xfrm>
            <a:off x="7388352" y="1645920"/>
            <a:ext cx="4023360" cy="411480"/>
          </a:xfrm>
          <a:prstGeom prst="rect">
            <a:avLst/>
          </a:prstGeom>
          <a:noFill/>
          <a:ln/>
        </p:spPr>
        <p:txBody>
          <a:bodyPr wrap="square" lIns="0" tIns="0" rIns="0" bIns="0" rtlCol="0" anchor="t"/>
          <a:lstStyle/>
          <a:p>
            <a:pPr indent="0" marL="0">
              <a:buNone/>
            </a:pPr>
            <a:r>
              <a:rPr lang="en-US" sz="1900" b="1" dirty="0">
                <a:solidFill>
                  <a:schemeClr val="tx1"/>
                </a:solidFill>
              </a:rPr>
              <a:t>Nudge, don't scare</a:t>
            </a:r>
            <a:endParaRPr lang="en-US" sz="1900" dirty="0"/>
          </a:p>
        </p:txBody>
      </p:sp>
      <p:sp>
        <p:nvSpPr>
          <p:cNvPr id="12" name="Text 8"/>
          <p:cNvSpPr txBox="1"/>
          <p:nvPr/>
        </p:nvSpPr>
        <p:spPr>
          <a:xfrm>
            <a:off x="7388352" y="2103120"/>
            <a:ext cx="4023360" cy="914400"/>
          </a:xfrm>
          <a:prstGeom prst="rect">
            <a:avLst/>
          </a:prstGeom>
          <a:noFill/>
          <a:ln/>
        </p:spPr>
        <p:txBody>
          <a:bodyPr wrap="square" lIns="0" tIns="0" rIns="0" bIns="0" rtlCol="0" anchor="t"/>
          <a:lstStyle/>
          <a:p>
            <a:pPr indent="0" marL="0">
              <a:buNone/>
            </a:pPr>
            <a:r>
              <a:rPr lang="en-US" sz="1400" dirty="0">
                <a:solidFill>
                  <a:schemeClr val="tx2"/>
                </a:solidFill>
              </a:rPr>
              <a:t>Small cues at the moment of decision work better than fear. Every piece gives one clear action, not just a warning.</a:t>
            </a:r>
            <a:endParaRPr lang="en-US" sz="1400" dirty="0"/>
          </a:p>
        </p:txBody>
      </p:sp>
      <p:sp>
        <p:nvSpPr>
          <p:cNvPr id="13" name="card"/>
          <p:cNvSpPr/>
          <p:nvPr/>
        </p:nvSpPr>
        <p:spPr>
          <a:xfrm>
            <a:off x="548640" y="3291840"/>
            <a:ext cx="5440680" cy="1737360"/>
          </a:xfrm>
          <a:prstGeom prst="roundRect">
            <a:avLst>
              <a:gd name="adj" fmla="val 5263"/>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14" name="icon-bg-check"/>
          <p:cNvSpPr/>
          <p:nvPr/>
        </p:nvSpPr>
        <p:spPr>
          <a:xfrm>
            <a:off x="822960" y="3584448"/>
            <a:ext cx="685800" cy="685800"/>
          </a:xfrm>
          <a:prstGeom prst="ellipse">
            <a:avLst/>
          </a:prstGeom>
          <a:solidFill>
            <a:schemeClr val="accent4">
              <a:alpha val="18000"/>
            </a:schemeClr>
          </a:solidFill>
          <a:ln/>
        </p:spPr>
      </p:sp>
      <p:pic>
        <p:nvPicPr>
          <p:cNvPr id="15" name="icon-check" descr="preencoded.png">    </p:cNvPr>
          <p:cNvPicPr>
            <a:picLocks noChangeAspect="1"/>
          </p:cNvPicPr>
          <p:nvPr/>
        </p:nvPicPr>
        <p:blipFill>
          <a:blip r:embed="rId3"/>
          <a:stretch>
            <a:fillRect/>
          </a:stretch>
        </p:blipFill>
        <p:spPr>
          <a:xfrm>
            <a:off x="973836" y="3735324"/>
            <a:ext cx="384048" cy="384048"/>
          </a:xfrm>
          <a:prstGeom prst="rect">
            <a:avLst/>
          </a:prstGeom>
        </p:spPr>
      </p:pic>
      <p:sp>
        <p:nvSpPr>
          <p:cNvPr id="16" name="Text 11"/>
          <p:cNvSpPr txBox="1"/>
          <p:nvPr/>
        </p:nvSpPr>
        <p:spPr>
          <a:xfrm>
            <a:off x="1737360" y="3566160"/>
            <a:ext cx="4023360" cy="411480"/>
          </a:xfrm>
          <a:prstGeom prst="rect">
            <a:avLst/>
          </a:prstGeom>
          <a:noFill/>
          <a:ln/>
        </p:spPr>
        <p:txBody>
          <a:bodyPr wrap="square" lIns="0" tIns="0" rIns="0" bIns="0" rtlCol="0" anchor="t"/>
          <a:lstStyle/>
          <a:p>
            <a:pPr indent="0" marL="0">
              <a:buNone/>
            </a:pPr>
            <a:r>
              <a:rPr lang="en-US" sz="1900" b="1" dirty="0">
                <a:solidFill>
                  <a:schemeClr val="tx1"/>
                </a:solidFill>
              </a:rPr>
              <a:t>One habit at a time</a:t>
            </a:r>
            <a:endParaRPr lang="en-US" sz="1900" dirty="0"/>
          </a:p>
        </p:txBody>
      </p:sp>
      <p:sp>
        <p:nvSpPr>
          <p:cNvPr id="17" name="Text 12"/>
          <p:cNvSpPr txBox="1"/>
          <p:nvPr/>
        </p:nvSpPr>
        <p:spPr>
          <a:xfrm>
            <a:off x="1737360" y="4023360"/>
            <a:ext cx="4023360" cy="914400"/>
          </a:xfrm>
          <a:prstGeom prst="rect">
            <a:avLst/>
          </a:prstGeom>
          <a:noFill/>
          <a:ln/>
        </p:spPr>
        <p:txBody>
          <a:bodyPr wrap="square" lIns="0" tIns="0" rIns="0" bIns="0" rtlCol="0" anchor="t"/>
          <a:lstStyle/>
          <a:p>
            <a:pPr indent="0" marL="0">
              <a:buNone/>
            </a:pPr>
            <a:r>
              <a:rPr lang="en-US" sz="1400" dirty="0">
                <a:solidFill>
                  <a:schemeClr val="tx2"/>
                </a:solidFill>
              </a:rPr>
              <a:t>"Think. Check. Stay safe.": rules short enough to recall in the five seconds a scam gives you.</a:t>
            </a:r>
            <a:endParaRPr lang="en-US" sz="1400" dirty="0"/>
          </a:p>
        </p:txBody>
      </p:sp>
      <p:sp>
        <p:nvSpPr>
          <p:cNvPr id="18" name="card"/>
          <p:cNvSpPr/>
          <p:nvPr/>
        </p:nvSpPr>
        <p:spPr>
          <a:xfrm>
            <a:off x="6199632" y="3291840"/>
            <a:ext cx="5440680" cy="1737360"/>
          </a:xfrm>
          <a:prstGeom prst="roundRect">
            <a:avLst>
              <a:gd name="adj" fmla="val 5263"/>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19" name="icon-bg-chart"/>
          <p:cNvSpPr/>
          <p:nvPr/>
        </p:nvSpPr>
        <p:spPr>
          <a:xfrm>
            <a:off x="6473952" y="3584448"/>
            <a:ext cx="685800" cy="685800"/>
          </a:xfrm>
          <a:prstGeom prst="ellipse">
            <a:avLst/>
          </a:prstGeom>
          <a:solidFill>
            <a:schemeClr val="accent1">
              <a:alpha val="55000"/>
            </a:schemeClr>
          </a:solidFill>
          <a:ln/>
        </p:spPr>
      </p:sp>
      <p:pic>
        <p:nvPicPr>
          <p:cNvPr id="20" name="icon-chart" descr="preencoded.png">    </p:cNvPr>
          <p:cNvPicPr>
            <a:picLocks noChangeAspect="1"/>
          </p:cNvPicPr>
          <p:nvPr/>
        </p:nvPicPr>
        <p:blipFill>
          <a:blip r:embed="rId4"/>
          <a:stretch>
            <a:fillRect/>
          </a:stretch>
        </p:blipFill>
        <p:spPr>
          <a:xfrm>
            <a:off x="6624828" y="3735324"/>
            <a:ext cx="384048" cy="384048"/>
          </a:xfrm>
          <a:prstGeom prst="rect">
            <a:avLst/>
          </a:prstGeom>
        </p:spPr>
      </p:pic>
      <p:sp>
        <p:nvSpPr>
          <p:cNvPr id="21" name="Text 15"/>
          <p:cNvSpPr txBox="1"/>
          <p:nvPr/>
        </p:nvSpPr>
        <p:spPr>
          <a:xfrm>
            <a:off x="7388352" y="3566160"/>
            <a:ext cx="4023360" cy="411480"/>
          </a:xfrm>
          <a:prstGeom prst="rect">
            <a:avLst/>
          </a:prstGeom>
          <a:noFill/>
          <a:ln/>
        </p:spPr>
        <p:txBody>
          <a:bodyPr wrap="square" lIns="0" tIns="0" rIns="0" bIns="0" rtlCol="0" anchor="t"/>
          <a:lstStyle/>
          <a:p>
            <a:pPr indent="0" marL="0">
              <a:buNone/>
            </a:pPr>
            <a:r>
              <a:rPr lang="en-US" sz="1900" b="1" dirty="0">
                <a:solidFill>
                  <a:schemeClr val="tx1"/>
                </a:solidFill>
              </a:rPr>
              <a:t>Measure behaviour, honestly</a:t>
            </a:r>
            <a:endParaRPr lang="en-US" sz="1900" dirty="0"/>
          </a:p>
        </p:txBody>
      </p:sp>
      <p:sp>
        <p:nvSpPr>
          <p:cNvPr id="22" name="Text 16"/>
          <p:cNvSpPr txBox="1"/>
          <p:nvPr/>
        </p:nvSpPr>
        <p:spPr>
          <a:xfrm>
            <a:off x="7388352" y="4023360"/>
            <a:ext cx="4023360" cy="914400"/>
          </a:xfrm>
          <a:prstGeom prst="rect">
            <a:avLst/>
          </a:prstGeom>
          <a:noFill/>
          <a:ln/>
        </p:spPr>
        <p:txBody>
          <a:bodyPr wrap="square" lIns="0" tIns="0" rIns="0" bIns="0" rtlCol="0" anchor="t"/>
          <a:lstStyle/>
          <a:p>
            <a:pPr indent="0" marL="0">
              <a:buNone/>
            </a:pPr>
            <a:r>
              <a:rPr lang="en-US" sz="1400" dirty="0">
                <a:solidFill>
                  <a:schemeClr val="tx2"/>
                </a:solidFill>
              </a:rPr>
              <a:t>Test what people would do in realistic scenarios, before and after, and report what didn't work too.</a:t>
            </a:r>
            <a:endParaRPr lang="en-US" sz="1400" dirty="0"/>
          </a:p>
        </p:txBody>
      </p:sp>
      <p:sp>
        <p:nvSpPr>
          <p:cNvPr id="23" name="Text 17"/>
          <p:cNvSpPr txBox="1"/>
          <p:nvPr/>
        </p:nvSpPr>
        <p:spPr>
          <a:xfrm>
            <a:off x="548640" y="5440680"/>
            <a:ext cx="3017520" cy="548640"/>
          </a:xfrm>
          <a:prstGeom prst="rect">
            <a:avLst/>
          </a:prstGeom>
          <a:noFill/>
          <a:ln/>
        </p:spPr>
        <p:txBody>
          <a:bodyPr wrap="square" lIns="0" tIns="0" rIns="0" bIns="0" rtlCol="0" anchor="ctr"/>
          <a:lstStyle/>
          <a:p>
            <a:pPr indent="0" marL="0">
              <a:buNone/>
            </a:pPr>
            <a:r>
              <a:rPr lang="en-US" sz="1500" b="1" dirty="0">
                <a:solidFill>
                  <a:schemeClr val="tx1"/>
                </a:solidFill>
              </a:rPr>
              <a:t>The three habits we teach</a:t>
            </a:r>
            <a:endParaRPr lang="en-US" sz="1500" dirty="0"/>
          </a:p>
        </p:txBody>
      </p:sp>
      <p:sp>
        <p:nvSpPr>
          <p:cNvPr id="24" name="chip"/>
          <p:cNvSpPr txBox="1"/>
          <p:nvPr/>
        </p:nvSpPr>
        <p:spPr>
          <a:xfrm>
            <a:off x="3611880" y="5440680"/>
            <a:ext cx="2468880" cy="548640"/>
          </a:xfrm>
          <a:prstGeom prst="roundRect">
            <a:avLst>
              <a:gd name="adj" fmla="val 83333"/>
            </a:avLst>
          </a:prstGeom>
          <a:solidFill>
            <a:schemeClr val="accent2"/>
          </a:solidFill>
          <a:ln/>
        </p:spPr>
        <p:txBody>
          <a:bodyPr wrap="square" lIns="0" tIns="101600" rIns="101600" bIns="0" rtlCol="0" anchor="ctr"/>
          <a:lstStyle/>
          <a:p>
            <a:pPr algn="ctr" indent="0" marL="0">
              <a:buNone/>
            </a:pPr>
            <a:r>
              <a:rPr lang="en-US" sz="1800" b="1" dirty="0">
                <a:solidFill>
                  <a:schemeClr val="bg1"/>
                </a:solidFill>
              </a:rPr>
              <a:t>SPOT it</a:t>
            </a:r>
            <a:endParaRPr lang="en-US" sz="1800" dirty="0"/>
          </a:p>
        </p:txBody>
      </p:sp>
      <p:sp>
        <p:nvSpPr>
          <p:cNvPr id="25" name="chip"/>
          <p:cNvSpPr txBox="1"/>
          <p:nvPr/>
        </p:nvSpPr>
        <p:spPr>
          <a:xfrm>
            <a:off x="6309360" y="5440680"/>
            <a:ext cx="2468880" cy="548640"/>
          </a:xfrm>
          <a:prstGeom prst="roundRect">
            <a:avLst>
              <a:gd name="adj" fmla="val 83333"/>
            </a:avLst>
          </a:prstGeom>
          <a:solidFill>
            <a:schemeClr val="accent3"/>
          </a:solidFill>
          <a:ln/>
        </p:spPr>
        <p:txBody>
          <a:bodyPr wrap="square" lIns="0" tIns="101600" rIns="101600" bIns="0" rtlCol="0" anchor="ctr"/>
          <a:lstStyle/>
          <a:p>
            <a:pPr algn="ctr" indent="0" marL="0">
              <a:buNone/>
            </a:pPr>
            <a:r>
              <a:rPr lang="en-US" sz="1800" b="1" dirty="0">
                <a:solidFill>
                  <a:schemeClr val="bg1"/>
                </a:solidFill>
              </a:rPr>
              <a:t>VERIFY it</a:t>
            </a:r>
            <a:endParaRPr lang="en-US" sz="1800" dirty="0"/>
          </a:p>
        </p:txBody>
      </p:sp>
      <p:sp>
        <p:nvSpPr>
          <p:cNvPr id="26" name="chip"/>
          <p:cNvSpPr txBox="1"/>
          <p:nvPr/>
        </p:nvSpPr>
        <p:spPr>
          <a:xfrm>
            <a:off x="9006840" y="5440680"/>
            <a:ext cx="2468880" cy="548640"/>
          </a:xfrm>
          <a:prstGeom prst="roundRect">
            <a:avLst>
              <a:gd name="adj" fmla="val 83333"/>
            </a:avLst>
          </a:prstGeom>
          <a:solidFill>
            <a:schemeClr val="accent4"/>
          </a:solidFill>
          <a:ln/>
        </p:spPr>
        <p:txBody>
          <a:bodyPr wrap="square" lIns="0" tIns="101600" rIns="101600" bIns="0" rtlCol="0" anchor="ctr"/>
          <a:lstStyle/>
          <a:p>
            <a:pPr algn="ctr" indent="0" marL="0">
              <a:buNone/>
            </a:pPr>
            <a:r>
              <a:rPr lang="en-US" sz="1800" b="1" dirty="0">
                <a:solidFill>
                  <a:schemeClr val="bg1"/>
                </a:solidFill>
              </a:rPr>
              <a:t>REPORT it</a:t>
            </a:r>
            <a:endParaRPr lang="en-US" sz="18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Our method: a human-centred design loop</a:t>
            </a:r>
            <a:endParaRPr lang="en-US" sz="3400" dirty="0"/>
          </a:p>
        </p:txBody>
      </p:sp>
      <p:sp>
        <p:nvSpPr>
          <p:cNvPr id="3" name="card"/>
          <p:cNvSpPr/>
          <p:nvPr/>
        </p:nvSpPr>
        <p:spPr>
          <a:xfrm>
            <a:off x="548640" y="1371600"/>
            <a:ext cx="2011680" cy="3246120"/>
          </a:xfrm>
          <a:prstGeom prst="roundRect">
            <a:avLst>
              <a:gd name="adj" fmla="val 4545"/>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4" name="step-number"/>
          <p:cNvSpPr txBox="1"/>
          <p:nvPr/>
        </p:nvSpPr>
        <p:spPr>
          <a:xfrm>
            <a:off x="777240" y="1600200"/>
            <a:ext cx="548640" cy="548640"/>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tx1"/>
                </a:solidFill>
              </a:rPr>
              <a:t>1</a:t>
            </a:r>
            <a:endParaRPr lang="en-US" sz="2000" dirty="0"/>
          </a:p>
        </p:txBody>
      </p:sp>
      <p:pic>
        <p:nvPicPr>
          <p:cNvPr id="5" name="step-icon" descr="preencoded.png">    </p:cNvPr>
          <p:cNvPicPr>
            <a:picLocks noChangeAspect="1"/>
          </p:cNvPicPr>
          <p:nvPr/>
        </p:nvPicPr>
        <p:blipFill>
          <a:blip r:embed="rId1"/>
          <a:stretch>
            <a:fillRect/>
          </a:stretch>
        </p:blipFill>
        <p:spPr>
          <a:xfrm>
            <a:off x="1874520" y="1664208"/>
            <a:ext cx="420624" cy="420624"/>
          </a:xfrm>
          <a:prstGeom prst="rect">
            <a:avLst/>
          </a:prstGeom>
        </p:spPr>
      </p:pic>
      <p:sp>
        <p:nvSpPr>
          <p:cNvPr id="6" name="Text 3"/>
          <p:cNvSpPr txBox="1"/>
          <p:nvPr/>
        </p:nvSpPr>
        <p:spPr>
          <a:xfrm>
            <a:off x="777240" y="2331720"/>
            <a:ext cx="1645920" cy="411480"/>
          </a:xfrm>
          <a:prstGeom prst="rect">
            <a:avLst/>
          </a:prstGeom>
          <a:noFill/>
          <a:ln/>
        </p:spPr>
        <p:txBody>
          <a:bodyPr wrap="square" lIns="0" tIns="0" rIns="0" bIns="0" rtlCol="0" anchor="t"/>
          <a:lstStyle/>
          <a:p>
            <a:pPr indent="0" marL="0">
              <a:buNone/>
            </a:pPr>
            <a:r>
              <a:rPr lang="en-US" sz="1900" b="1" dirty="0">
                <a:solidFill>
                  <a:schemeClr val="tx1"/>
                </a:solidFill>
              </a:rPr>
              <a:t>Understand</a:t>
            </a:r>
            <a:endParaRPr lang="en-US" sz="1900" dirty="0"/>
          </a:p>
        </p:txBody>
      </p:sp>
      <p:sp>
        <p:nvSpPr>
          <p:cNvPr id="7" name="Text 4"/>
          <p:cNvSpPr txBox="1"/>
          <p:nvPr/>
        </p:nvSpPr>
        <p:spPr>
          <a:xfrm>
            <a:off x="777240" y="2788920"/>
            <a:ext cx="1645920" cy="1188720"/>
          </a:xfrm>
          <a:prstGeom prst="rect">
            <a:avLst/>
          </a:prstGeom>
          <a:noFill/>
          <a:ln/>
        </p:spPr>
        <p:txBody>
          <a:bodyPr wrap="square" lIns="0" tIns="0" rIns="0" bIns="0" rtlCol="0" anchor="t"/>
          <a:lstStyle/>
          <a:p>
            <a:pPr indent="0" marL="0">
              <a:buNone/>
            </a:pPr>
            <a:r>
              <a:rPr lang="en-US" sz="1300" dirty="0">
                <a:solidFill>
                  <a:schemeClr val="tx2"/>
                </a:solidFill>
              </a:rPr>
              <a:t>Students 18+: new university accounts, scam texts, links in group chats, reused passwords</a:t>
            </a:r>
            <a:endParaRPr lang="en-US" sz="1300" dirty="0"/>
          </a:p>
        </p:txBody>
      </p:sp>
      <p:sp>
        <p:nvSpPr>
          <p:cNvPr id="8" name="chip"/>
          <p:cNvSpPr txBox="1"/>
          <p:nvPr/>
        </p:nvSpPr>
        <p:spPr>
          <a:xfrm>
            <a:off x="731520" y="4069080"/>
            <a:ext cx="1645920" cy="384048"/>
          </a:xfrm>
          <a:prstGeom prst="roundRect">
            <a:avLst>
              <a:gd name="adj" fmla="val 119048"/>
            </a:avLst>
          </a:prstGeom>
          <a:solidFill>
            <a:schemeClr val="accent5"/>
          </a:solidFill>
          <a:ln/>
        </p:spPr>
        <p:txBody>
          <a:bodyPr wrap="square" lIns="0" tIns="101600" rIns="101600" bIns="0" rtlCol="0" anchor="ctr"/>
          <a:lstStyle/>
          <a:p>
            <a:pPr algn="ctr" indent="0" marL="0">
              <a:buNone/>
            </a:pPr>
            <a:r>
              <a:rPr lang="en-US" sz="1200" b="1" dirty="0">
                <a:solidFill>
                  <a:schemeClr val="tx1"/>
                </a:solidFill>
              </a:rPr>
              <a:t>Audience research</a:t>
            </a:r>
            <a:endParaRPr lang="en-US" sz="1200" dirty="0"/>
          </a:p>
        </p:txBody>
      </p:sp>
      <p:pic>
        <p:nvPicPr>
          <p:cNvPr id="9" name="arrow" descr="preencoded.png">    </p:cNvPr>
          <p:cNvPicPr>
            <a:picLocks noChangeAspect="1"/>
          </p:cNvPicPr>
          <p:nvPr/>
        </p:nvPicPr>
        <p:blipFill>
          <a:blip r:embed="rId2"/>
          <a:stretch>
            <a:fillRect/>
          </a:stretch>
        </p:blipFill>
        <p:spPr>
          <a:xfrm>
            <a:off x="2569464" y="2852928"/>
            <a:ext cx="237744" cy="237744"/>
          </a:xfrm>
          <a:prstGeom prst="rect">
            <a:avLst/>
          </a:prstGeom>
        </p:spPr>
      </p:pic>
      <p:sp>
        <p:nvSpPr>
          <p:cNvPr id="10" name="card"/>
          <p:cNvSpPr/>
          <p:nvPr/>
        </p:nvSpPr>
        <p:spPr>
          <a:xfrm>
            <a:off x="2816352" y="1371600"/>
            <a:ext cx="2011680" cy="3246120"/>
          </a:xfrm>
          <a:prstGeom prst="roundRect">
            <a:avLst>
              <a:gd name="adj" fmla="val 4545"/>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11" name="step-number"/>
          <p:cNvSpPr txBox="1"/>
          <p:nvPr/>
        </p:nvSpPr>
        <p:spPr>
          <a:xfrm>
            <a:off x="3044952" y="1600200"/>
            <a:ext cx="548640" cy="548640"/>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tx1"/>
                </a:solidFill>
              </a:rPr>
              <a:t>2</a:t>
            </a:r>
            <a:endParaRPr lang="en-US" sz="2000" dirty="0"/>
          </a:p>
        </p:txBody>
      </p:sp>
      <p:pic>
        <p:nvPicPr>
          <p:cNvPr id="12" name="step-icon" descr="preencoded.png">    </p:cNvPr>
          <p:cNvPicPr>
            <a:picLocks noChangeAspect="1"/>
          </p:cNvPicPr>
          <p:nvPr/>
        </p:nvPicPr>
        <p:blipFill>
          <a:blip r:embed="rId3"/>
          <a:stretch>
            <a:fillRect/>
          </a:stretch>
        </p:blipFill>
        <p:spPr>
          <a:xfrm>
            <a:off x="4142232" y="1664208"/>
            <a:ext cx="420624" cy="420624"/>
          </a:xfrm>
          <a:prstGeom prst="rect">
            <a:avLst/>
          </a:prstGeom>
        </p:spPr>
      </p:pic>
      <p:sp>
        <p:nvSpPr>
          <p:cNvPr id="13" name="Text 8"/>
          <p:cNvSpPr txBox="1"/>
          <p:nvPr/>
        </p:nvSpPr>
        <p:spPr>
          <a:xfrm>
            <a:off x="3044952" y="2331720"/>
            <a:ext cx="1645920" cy="411480"/>
          </a:xfrm>
          <a:prstGeom prst="rect">
            <a:avLst/>
          </a:prstGeom>
          <a:noFill/>
          <a:ln/>
        </p:spPr>
        <p:txBody>
          <a:bodyPr wrap="square" lIns="0" tIns="0" rIns="0" bIns="0" rtlCol="0" anchor="t"/>
          <a:lstStyle/>
          <a:p>
            <a:pPr indent="0" marL="0">
              <a:buNone/>
            </a:pPr>
            <a:r>
              <a:rPr lang="en-US" sz="1900" b="1" dirty="0">
                <a:solidFill>
                  <a:schemeClr val="tx1"/>
                </a:solidFill>
              </a:rPr>
              <a:t>Design</a:t>
            </a:r>
            <a:endParaRPr lang="en-US" sz="1900" dirty="0"/>
          </a:p>
        </p:txBody>
      </p:sp>
      <p:sp>
        <p:nvSpPr>
          <p:cNvPr id="14" name="Text 9"/>
          <p:cNvSpPr txBox="1"/>
          <p:nvPr/>
        </p:nvSpPr>
        <p:spPr>
          <a:xfrm>
            <a:off x="3044952" y="2788920"/>
            <a:ext cx="1645920" cy="1188720"/>
          </a:xfrm>
          <a:prstGeom prst="rect">
            <a:avLst/>
          </a:prstGeom>
          <a:noFill/>
          <a:ln/>
        </p:spPr>
        <p:txBody>
          <a:bodyPr wrap="square" lIns="0" tIns="0" rIns="0" bIns="0" rtlCol="0" anchor="t"/>
          <a:lstStyle/>
          <a:p>
            <a:pPr indent="0" marL="0">
              <a:buNone/>
            </a:pPr>
            <a:r>
              <a:rPr lang="en-US" sz="1300" dirty="0">
                <a:solidFill>
                  <a:schemeClr val="tx2"/>
                </a:solidFill>
              </a:rPr>
              <a:t>Nudge-based posters and posts, each built around one habit</a:t>
            </a:r>
            <a:endParaRPr lang="en-US" sz="1300" dirty="0"/>
          </a:p>
        </p:txBody>
      </p:sp>
      <p:sp>
        <p:nvSpPr>
          <p:cNvPr id="15" name="chip"/>
          <p:cNvSpPr txBox="1"/>
          <p:nvPr/>
        </p:nvSpPr>
        <p:spPr>
          <a:xfrm>
            <a:off x="2999232" y="4069080"/>
            <a:ext cx="1645920" cy="384048"/>
          </a:xfrm>
          <a:prstGeom prst="roundRect">
            <a:avLst>
              <a:gd name="adj" fmla="val 119048"/>
            </a:avLst>
          </a:prstGeom>
          <a:solidFill>
            <a:schemeClr val="accent5"/>
          </a:solidFill>
          <a:ln/>
        </p:spPr>
        <p:txBody>
          <a:bodyPr wrap="square" lIns="0" tIns="101600" rIns="101600" bIns="0" rtlCol="0" anchor="ctr"/>
          <a:lstStyle/>
          <a:p>
            <a:pPr algn="ctr" indent="0" marL="0">
              <a:buNone/>
            </a:pPr>
            <a:r>
              <a:rPr lang="en-US" sz="1200" b="1" dirty="0">
                <a:solidFill>
                  <a:schemeClr val="tx1"/>
                </a:solidFill>
              </a:rPr>
              <a:t>ClickWise</a:t>
            </a:r>
            <a:endParaRPr lang="en-US" sz="1200" dirty="0"/>
          </a:p>
        </p:txBody>
      </p:sp>
      <p:pic>
        <p:nvPicPr>
          <p:cNvPr id="16" name="arrow" descr="preencoded.png">    </p:cNvPr>
          <p:cNvPicPr>
            <a:picLocks noChangeAspect="1"/>
          </p:cNvPicPr>
          <p:nvPr/>
        </p:nvPicPr>
        <p:blipFill>
          <a:blip r:embed="rId4"/>
          <a:stretch>
            <a:fillRect/>
          </a:stretch>
        </p:blipFill>
        <p:spPr>
          <a:xfrm>
            <a:off x="4837176" y="2852928"/>
            <a:ext cx="237744" cy="237744"/>
          </a:xfrm>
          <a:prstGeom prst="rect">
            <a:avLst/>
          </a:prstGeom>
        </p:spPr>
      </p:pic>
      <p:sp>
        <p:nvSpPr>
          <p:cNvPr id="17" name="card"/>
          <p:cNvSpPr/>
          <p:nvPr/>
        </p:nvSpPr>
        <p:spPr>
          <a:xfrm>
            <a:off x="5084064" y="1371600"/>
            <a:ext cx="2011680" cy="3246120"/>
          </a:xfrm>
          <a:prstGeom prst="roundRect">
            <a:avLst>
              <a:gd name="adj" fmla="val 4545"/>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18" name="step-number"/>
          <p:cNvSpPr txBox="1"/>
          <p:nvPr/>
        </p:nvSpPr>
        <p:spPr>
          <a:xfrm>
            <a:off x="5312664" y="1600200"/>
            <a:ext cx="548640" cy="548640"/>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tx1"/>
                </a:solidFill>
              </a:rPr>
              <a:t>3</a:t>
            </a:r>
            <a:endParaRPr lang="en-US" sz="2000" dirty="0"/>
          </a:p>
        </p:txBody>
      </p:sp>
      <p:pic>
        <p:nvPicPr>
          <p:cNvPr id="19" name="step-icon" descr="preencoded.png">    </p:cNvPr>
          <p:cNvPicPr>
            <a:picLocks noChangeAspect="1"/>
          </p:cNvPicPr>
          <p:nvPr/>
        </p:nvPicPr>
        <p:blipFill>
          <a:blip r:embed="rId5"/>
          <a:stretch>
            <a:fillRect/>
          </a:stretch>
        </p:blipFill>
        <p:spPr>
          <a:xfrm>
            <a:off x="6409944" y="1664208"/>
            <a:ext cx="420624" cy="420624"/>
          </a:xfrm>
          <a:prstGeom prst="rect">
            <a:avLst/>
          </a:prstGeom>
        </p:spPr>
      </p:pic>
      <p:sp>
        <p:nvSpPr>
          <p:cNvPr id="20" name="Text 13"/>
          <p:cNvSpPr txBox="1"/>
          <p:nvPr/>
        </p:nvSpPr>
        <p:spPr>
          <a:xfrm>
            <a:off x="5312664" y="2331720"/>
            <a:ext cx="1645920" cy="411480"/>
          </a:xfrm>
          <a:prstGeom prst="rect">
            <a:avLst/>
          </a:prstGeom>
          <a:noFill/>
          <a:ln/>
        </p:spPr>
        <p:txBody>
          <a:bodyPr wrap="square" lIns="0" tIns="0" rIns="0" bIns="0" rtlCol="0" anchor="t"/>
          <a:lstStyle/>
          <a:p>
            <a:pPr indent="0" marL="0">
              <a:buNone/>
            </a:pPr>
            <a:r>
              <a:rPr lang="en-US" sz="1900" b="1" dirty="0">
                <a:solidFill>
                  <a:schemeClr val="tx1"/>
                </a:solidFill>
              </a:rPr>
              <a:t>Deliver</a:t>
            </a:r>
            <a:endParaRPr lang="en-US" sz="1900" dirty="0"/>
          </a:p>
        </p:txBody>
      </p:sp>
      <p:sp>
        <p:nvSpPr>
          <p:cNvPr id="21" name="Text 14"/>
          <p:cNvSpPr txBox="1"/>
          <p:nvPr/>
        </p:nvSpPr>
        <p:spPr>
          <a:xfrm>
            <a:off x="5312664" y="2788920"/>
            <a:ext cx="1645920" cy="1188720"/>
          </a:xfrm>
          <a:prstGeom prst="rect">
            <a:avLst/>
          </a:prstGeom>
          <a:noFill/>
          <a:ln/>
        </p:spPr>
        <p:txBody>
          <a:bodyPr wrap="square" lIns="0" tIns="0" rIns="0" bIns="0" rtlCol="0" anchor="t"/>
          <a:lstStyle/>
          <a:p>
            <a:pPr indent="0" marL="0">
              <a:buNone/>
            </a:pPr>
            <a:r>
              <a:rPr lang="en-US" sz="1300" dirty="0">
                <a:solidFill>
                  <a:schemeClr val="tx2"/>
                </a:solidFill>
              </a:rPr>
              <a:t>Campus posters plus Instagram, 3 posts a week for two weeks</a:t>
            </a:r>
            <a:endParaRPr lang="en-US" sz="1300" dirty="0"/>
          </a:p>
        </p:txBody>
      </p:sp>
      <p:sp>
        <p:nvSpPr>
          <p:cNvPr id="22" name="chip"/>
          <p:cNvSpPr txBox="1"/>
          <p:nvPr/>
        </p:nvSpPr>
        <p:spPr>
          <a:xfrm>
            <a:off x="5266944" y="4069080"/>
            <a:ext cx="1645920" cy="384048"/>
          </a:xfrm>
          <a:prstGeom prst="roundRect">
            <a:avLst>
              <a:gd name="adj" fmla="val 119048"/>
            </a:avLst>
          </a:prstGeom>
          <a:solidFill>
            <a:schemeClr val="accent5"/>
          </a:solidFill>
          <a:ln/>
        </p:spPr>
        <p:txBody>
          <a:bodyPr wrap="square" lIns="0" tIns="101600" rIns="101600" bIns="0" rtlCol="0" anchor="ctr"/>
          <a:lstStyle/>
          <a:p>
            <a:pPr algn="ctr" indent="0" marL="0">
              <a:buNone/>
            </a:pPr>
            <a:r>
              <a:rPr lang="en-US" sz="1200" b="1" dirty="0">
                <a:solidFill>
                  <a:schemeClr val="tx1"/>
                </a:solidFill>
              </a:rPr>
              <a:t>@cyber.decoded_</a:t>
            </a:r>
            <a:endParaRPr lang="en-US" sz="1200" dirty="0"/>
          </a:p>
        </p:txBody>
      </p:sp>
      <p:pic>
        <p:nvPicPr>
          <p:cNvPr id="23" name="arrow" descr="preencoded.png">    </p:cNvPr>
          <p:cNvPicPr>
            <a:picLocks noChangeAspect="1"/>
          </p:cNvPicPr>
          <p:nvPr/>
        </p:nvPicPr>
        <p:blipFill>
          <a:blip r:embed="rId6"/>
          <a:stretch>
            <a:fillRect/>
          </a:stretch>
        </p:blipFill>
        <p:spPr>
          <a:xfrm>
            <a:off x="7104888" y="2852928"/>
            <a:ext cx="237744" cy="237744"/>
          </a:xfrm>
          <a:prstGeom prst="rect">
            <a:avLst/>
          </a:prstGeom>
        </p:spPr>
      </p:pic>
      <p:sp>
        <p:nvSpPr>
          <p:cNvPr id="24" name="card"/>
          <p:cNvSpPr/>
          <p:nvPr/>
        </p:nvSpPr>
        <p:spPr>
          <a:xfrm>
            <a:off x="7351776" y="1371600"/>
            <a:ext cx="2011680" cy="3246120"/>
          </a:xfrm>
          <a:prstGeom prst="roundRect">
            <a:avLst>
              <a:gd name="adj" fmla="val 4545"/>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25" name="step-number"/>
          <p:cNvSpPr txBox="1"/>
          <p:nvPr/>
        </p:nvSpPr>
        <p:spPr>
          <a:xfrm>
            <a:off x="7580376" y="1600200"/>
            <a:ext cx="548640" cy="548640"/>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tx1"/>
                </a:solidFill>
              </a:rPr>
              <a:t>4</a:t>
            </a:r>
            <a:endParaRPr lang="en-US" sz="2000" dirty="0"/>
          </a:p>
        </p:txBody>
      </p:sp>
      <p:pic>
        <p:nvPicPr>
          <p:cNvPr id="26" name="step-icon" descr="preencoded.png">    </p:cNvPr>
          <p:cNvPicPr>
            <a:picLocks noChangeAspect="1"/>
          </p:cNvPicPr>
          <p:nvPr/>
        </p:nvPicPr>
        <p:blipFill>
          <a:blip r:embed="rId7"/>
          <a:stretch>
            <a:fillRect/>
          </a:stretch>
        </p:blipFill>
        <p:spPr>
          <a:xfrm>
            <a:off x="8677656" y="1664208"/>
            <a:ext cx="420624" cy="420624"/>
          </a:xfrm>
          <a:prstGeom prst="rect">
            <a:avLst/>
          </a:prstGeom>
        </p:spPr>
      </p:pic>
      <p:sp>
        <p:nvSpPr>
          <p:cNvPr id="27" name="Text 18"/>
          <p:cNvSpPr txBox="1"/>
          <p:nvPr/>
        </p:nvSpPr>
        <p:spPr>
          <a:xfrm>
            <a:off x="7580376" y="2331720"/>
            <a:ext cx="1645920" cy="411480"/>
          </a:xfrm>
          <a:prstGeom prst="rect">
            <a:avLst/>
          </a:prstGeom>
          <a:noFill/>
          <a:ln/>
        </p:spPr>
        <p:txBody>
          <a:bodyPr wrap="square" lIns="0" tIns="0" rIns="0" bIns="0" rtlCol="0" anchor="t"/>
          <a:lstStyle/>
          <a:p>
            <a:pPr indent="0" marL="0">
              <a:buNone/>
            </a:pPr>
            <a:r>
              <a:rPr lang="en-US" sz="1900" b="1" dirty="0">
                <a:solidFill>
                  <a:schemeClr val="tx1"/>
                </a:solidFill>
              </a:rPr>
              <a:t>Measure</a:t>
            </a:r>
            <a:endParaRPr lang="en-US" sz="1900" dirty="0"/>
          </a:p>
        </p:txBody>
      </p:sp>
      <p:sp>
        <p:nvSpPr>
          <p:cNvPr id="28" name="Text 19"/>
          <p:cNvSpPr txBox="1"/>
          <p:nvPr/>
        </p:nvSpPr>
        <p:spPr>
          <a:xfrm>
            <a:off x="7580376" y="2788920"/>
            <a:ext cx="1645920" cy="1188720"/>
          </a:xfrm>
          <a:prstGeom prst="rect">
            <a:avLst/>
          </a:prstGeom>
          <a:noFill/>
          <a:ln/>
        </p:spPr>
        <p:txBody>
          <a:bodyPr wrap="square" lIns="0" tIns="0" rIns="0" bIns="0" rtlCol="0" anchor="t"/>
          <a:lstStyle/>
          <a:p>
            <a:pPr indent="0" marL="0">
              <a:buNone/>
            </a:pPr>
            <a:r>
              <a:rPr lang="en-US" sz="1300" dirty="0">
                <a:solidFill>
                  <a:schemeClr val="tx2"/>
                </a:solidFill>
              </a:rPr>
              <a:t>The same 10 scenarios before and after, linked by anonymous codes</a:t>
            </a:r>
            <a:endParaRPr lang="en-US" sz="1300" dirty="0"/>
          </a:p>
        </p:txBody>
      </p:sp>
      <p:sp>
        <p:nvSpPr>
          <p:cNvPr id="29" name="chip"/>
          <p:cNvSpPr txBox="1"/>
          <p:nvPr/>
        </p:nvSpPr>
        <p:spPr>
          <a:xfrm>
            <a:off x="7534656" y="4069080"/>
            <a:ext cx="1645920" cy="384048"/>
          </a:xfrm>
          <a:prstGeom prst="roundRect">
            <a:avLst>
              <a:gd name="adj" fmla="val 119048"/>
            </a:avLst>
          </a:prstGeom>
          <a:solidFill>
            <a:schemeClr val="accent5"/>
          </a:solidFill>
          <a:ln/>
        </p:spPr>
        <p:txBody>
          <a:bodyPr wrap="square" lIns="0" tIns="101600" rIns="101600" bIns="0" rtlCol="0" anchor="ctr"/>
          <a:lstStyle/>
          <a:p>
            <a:pPr algn="ctr" indent="0" marL="0">
              <a:buNone/>
            </a:pPr>
            <a:r>
              <a:rPr lang="en-US" sz="1200" b="1" dirty="0">
                <a:solidFill>
                  <a:schemeClr val="tx1"/>
                </a:solidFill>
              </a:rPr>
              <a:t>HumanFactor</a:t>
            </a:r>
            <a:endParaRPr lang="en-US" sz="1200" dirty="0"/>
          </a:p>
        </p:txBody>
      </p:sp>
      <p:pic>
        <p:nvPicPr>
          <p:cNvPr id="30" name="arrow" descr="preencoded.png">    </p:cNvPr>
          <p:cNvPicPr>
            <a:picLocks noChangeAspect="1"/>
          </p:cNvPicPr>
          <p:nvPr/>
        </p:nvPicPr>
        <p:blipFill>
          <a:blip r:embed="rId8"/>
          <a:stretch>
            <a:fillRect/>
          </a:stretch>
        </p:blipFill>
        <p:spPr>
          <a:xfrm>
            <a:off x="9372600" y="2852928"/>
            <a:ext cx="237744" cy="237744"/>
          </a:xfrm>
          <a:prstGeom prst="rect">
            <a:avLst/>
          </a:prstGeom>
        </p:spPr>
      </p:pic>
      <p:sp>
        <p:nvSpPr>
          <p:cNvPr id="31" name="card"/>
          <p:cNvSpPr/>
          <p:nvPr/>
        </p:nvSpPr>
        <p:spPr>
          <a:xfrm>
            <a:off x="9619488" y="1371600"/>
            <a:ext cx="2011680" cy="3246120"/>
          </a:xfrm>
          <a:prstGeom prst="roundRect">
            <a:avLst>
              <a:gd name="adj" fmla="val 4545"/>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32" name="step-number"/>
          <p:cNvSpPr txBox="1"/>
          <p:nvPr/>
        </p:nvSpPr>
        <p:spPr>
          <a:xfrm>
            <a:off x="9848088" y="1600200"/>
            <a:ext cx="548640" cy="548640"/>
          </a:xfrm>
          <a:prstGeom prst="ellipse">
            <a:avLst/>
          </a:prstGeom>
          <a:solidFill>
            <a:schemeClr val="accent1"/>
          </a:solidFill>
          <a:ln/>
        </p:spPr>
        <p:txBody>
          <a:bodyPr wrap="square" lIns="0" tIns="0" rIns="0" bIns="0" rtlCol="0" anchor="ctr"/>
          <a:lstStyle/>
          <a:p>
            <a:pPr algn="ctr" indent="0" marL="0">
              <a:buNone/>
            </a:pPr>
            <a:r>
              <a:rPr lang="en-US" sz="2000" b="1" dirty="0">
                <a:solidFill>
                  <a:schemeClr val="tx1"/>
                </a:solidFill>
              </a:rPr>
              <a:t>5</a:t>
            </a:r>
            <a:endParaRPr lang="en-US" sz="2000" dirty="0"/>
          </a:p>
        </p:txBody>
      </p:sp>
      <p:pic>
        <p:nvPicPr>
          <p:cNvPr id="33" name="step-icon" descr="preencoded.png">    </p:cNvPr>
          <p:cNvPicPr>
            <a:picLocks noChangeAspect="1"/>
          </p:cNvPicPr>
          <p:nvPr/>
        </p:nvPicPr>
        <p:blipFill>
          <a:blip r:embed="rId9"/>
          <a:stretch>
            <a:fillRect/>
          </a:stretch>
        </p:blipFill>
        <p:spPr>
          <a:xfrm>
            <a:off x="10945368" y="1664208"/>
            <a:ext cx="420624" cy="420624"/>
          </a:xfrm>
          <a:prstGeom prst="rect">
            <a:avLst/>
          </a:prstGeom>
        </p:spPr>
      </p:pic>
      <p:sp>
        <p:nvSpPr>
          <p:cNvPr id="34" name="Text 23"/>
          <p:cNvSpPr txBox="1"/>
          <p:nvPr/>
        </p:nvSpPr>
        <p:spPr>
          <a:xfrm>
            <a:off x="9848088" y="2331720"/>
            <a:ext cx="1645920" cy="411480"/>
          </a:xfrm>
          <a:prstGeom prst="rect">
            <a:avLst/>
          </a:prstGeom>
          <a:noFill/>
          <a:ln/>
        </p:spPr>
        <p:txBody>
          <a:bodyPr wrap="square" lIns="0" tIns="0" rIns="0" bIns="0" rtlCol="0" anchor="t"/>
          <a:lstStyle/>
          <a:p>
            <a:pPr indent="0" marL="0">
              <a:buNone/>
            </a:pPr>
            <a:r>
              <a:rPr lang="en-US" sz="1900" b="1" dirty="0">
                <a:solidFill>
                  <a:schemeClr val="tx1"/>
                </a:solidFill>
              </a:rPr>
              <a:t>Learn</a:t>
            </a:r>
            <a:endParaRPr lang="en-US" sz="1900" dirty="0"/>
          </a:p>
        </p:txBody>
      </p:sp>
      <p:sp>
        <p:nvSpPr>
          <p:cNvPr id="35" name="Text 24"/>
          <p:cNvSpPr txBox="1"/>
          <p:nvPr/>
        </p:nvSpPr>
        <p:spPr>
          <a:xfrm>
            <a:off x="9848088" y="2788920"/>
            <a:ext cx="1645920" cy="1188720"/>
          </a:xfrm>
          <a:prstGeom prst="rect">
            <a:avLst/>
          </a:prstGeom>
          <a:noFill/>
          <a:ln/>
        </p:spPr>
        <p:txBody>
          <a:bodyPr wrap="square" lIns="0" tIns="0" rIns="0" bIns="0" rtlCol="0" anchor="t"/>
          <a:lstStyle/>
          <a:p>
            <a:pPr indent="0" marL="0">
              <a:buNone/>
            </a:pPr>
            <a:r>
              <a:rPr lang="en-US" sz="1300" dirty="0">
                <a:solidFill>
                  <a:schemeClr val="tx2"/>
                </a:solidFill>
              </a:rPr>
              <a:t>Misconceptions show which human trait to target next</a:t>
            </a:r>
            <a:endParaRPr lang="en-US" sz="1300" dirty="0"/>
          </a:p>
        </p:txBody>
      </p:sp>
      <p:sp>
        <p:nvSpPr>
          <p:cNvPr id="36" name="chip"/>
          <p:cNvSpPr txBox="1"/>
          <p:nvPr/>
        </p:nvSpPr>
        <p:spPr>
          <a:xfrm>
            <a:off x="9802368" y="4069080"/>
            <a:ext cx="1645920" cy="384048"/>
          </a:xfrm>
          <a:prstGeom prst="roundRect">
            <a:avLst>
              <a:gd name="adj" fmla="val 119048"/>
            </a:avLst>
          </a:prstGeom>
          <a:solidFill>
            <a:schemeClr val="accent3"/>
          </a:solidFill>
          <a:ln/>
        </p:spPr>
        <p:txBody>
          <a:bodyPr wrap="square" lIns="0" tIns="101600" rIns="101600" bIns="0" rtlCol="0" anchor="ctr"/>
          <a:lstStyle/>
          <a:p>
            <a:pPr algn="ctr" indent="0" marL="0">
              <a:buNone/>
            </a:pPr>
            <a:r>
              <a:rPr lang="en-US" sz="1200" b="1" dirty="0">
                <a:solidFill>
                  <a:schemeClr val="bg1"/>
                </a:solidFill>
              </a:rPr>
              <a:t>Iterate</a:t>
            </a:r>
            <a:endParaRPr lang="en-US" sz="1200" dirty="0"/>
          </a:p>
        </p:txBody>
      </p:sp>
      <p:sp>
        <p:nvSpPr>
          <p:cNvPr id="37" name="card"/>
          <p:cNvSpPr/>
          <p:nvPr/>
        </p:nvSpPr>
        <p:spPr>
          <a:xfrm>
            <a:off x="548640" y="4892040"/>
            <a:ext cx="11091672" cy="1234440"/>
          </a:xfrm>
          <a:prstGeom prst="roundRect">
            <a:avLst>
              <a:gd name="adj" fmla="val 7407"/>
            </a:avLst>
          </a:prstGeom>
          <a:solidFill>
            <a:schemeClr val="accent5"/>
          </a:solidFill>
          <a:ln/>
          <a:effectLst>
            <a:outerShdw sx="100000" sy="100000" kx="0" ky="0" algn="bl" rotWithShape="0" blurRad="101600" dist="25400" dir="5400000">
              <a:srgbClr val="14213D">
                <a:alpha val="8000"/>
              </a:srgbClr>
            </a:outerShdw>
          </a:effectLst>
        </p:spPr>
      </p:sp>
      <p:sp>
        <p:nvSpPr>
          <p:cNvPr id="38" name="icon-bg-refresh"/>
          <p:cNvSpPr/>
          <p:nvPr/>
        </p:nvSpPr>
        <p:spPr>
          <a:xfrm>
            <a:off x="822960" y="5120640"/>
            <a:ext cx="777240" cy="777240"/>
          </a:xfrm>
          <a:prstGeom prst="ellipse">
            <a:avLst/>
          </a:prstGeom>
          <a:solidFill>
            <a:schemeClr val="bg1"/>
          </a:solidFill>
          <a:ln/>
        </p:spPr>
      </p:sp>
      <p:pic>
        <p:nvPicPr>
          <p:cNvPr id="39" name="icon-refresh" descr="preencoded.png">    </p:cNvPr>
          <p:cNvPicPr>
            <a:picLocks noChangeAspect="1"/>
          </p:cNvPicPr>
          <p:nvPr/>
        </p:nvPicPr>
        <p:blipFill>
          <a:blip r:embed="rId10"/>
          <a:stretch>
            <a:fillRect/>
          </a:stretch>
        </p:blipFill>
        <p:spPr>
          <a:xfrm>
            <a:off x="993953" y="5291633"/>
            <a:ext cx="435254" cy="435254"/>
          </a:xfrm>
          <a:prstGeom prst="rect">
            <a:avLst/>
          </a:prstGeom>
        </p:spPr>
      </p:pic>
      <p:sp>
        <p:nvSpPr>
          <p:cNvPr id="40" name="Text 28"/>
          <p:cNvSpPr txBox="1"/>
          <p:nvPr/>
        </p:nvSpPr>
        <p:spPr>
          <a:xfrm>
            <a:off x="1828800" y="5074920"/>
            <a:ext cx="9509760" cy="365760"/>
          </a:xfrm>
          <a:prstGeom prst="rect">
            <a:avLst/>
          </a:prstGeom>
          <a:noFill/>
          <a:ln/>
        </p:spPr>
        <p:txBody>
          <a:bodyPr wrap="square" lIns="0" tIns="0" rIns="0" bIns="0" rtlCol="0" anchor="t"/>
          <a:lstStyle/>
          <a:p>
            <a:pPr indent="0" marL="0">
              <a:buNone/>
            </a:pPr>
            <a:r>
              <a:rPr lang="en-US" sz="1800" b="1" dirty="0">
                <a:solidFill>
                  <a:schemeClr val="tx1"/>
                </a:solidFill>
              </a:rPr>
              <a:t>Step 5 feeds back into step 2</a:t>
            </a:r>
            <a:endParaRPr lang="en-US" sz="1800" dirty="0"/>
          </a:p>
        </p:txBody>
      </p:sp>
      <p:sp>
        <p:nvSpPr>
          <p:cNvPr id="41" name="Text 29"/>
          <p:cNvSpPr txBox="1"/>
          <p:nvPr/>
        </p:nvSpPr>
        <p:spPr>
          <a:xfrm>
            <a:off x="1828800" y="5440680"/>
            <a:ext cx="9509760" cy="640080"/>
          </a:xfrm>
          <a:prstGeom prst="rect">
            <a:avLst/>
          </a:prstGeom>
          <a:noFill/>
          <a:ln/>
        </p:spPr>
        <p:txBody>
          <a:bodyPr wrap="square" lIns="0" tIns="0" rIns="0" bIns="0" rtlCol="0" anchor="t"/>
          <a:lstStyle/>
          <a:p>
            <a:pPr indent="0" marL="0">
              <a:buNone/>
            </a:pPr>
            <a:r>
              <a:rPr lang="en-US" sz="1400" dirty="0">
                <a:solidFill>
                  <a:schemeClr val="tx1"/>
                </a:solidFill>
              </a:rPr>
              <a:t>The survey doesn't just score students. Each wrong answer points to a human trait, and that tells us what to make next. Our data found one gap already: nothing in the campaign covered the padlock myth.</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Delivery plan and timeline</a:t>
            </a:r>
            <a:endParaRPr lang="en-US" sz="3400" dirty="0"/>
          </a:p>
        </p:txBody>
      </p:sp>
      <p:sp>
        <p:nvSpPr>
          <p:cNvPr id="3" name="tag"/>
          <p:cNvSpPr txBox="1"/>
          <p:nvPr/>
        </p:nvSpPr>
        <p:spPr>
          <a:xfrm rot="120000">
            <a:off x="9692640" y="502920"/>
            <a:ext cx="1920240" cy="457200"/>
          </a:xfrm>
          <a:prstGeom prst="rect">
            <a:avLst/>
          </a:prstGeom>
          <a:solidFill>
            <a:schemeClr val="accent1"/>
          </a:solidFill>
          <a:ln/>
          <a:effectLst>
            <a:outerShdw sx="100000" sy="100000" kx="0" ky="0" algn="bl" rotWithShape="0" blurRad="76200" dist="25400" dir="5400000">
              <a:srgbClr val="14213D">
                <a:alpha val="18000"/>
              </a:srgbClr>
            </a:outerShdw>
          </a:effectLst>
        </p:spPr>
        <p:txBody>
          <a:bodyPr wrap="square" lIns="50800" tIns="127000" rIns="127000" bIns="50800" rtlCol="0" anchor="ctr"/>
          <a:lstStyle/>
          <a:p>
            <a:pPr algn="l" indent="0" marL="0">
              <a:buNone/>
            </a:pPr>
            <a:r>
              <a:rPr lang="en-US" sz="1300" b="1" dirty="0">
                <a:solidFill>
                  <a:schemeClr val="tx1"/>
                </a:solidFill>
              </a:rPr>
              <a:t>Planned schedule</a:t>
            </a:r>
            <a:endParaRPr lang="en-US" sz="1300" dirty="0"/>
          </a:p>
        </p:txBody>
      </p:sp>
      <p:sp>
        <p:nvSpPr>
          <p:cNvPr id="4" name="timeline-line"/>
          <p:cNvSpPr/>
          <p:nvPr/>
        </p:nvSpPr>
        <p:spPr>
          <a:xfrm>
            <a:off x="868680" y="1874520"/>
            <a:ext cx="10332720" cy="0"/>
          </a:xfrm>
          <a:prstGeom prst="line">
            <a:avLst/>
          </a:prstGeom>
          <a:noFill/>
          <a:ln w="38100">
            <a:solidFill>
              <a:schemeClr val="accent6"/>
            </a:solidFill>
            <a:prstDash val="solid"/>
          </a:ln>
        </p:spPr>
      </p:sp>
      <p:sp>
        <p:nvSpPr>
          <p:cNvPr id="5" name="icon-bg-clock"/>
          <p:cNvSpPr/>
          <p:nvPr/>
        </p:nvSpPr>
        <p:spPr>
          <a:xfrm>
            <a:off x="594360" y="1554480"/>
            <a:ext cx="640080" cy="640080"/>
          </a:xfrm>
          <a:prstGeom prst="ellipse">
            <a:avLst/>
          </a:prstGeom>
          <a:solidFill>
            <a:schemeClr val="accent1"/>
          </a:solidFill>
          <a:ln/>
        </p:spPr>
      </p:sp>
      <p:pic>
        <p:nvPicPr>
          <p:cNvPr id="6" name="icon-clock" descr="preencoded.png">    </p:cNvPr>
          <p:cNvPicPr>
            <a:picLocks noChangeAspect="1"/>
          </p:cNvPicPr>
          <p:nvPr/>
        </p:nvPicPr>
        <p:blipFill>
          <a:blip r:embed="rId1"/>
          <a:stretch>
            <a:fillRect/>
          </a:stretch>
        </p:blipFill>
        <p:spPr>
          <a:xfrm>
            <a:off x="735178" y="1695298"/>
            <a:ext cx="358445" cy="358445"/>
          </a:xfrm>
          <a:prstGeom prst="rect">
            <a:avLst/>
          </a:prstGeom>
        </p:spPr>
      </p:pic>
      <p:sp>
        <p:nvSpPr>
          <p:cNvPr id="7" name="Text 4"/>
          <p:cNvSpPr txBox="1"/>
          <p:nvPr/>
        </p:nvSpPr>
        <p:spPr>
          <a:xfrm>
            <a:off x="548640" y="2377440"/>
            <a:ext cx="2057400" cy="320040"/>
          </a:xfrm>
          <a:prstGeom prst="rect">
            <a:avLst/>
          </a:prstGeom>
          <a:noFill/>
          <a:ln/>
        </p:spPr>
        <p:txBody>
          <a:bodyPr wrap="square" lIns="0" tIns="0" rIns="0" bIns="0" rtlCol="0" anchor="t"/>
          <a:lstStyle/>
          <a:p>
            <a:pPr indent="0" marL="0">
              <a:buNone/>
            </a:pPr>
            <a:r>
              <a:rPr lang="en-US" sz="1300" b="1" dirty="0">
                <a:solidFill>
                  <a:schemeClr val="accent3"/>
                </a:solidFill>
              </a:rPr>
              <a:t>Week 0</a:t>
            </a:r>
            <a:endParaRPr lang="en-US" sz="1300" dirty="0"/>
          </a:p>
        </p:txBody>
      </p:sp>
      <p:sp>
        <p:nvSpPr>
          <p:cNvPr id="8" name="Text 5"/>
          <p:cNvSpPr txBox="1"/>
          <p:nvPr/>
        </p:nvSpPr>
        <p:spPr>
          <a:xfrm>
            <a:off x="548640" y="2697480"/>
            <a:ext cx="2057400" cy="411480"/>
          </a:xfrm>
          <a:prstGeom prst="rect">
            <a:avLst/>
          </a:prstGeom>
          <a:noFill/>
          <a:ln/>
        </p:spPr>
        <p:txBody>
          <a:bodyPr wrap="square" lIns="0" tIns="0" rIns="0" bIns="0" rtlCol="0" anchor="t"/>
          <a:lstStyle/>
          <a:p>
            <a:pPr indent="0" marL="0">
              <a:buNone/>
            </a:pPr>
            <a:r>
              <a:rPr lang="en-US" sz="1900" b="1" dirty="0">
                <a:solidFill>
                  <a:schemeClr val="tx1"/>
                </a:solidFill>
              </a:rPr>
              <a:t>PRE survey</a:t>
            </a:r>
            <a:endParaRPr lang="en-US" sz="1900" dirty="0"/>
          </a:p>
        </p:txBody>
      </p:sp>
      <p:sp>
        <p:nvSpPr>
          <p:cNvPr id="9" name="Text 6"/>
          <p:cNvSpPr txBox="1"/>
          <p:nvPr/>
        </p:nvSpPr>
        <p:spPr>
          <a:xfrm>
            <a:off x="548640" y="3154680"/>
            <a:ext cx="2011680" cy="1005840"/>
          </a:xfrm>
          <a:prstGeom prst="rect">
            <a:avLst/>
          </a:prstGeom>
          <a:noFill/>
          <a:ln/>
        </p:spPr>
        <p:txBody>
          <a:bodyPr wrap="square" lIns="0" tIns="0" rIns="0" bIns="0" rtlCol="0" anchor="t"/>
          <a:lstStyle/>
          <a:p>
            <a:pPr indent="0" marL="0">
              <a:buNone/>
            </a:pPr>
            <a:r>
              <a:rPr lang="en-US" sz="1400" dirty="0">
                <a:solidFill>
                  <a:schemeClr val="tx2"/>
                </a:solidFill>
              </a:rPr>
              <a:t>Link shared in class and group chats; QR code on posters</a:t>
            </a:r>
            <a:endParaRPr lang="en-US" sz="1400" dirty="0"/>
          </a:p>
        </p:txBody>
      </p:sp>
      <p:sp>
        <p:nvSpPr>
          <p:cNvPr id="10" name="icon-bg-phone"/>
          <p:cNvSpPr/>
          <p:nvPr/>
        </p:nvSpPr>
        <p:spPr>
          <a:xfrm>
            <a:off x="2880360" y="1554480"/>
            <a:ext cx="640080" cy="640080"/>
          </a:xfrm>
          <a:prstGeom prst="ellipse">
            <a:avLst/>
          </a:prstGeom>
          <a:solidFill>
            <a:schemeClr val="accent2"/>
          </a:solidFill>
          <a:ln/>
        </p:spPr>
      </p:sp>
      <p:pic>
        <p:nvPicPr>
          <p:cNvPr id="11" name="icon-phone" descr="preencoded.png">    </p:cNvPr>
          <p:cNvPicPr>
            <a:picLocks noChangeAspect="1"/>
          </p:cNvPicPr>
          <p:nvPr/>
        </p:nvPicPr>
        <p:blipFill>
          <a:blip r:embed="rId2"/>
          <a:stretch>
            <a:fillRect/>
          </a:stretch>
        </p:blipFill>
        <p:spPr>
          <a:xfrm>
            <a:off x="3021178" y="1695298"/>
            <a:ext cx="358445" cy="358445"/>
          </a:xfrm>
          <a:prstGeom prst="rect">
            <a:avLst/>
          </a:prstGeom>
        </p:spPr>
      </p:pic>
      <p:sp>
        <p:nvSpPr>
          <p:cNvPr id="12" name="Text 8"/>
          <p:cNvSpPr txBox="1"/>
          <p:nvPr/>
        </p:nvSpPr>
        <p:spPr>
          <a:xfrm>
            <a:off x="2834640" y="2377440"/>
            <a:ext cx="2057400" cy="320040"/>
          </a:xfrm>
          <a:prstGeom prst="rect">
            <a:avLst/>
          </a:prstGeom>
          <a:noFill/>
          <a:ln/>
        </p:spPr>
        <p:txBody>
          <a:bodyPr wrap="square" lIns="0" tIns="0" rIns="0" bIns="0" rtlCol="0" anchor="t"/>
          <a:lstStyle/>
          <a:p>
            <a:pPr indent="0" marL="0">
              <a:buNone/>
            </a:pPr>
            <a:r>
              <a:rPr lang="en-US" sz="1300" b="1" dirty="0">
                <a:solidFill>
                  <a:schemeClr val="accent3"/>
                </a:solidFill>
              </a:rPr>
              <a:t>Weeks 1–2</a:t>
            </a:r>
            <a:endParaRPr lang="en-US" sz="1300" dirty="0"/>
          </a:p>
        </p:txBody>
      </p:sp>
      <p:sp>
        <p:nvSpPr>
          <p:cNvPr id="13" name="Text 9"/>
          <p:cNvSpPr txBox="1"/>
          <p:nvPr/>
        </p:nvSpPr>
        <p:spPr>
          <a:xfrm>
            <a:off x="2834640" y="2697480"/>
            <a:ext cx="2057400" cy="411480"/>
          </a:xfrm>
          <a:prstGeom prst="rect">
            <a:avLst/>
          </a:prstGeom>
          <a:noFill/>
          <a:ln/>
        </p:spPr>
        <p:txBody>
          <a:bodyPr wrap="square" lIns="0" tIns="0" rIns="0" bIns="0" rtlCol="0" anchor="t"/>
          <a:lstStyle/>
          <a:p>
            <a:pPr indent="0" marL="0">
              <a:buNone/>
            </a:pPr>
            <a:r>
              <a:rPr lang="en-US" sz="1900" b="1" dirty="0">
                <a:solidFill>
                  <a:schemeClr val="tx1"/>
                </a:solidFill>
              </a:rPr>
              <a:t>Campaign live</a:t>
            </a:r>
            <a:endParaRPr lang="en-US" sz="1900" dirty="0"/>
          </a:p>
        </p:txBody>
      </p:sp>
      <p:sp>
        <p:nvSpPr>
          <p:cNvPr id="14" name="Text 10"/>
          <p:cNvSpPr txBox="1"/>
          <p:nvPr/>
        </p:nvSpPr>
        <p:spPr>
          <a:xfrm>
            <a:off x="2834640" y="3154680"/>
            <a:ext cx="2011680" cy="1005840"/>
          </a:xfrm>
          <a:prstGeom prst="rect">
            <a:avLst/>
          </a:prstGeom>
          <a:noFill/>
          <a:ln/>
        </p:spPr>
        <p:txBody>
          <a:bodyPr wrap="square" lIns="0" tIns="0" rIns="0" bIns="0" rtlCol="0" anchor="t"/>
          <a:lstStyle/>
          <a:p>
            <a:pPr indent="0" marL="0">
              <a:buNone/>
            </a:pPr>
            <a:r>
              <a:rPr lang="en-US" sz="1400" dirty="0">
                <a:solidFill>
                  <a:schemeClr val="tx2"/>
                </a:solidFill>
              </a:rPr>
              <a:t>Posters on noticeboards; Instagram posts and stories</a:t>
            </a:r>
            <a:endParaRPr lang="en-US" sz="1400" dirty="0"/>
          </a:p>
        </p:txBody>
      </p:sp>
      <p:sp>
        <p:nvSpPr>
          <p:cNvPr id="15" name="icon-bg-users"/>
          <p:cNvSpPr/>
          <p:nvPr/>
        </p:nvSpPr>
        <p:spPr>
          <a:xfrm>
            <a:off x="5166360" y="1554480"/>
            <a:ext cx="640080" cy="640080"/>
          </a:xfrm>
          <a:prstGeom prst="ellipse">
            <a:avLst/>
          </a:prstGeom>
          <a:solidFill>
            <a:schemeClr val="accent2"/>
          </a:solidFill>
          <a:ln/>
        </p:spPr>
      </p:sp>
      <p:pic>
        <p:nvPicPr>
          <p:cNvPr id="16" name="icon-users" descr="preencoded.png">    </p:cNvPr>
          <p:cNvPicPr>
            <a:picLocks noChangeAspect="1"/>
          </p:cNvPicPr>
          <p:nvPr/>
        </p:nvPicPr>
        <p:blipFill>
          <a:blip r:embed="rId3"/>
          <a:stretch>
            <a:fillRect/>
          </a:stretch>
        </p:blipFill>
        <p:spPr>
          <a:xfrm>
            <a:off x="5307178" y="1695298"/>
            <a:ext cx="358445" cy="358445"/>
          </a:xfrm>
          <a:prstGeom prst="rect">
            <a:avLst/>
          </a:prstGeom>
        </p:spPr>
      </p:pic>
      <p:sp>
        <p:nvSpPr>
          <p:cNvPr id="17" name="Text 12"/>
          <p:cNvSpPr txBox="1"/>
          <p:nvPr/>
        </p:nvSpPr>
        <p:spPr>
          <a:xfrm>
            <a:off x="5120640" y="2377440"/>
            <a:ext cx="2057400" cy="320040"/>
          </a:xfrm>
          <a:prstGeom prst="rect">
            <a:avLst/>
          </a:prstGeom>
          <a:noFill/>
          <a:ln/>
        </p:spPr>
        <p:txBody>
          <a:bodyPr wrap="square" lIns="0" tIns="0" rIns="0" bIns="0" rtlCol="0" anchor="t"/>
          <a:lstStyle/>
          <a:p>
            <a:pPr indent="0" marL="0">
              <a:buNone/>
            </a:pPr>
            <a:r>
              <a:rPr lang="en-US" sz="1300" b="1" dirty="0">
                <a:solidFill>
                  <a:schemeClr val="accent3"/>
                </a:solidFill>
              </a:rPr>
              <a:t>Week 2</a:t>
            </a:r>
            <a:endParaRPr lang="en-US" sz="1300" dirty="0"/>
          </a:p>
        </p:txBody>
      </p:sp>
      <p:sp>
        <p:nvSpPr>
          <p:cNvPr id="18" name="Text 13"/>
          <p:cNvSpPr txBox="1"/>
          <p:nvPr/>
        </p:nvSpPr>
        <p:spPr>
          <a:xfrm>
            <a:off x="5120640" y="2697480"/>
            <a:ext cx="2057400" cy="411480"/>
          </a:xfrm>
          <a:prstGeom prst="rect">
            <a:avLst/>
          </a:prstGeom>
          <a:noFill/>
          <a:ln/>
        </p:spPr>
        <p:txBody>
          <a:bodyPr wrap="square" lIns="0" tIns="0" rIns="0" bIns="0" rtlCol="0" anchor="t"/>
          <a:lstStyle/>
          <a:p>
            <a:pPr indent="0" marL="0">
              <a:buNone/>
            </a:pPr>
            <a:r>
              <a:rPr lang="en-US" sz="1900" b="1" dirty="0">
                <a:solidFill>
                  <a:schemeClr val="tx1"/>
                </a:solidFill>
              </a:rPr>
              <a:t>Engagement</a:t>
            </a:r>
            <a:endParaRPr lang="en-US" sz="1900" dirty="0"/>
          </a:p>
        </p:txBody>
      </p:sp>
      <p:sp>
        <p:nvSpPr>
          <p:cNvPr id="19" name="Text 14"/>
          <p:cNvSpPr txBox="1"/>
          <p:nvPr/>
        </p:nvSpPr>
        <p:spPr>
          <a:xfrm>
            <a:off x="5120640" y="3154680"/>
            <a:ext cx="2011680" cy="1005840"/>
          </a:xfrm>
          <a:prstGeom prst="rect">
            <a:avLst/>
          </a:prstGeom>
          <a:noFill/>
          <a:ln/>
        </p:spPr>
        <p:txBody>
          <a:bodyPr wrap="square" lIns="0" tIns="0" rIns="0" bIns="0" rtlCol="0" anchor="t"/>
          <a:lstStyle/>
          <a:p>
            <a:pPr indent="0" marL="0">
              <a:buNone/>
            </a:pPr>
            <a:r>
              <a:rPr lang="en-US" sz="1400" dirty="0">
                <a:solidFill>
                  <a:schemeClr val="tx2"/>
                </a:solidFill>
              </a:rPr>
              <a:t>Instagram poll and quiz stickers; reply to comments and DMs</a:t>
            </a:r>
            <a:endParaRPr lang="en-US" sz="1400" dirty="0"/>
          </a:p>
        </p:txBody>
      </p:sp>
      <p:sp>
        <p:nvSpPr>
          <p:cNvPr id="20" name="icon-bg-refresh"/>
          <p:cNvSpPr/>
          <p:nvPr/>
        </p:nvSpPr>
        <p:spPr>
          <a:xfrm>
            <a:off x="7452360" y="1554480"/>
            <a:ext cx="640080" cy="640080"/>
          </a:xfrm>
          <a:prstGeom prst="ellipse">
            <a:avLst/>
          </a:prstGeom>
          <a:solidFill>
            <a:schemeClr val="accent1"/>
          </a:solidFill>
          <a:ln/>
        </p:spPr>
      </p:sp>
      <p:pic>
        <p:nvPicPr>
          <p:cNvPr id="21" name="icon-refresh" descr="preencoded.png">    </p:cNvPr>
          <p:cNvPicPr>
            <a:picLocks noChangeAspect="1"/>
          </p:cNvPicPr>
          <p:nvPr/>
        </p:nvPicPr>
        <p:blipFill>
          <a:blip r:embed="rId4"/>
          <a:stretch>
            <a:fillRect/>
          </a:stretch>
        </p:blipFill>
        <p:spPr>
          <a:xfrm>
            <a:off x="7593178" y="1695298"/>
            <a:ext cx="358445" cy="358445"/>
          </a:xfrm>
          <a:prstGeom prst="rect">
            <a:avLst/>
          </a:prstGeom>
        </p:spPr>
      </p:pic>
      <p:sp>
        <p:nvSpPr>
          <p:cNvPr id="22" name="Text 16"/>
          <p:cNvSpPr txBox="1"/>
          <p:nvPr/>
        </p:nvSpPr>
        <p:spPr>
          <a:xfrm>
            <a:off x="7406640" y="2377440"/>
            <a:ext cx="2057400" cy="320040"/>
          </a:xfrm>
          <a:prstGeom prst="rect">
            <a:avLst/>
          </a:prstGeom>
          <a:noFill/>
          <a:ln/>
        </p:spPr>
        <p:txBody>
          <a:bodyPr wrap="square" lIns="0" tIns="0" rIns="0" bIns="0" rtlCol="0" anchor="t"/>
          <a:lstStyle/>
          <a:p>
            <a:pPr indent="0" marL="0">
              <a:buNone/>
            </a:pPr>
            <a:r>
              <a:rPr lang="en-US" sz="1300" b="1" dirty="0">
                <a:solidFill>
                  <a:schemeClr val="accent3"/>
                </a:solidFill>
              </a:rPr>
              <a:t>Week 3</a:t>
            </a:r>
            <a:endParaRPr lang="en-US" sz="1300" dirty="0"/>
          </a:p>
        </p:txBody>
      </p:sp>
      <p:sp>
        <p:nvSpPr>
          <p:cNvPr id="23" name="Text 17"/>
          <p:cNvSpPr txBox="1"/>
          <p:nvPr/>
        </p:nvSpPr>
        <p:spPr>
          <a:xfrm>
            <a:off x="7406640" y="2697480"/>
            <a:ext cx="2057400" cy="411480"/>
          </a:xfrm>
          <a:prstGeom prst="rect">
            <a:avLst/>
          </a:prstGeom>
          <a:noFill/>
          <a:ln/>
        </p:spPr>
        <p:txBody>
          <a:bodyPr wrap="square" lIns="0" tIns="0" rIns="0" bIns="0" rtlCol="0" anchor="t"/>
          <a:lstStyle/>
          <a:p>
            <a:pPr indent="0" marL="0">
              <a:buNone/>
            </a:pPr>
            <a:r>
              <a:rPr lang="en-US" sz="1900" b="1" dirty="0">
                <a:solidFill>
                  <a:schemeClr val="tx1"/>
                </a:solidFill>
              </a:rPr>
              <a:t>POST survey</a:t>
            </a:r>
            <a:endParaRPr lang="en-US" sz="1900" dirty="0"/>
          </a:p>
        </p:txBody>
      </p:sp>
      <p:sp>
        <p:nvSpPr>
          <p:cNvPr id="24" name="Text 18"/>
          <p:cNvSpPr txBox="1"/>
          <p:nvPr/>
        </p:nvSpPr>
        <p:spPr>
          <a:xfrm>
            <a:off x="7406640" y="3154680"/>
            <a:ext cx="2011680" cy="1005840"/>
          </a:xfrm>
          <a:prstGeom prst="rect">
            <a:avLst/>
          </a:prstGeom>
          <a:noFill/>
          <a:ln/>
        </p:spPr>
        <p:txBody>
          <a:bodyPr wrap="square" lIns="0" tIns="0" rIns="0" bIns="0" rtlCol="0" anchor="t"/>
          <a:lstStyle/>
          <a:p>
            <a:pPr indent="0" marL="0">
              <a:buNone/>
            </a:pPr>
            <a:r>
              <a:rPr lang="en-US" sz="1400" dirty="0">
                <a:solidFill>
                  <a:schemeClr val="tx2"/>
                </a:solidFill>
              </a:rPr>
              <a:t>Same scenarios, same anonymous code</a:t>
            </a:r>
            <a:endParaRPr lang="en-US" sz="1400" dirty="0"/>
          </a:p>
        </p:txBody>
      </p:sp>
      <p:sp>
        <p:nvSpPr>
          <p:cNvPr id="25" name="icon-bg-chart"/>
          <p:cNvSpPr/>
          <p:nvPr/>
        </p:nvSpPr>
        <p:spPr>
          <a:xfrm>
            <a:off x="9738360" y="1554480"/>
            <a:ext cx="640080" cy="640080"/>
          </a:xfrm>
          <a:prstGeom prst="ellipse">
            <a:avLst/>
          </a:prstGeom>
          <a:solidFill>
            <a:schemeClr val="accent1"/>
          </a:solidFill>
          <a:ln/>
        </p:spPr>
      </p:sp>
      <p:pic>
        <p:nvPicPr>
          <p:cNvPr id="26" name="icon-chart" descr="preencoded.png">    </p:cNvPr>
          <p:cNvPicPr>
            <a:picLocks noChangeAspect="1"/>
          </p:cNvPicPr>
          <p:nvPr/>
        </p:nvPicPr>
        <p:blipFill>
          <a:blip r:embed="rId5"/>
          <a:stretch>
            <a:fillRect/>
          </a:stretch>
        </p:blipFill>
        <p:spPr>
          <a:xfrm>
            <a:off x="9879178" y="1695298"/>
            <a:ext cx="358445" cy="358445"/>
          </a:xfrm>
          <a:prstGeom prst="rect">
            <a:avLst/>
          </a:prstGeom>
        </p:spPr>
      </p:pic>
      <p:sp>
        <p:nvSpPr>
          <p:cNvPr id="27" name="Text 20"/>
          <p:cNvSpPr txBox="1"/>
          <p:nvPr/>
        </p:nvSpPr>
        <p:spPr>
          <a:xfrm>
            <a:off x="9692640" y="2377440"/>
            <a:ext cx="2057400" cy="320040"/>
          </a:xfrm>
          <a:prstGeom prst="rect">
            <a:avLst/>
          </a:prstGeom>
          <a:noFill/>
          <a:ln/>
        </p:spPr>
        <p:txBody>
          <a:bodyPr wrap="square" lIns="0" tIns="0" rIns="0" bIns="0" rtlCol="0" anchor="t"/>
          <a:lstStyle/>
          <a:p>
            <a:pPr indent="0" marL="0">
              <a:buNone/>
            </a:pPr>
            <a:r>
              <a:rPr lang="en-US" sz="1300" b="1" dirty="0">
                <a:solidFill>
                  <a:schemeClr val="accent3"/>
                </a:solidFill>
              </a:rPr>
              <a:t>Week 4</a:t>
            </a:r>
            <a:endParaRPr lang="en-US" sz="1300" dirty="0"/>
          </a:p>
        </p:txBody>
      </p:sp>
      <p:sp>
        <p:nvSpPr>
          <p:cNvPr id="28" name="Text 21"/>
          <p:cNvSpPr txBox="1"/>
          <p:nvPr/>
        </p:nvSpPr>
        <p:spPr>
          <a:xfrm>
            <a:off x="9692640" y="2697480"/>
            <a:ext cx="2057400" cy="411480"/>
          </a:xfrm>
          <a:prstGeom prst="rect">
            <a:avLst/>
          </a:prstGeom>
          <a:noFill/>
          <a:ln/>
        </p:spPr>
        <p:txBody>
          <a:bodyPr wrap="square" lIns="0" tIns="0" rIns="0" bIns="0" rtlCol="0" anchor="t"/>
          <a:lstStyle/>
          <a:p>
            <a:pPr indent="0" marL="0">
              <a:buNone/>
            </a:pPr>
            <a:r>
              <a:rPr lang="en-US" sz="1900" b="1" dirty="0">
                <a:solidFill>
                  <a:schemeClr val="tx1"/>
                </a:solidFill>
              </a:rPr>
              <a:t>Analysis</a:t>
            </a:r>
            <a:endParaRPr lang="en-US" sz="1900" dirty="0"/>
          </a:p>
        </p:txBody>
      </p:sp>
      <p:sp>
        <p:nvSpPr>
          <p:cNvPr id="29" name="Text 22"/>
          <p:cNvSpPr txBox="1"/>
          <p:nvPr/>
        </p:nvSpPr>
        <p:spPr>
          <a:xfrm>
            <a:off x="9692640" y="3154680"/>
            <a:ext cx="2011680" cy="1005840"/>
          </a:xfrm>
          <a:prstGeom prst="rect">
            <a:avLst/>
          </a:prstGeom>
          <a:noFill/>
          <a:ln/>
        </p:spPr>
        <p:txBody>
          <a:bodyPr wrap="square" lIns="0" tIns="0" rIns="0" bIns="0" rtlCol="0" anchor="t"/>
          <a:lstStyle/>
          <a:p>
            <a:pPr indent="0" marL="0">
              <a:buNone/>
            </a:pPr>
            <a:r>
              <a:rPr lang="en-US" sz="1400" dirty="0">
                <a:solidFill>
                  <a:schemeClr val="tx2"/>
                </a:solidFill>
              </a:rPr>
              <a:t>Paired results, Instagram analytics, final report</a:t>
            </a:r>
            <a:endParaRPr lang="en-US" sz="1400" dirty="0"/>
          </a:p>
        </p:txBody>
      </p:sp>
      <p:sp>
        <p:nvSpPr>
          <p:cNvPr id="30" name="card"/>
          <p:cNvSpPr/>
          <p:nvPr/>
        </p:nvSpPr>
        <p:spPr>
          <a:xfrm>
            <a:off x="548640" y="4434840"/>
            <a:ext cx="11091672" cy="1691640"/>
          </a:xfrm>
          <a:prstGeom prst="roundRect">
            <a:avLst>
              <a:gd name="adj" fmla="val 5405"/>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31" name="Text 24"/>
          <p:cNvSpPr txBox="1"/>
          <p:nvPr/>
        </p:nvSpPr>
        <p:spPr>
          <a:xfrm>
            <a:off x="822960" y="4617720"/>
            <a:ext cx="2743200" cy="365760"/>
          </a:xfrm>
          <a:prstGeom prst="rect">
            <a:avLst/>
          </a:prstGeom>
          <a:noFill/>
          <a:ln/>
        </p:spPr>
        <p:txBody>
          <a:bodyPr wrap="square" lIns="0" tIns="0" rIns="0" bIns="0" rtlCol="0" anchor="t"/>
          <a:lstStyle/>
          <a:p>
            <a:pPr indent="0" marL="0">
              <a:buNone/>
            </a:pPr>
            <a:r>
              <a:rPr lang="en-US" sz="1700" b="1" dirty="0">
                <a:solidFill>
                  <a:schemeClr val="accent4"/>
                </a:solidFill>
              </a:rPr>
              <a:t>Posting schedule</a:t>
            </a:r>
            <a:endParaRPr lang="en-US" sz="1700" dirty="0"/>
          </a:p>
        </p:txBody>
      </p:sp>
      <p:sp>
        <p:nvSpPr>
          <p:cNvPr id="32" name="Text 25"/>
          <p:cNvSpPr txBox="1"/>
          <p:nvPr/>
        </p:nvSpPr>
        <p:spPr>
          <a:xfrm>
            <a:off x="822960" y="5074920"/>
            <a:ext cx="2560320" cy="411480"/>
          </a:xfrm>
          <a:prstGeom prst="rect">
            <a:avLst/>
          </a:prstGeom>
          <a:noFill/>
          <a:ln/>
        </p:spPr>
        <p:txBody>
          <a:bodyPr wrap="square" lIns="0" tIns="0" rIns="0" bIns="0" rtlCol="0" anchor="t"/>
          <a:lstStyle/>
          <a:p>
            <a:pPr indent="0" marL="0">
              <a:buNone/>
            </a:pPr>
            <a:r>
              <a:rPr lang="en-US" sz="1800" b="1" dirty="0">
                <a:solidFill>
                  <a:schemeClr val="tx1"/>
                </a:solidFill>
              </a:rPr>
              <a:t>3 posts a week</a:t>
            </a:r>
            <a:endParaRPr lang="en-US" sz="1800" dirty="0"/>
          </a:p>
        </p:txBody>
      </p:sp>
      <p:sp>
        <p:nvSpPr>
          <p:cNvPr id="33" name="Text 26"/>
          <p:cNvSpPr txBox="1"/>
          <p:nvPr/>
        </p:nvSpPr>
        <p:spPr>
          <a:xfrm>
            <a:off x="822960" y="5486400"/>
            <a:ext cx="2560320" cy="457200"/>
          </a:xfrm>
          <a:prstGeom prst="rect">
            <a:avLst/>
          </a:prstGeom>
          <a:noFill/>
          <a:ln/>
        </p:spPr>
        <p:txBody>
          <a:bodyPr wrap="square" lIns="0" tIns="0" rIns="0" bIns="0" rtlCol="0" anchor="t"/>
          <a:lstStyle/>
          <a:p>
            <a:pPr indent="0" marL="0">
              <a:buNone/>
            </a:pPr>
            <a:r>
              <a:rPr lang="en-US" sz="1300" dirty="0">
                <a:solidFill>
                  <a:schemeClr val="tx2"/>
                </a:solidFill>
              </a:rPr>
              <a:t>Mon · Wed · Fri</a:t>
            </a:r>
            <a:endParaRPr lang="en-US" sz="1300" dirty="0"/>
          </a:p>
        </p:txBody>
      </p:sp>
      <p:sp>
        <p:nvSpPr>
          <p:cNvPr id="34" name="Text 27"/>
          <p:cNvSpPr txBox="1"/>
          <p:nvPr/>
        </p:nvSpPr>
        <p:spPr>
          <a:xfrm>
            <a:off x="3520440" y="5074920"/>
            <a:ext cx="2560320" cy="411480"/>
          </a:xfrm>
          <a:prstGeom prst="rect">
            <a:avLst/>
          </a:prstGeom>
          <a:noFill/>
          <a:ln/>
        </p:spPr>
        <p:txBody>
          <a:bodyPr wrap="square" lIns="0" tIns="0" rIns="0" bIns="0" rtlCol="0" anchor="t"/>
          <a:lstStyle/>
          <a:p>
            <a:pPr indent="0" marL="0">
              <a:buNone/>
            </a:pPr>
            <a:r>
              <a:rPr lang="en-US" sz="1800" b="1" dirty="0">
                <a:solidFill>
                  <a:schemeClr val="tx1"/>
                </a:solidFill>
              </a:rPr>
              <a:t>7–9 pm</a:t>
            </a:r>
            <a:endParaRPr lang="en-US" sz="1800" dirty="0"/>
          </a:p>
        </p:txBody>
      </p:sp>
      <p:sp>
        <p:nvSpPr>
          <p:cNvPr id="35" name="Text 28"/>
          <p:cNvSpPr txBox="1"/>
          <p:nvPr/>
        </p:nvSpPr>
        <p:spPr>
          <a:xfrm>
            <a:off x="3520440" y="5486400"/>
            <a:ext cx="2560320" cy="457200"/>
          </a:xfrm>
          <a:prstGeom prst="rect">
            <a:avLst/>
          </a:prstGeom>
          <a:noFill/>
          <a:ln/>
        </p:spPr>
        <p:txBody>
          <a:bodyPr wrap="square" lIns="0" tIns="0" rIns="0" bIns="0" rtlCol="0" anchor="t"/>
          <a:lstStyle/>
          <a:p>
            <a:pPr indent="0" marL="0">
              <a:buNone/>
            </a:pPr>
            <a:r>
              <a:rPr lang="en-US" sz="1300" dirty="0">
                <a:solidFill>
                  <a:schemeClr val="tx2"/>
                </a:solidFill>
              </a:rPr>
              <a:t>When students scroll most</a:t>
            </a:r>
            <a:endParaRPr lang="en-US" sz="1300" dirty="0"/>
          </a:p>
        </p:txBody>
      </p:sp>
      <p:sp>
        <p:nvSpPr>
          <p:cNvPr id="36" name="Text 29"/>
          <p:cNvSpPr txBox="1"/>
          <p:nvPr/>
        </p:nvSpPr>
        <p:spPr>
          <a:xfrm>
            <a:off x="6217920" y="5074920"/>
            <a:ext cx="2560320" cy="411480"/>
          </a:xfrm>
          <a:prstGeom prst="rect">
            <a:avLst/>
          </a:prstGeom>
          <a:noFill/>
          <a:ln/>
        </p:spPr>
        <p:txBody>
          <a:bodyPr wrap="square" lIns="0" tIns="0" rIns="0" bIns="0" rtlCol="0" anchor="t"/>
          <a:lstStyle/>
          <a:p>
            <a:pPr indent="0" marL="0">
              <a:buNone/>
            </a:pPr>
            <a:r>
              <a:rPr lang="en-US" sz="1800" b="1" dirty="0">
                <a:solidFill>
                  <a:schemeClr val="tx1"/>
                </a:solidFill>
              </a:rPr>
              <a:t>Daily stories</a:t>
            </a:r>
            <a:endParaRPr lang="en-US" sz="1800" dirty="0"/>
          </a:p>
        </p:txBody>
      </p:sp>
      <p:sp>
        <p:nvSpPr>
          <p:cNvPr id="37" name="Text 30"/>
          <p:cNvSpPr txBox="1"/>
          <p:nvPr/>
        </p:nvSpPr>
        <p:spPr>
          <a:xfrm>
            <a:off x="6217920" y="5486400"/>
            <a:ext cx="2560320" cy="457200"/>
          </a:xfrm>
          <a:prstGeom prst="rect">
            <a:avLst/>
          </a:prstGeom>
          <a:noFill/>
          <a:ln/>
        </p:spPr>
        <p:txBody>
          <a:bodyPr wrap="square" lIns="0" tIns="0" rIns="0" bIns="0" rtlCol="0" anchor="t"/>
          <a:lstStyle/>
          <a:p>
            <a:pPr indent="0" marL="0">
              <a:buNone/>
            </a:pPr>
            <a:r>
              <a:rPr lang="en-US" sz="1300" dirty="0">
                <a:solidFill>
                  <a:schemeClr val="tx2"/>
                </a:solidFill>
              </a:rPr>
              <a:t>Re-share, polls, reminders</a:t>
            </a:r>
            <a:endParaRPr lang="en-US" sz="1300" dirty="0"/>
          </a:p>
        </p:txBody>
      </p:sp>
      <p:sp>
        <p:nvSpPr>
          <p:cNvPr id="38" name="Text 31"/>
          <p:cNvSpPr txBox="1"/>
          <p:nvPr/>
        </p:nvSpPr>
        <p:spPr>
          <a:xfrm>
            <a:off x="8915400" y="5074920"/>
            <a:ext cx="2560320" cy="411480"/>
          </a:xfrm>
          <a:prstGeom prst="rect">
            <a:avLst/>
          </a:prstGeom>
          <a:noFill/>
          <a:ln/>
        </p:spPr>
        <p:txBody>
          <a:bodyPr wrap="square" lIns="0" tIns="0" rIns="0" bIns="0" rtlCol="0" anchor="t"/>
          <a:lstStyle/>
          <a:p>
            <a:pPr indent="0" marL="0">
              <a:buNone/>
            </a:pPr>
            <a:r>
              <a:rPr lang="en-US" sz="1800" b="1" dirty="0">
                <a:solidFill>
                  <a:schemeClr val="tx1"/>
                </a:solidFill>
              </a:rPr>
              <a:t>Hashtags</a:t>
            </a:r>
            <a:endParaRPr lang="en-US" sz="1800" dirty="0"/>
          </a:p>
        </p:txBody>
      </p:sp>
      <p:sp>
        <p:nvSpPr>
          <p:cNvPr id="39" name="Text 32"/>
          <p:cNvSpPr txBox="1"/>
          <p:nvPr/>
        </p:nvSpPr>
        <p:spPr>
          <a:xfrm>
            <a:off x="8915400" y="5486400"/>
            <a:ext cx="2560320" cy="457200"/>
          </a:xfrm>
          <a:prstGeom prst="rect">
            <a:avLst/>
          </a:prstGeom>
          <a:noFill/>
          <a:ln/>
        </p:spPr>
        <p:txBody>
          <a:bodyPr wrap="square" lIns="0" tIns="0" rIns="0" bIns="0" rtlCol="0" anchor="t"/>
          <a:lstStyle/>
          <a:p>
            <a:pPr indent="0" marL="0">
              <a:buNone/>
            </a:pPr>
            <a:r>
              <a:rPr lang="en-US" sz="1300" dirty="0">
                <a:solidFill>
                  <a:schemeClr val="tx2"/>
                </a:solidFill>
              </a:rPr>
              <a:t>#CyberAware #ThinkBeforeYouClick</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How we chose the 10 quiz questions</a:t>
            </a:r>
            <a:endParaRPr lang="en-US" sz="3400" dirty="0"/>
          </a:p>
        </p:txBody>
      </p:sp>
      <p:sp>
        <p:nvSpPr>
          <p:cNvPr id="3" name="Text 1"/>
          <p:cNvSpPr txBox="1"/>
          <p:nvPr/>
        </p:nvSpPr>
        <p:spPr>
          <a:xfrm>
            <a:off x="548640" y="1280160"/>
            <a:ext cx="6400800" cy="274320"/>
          </a:xfrm>
          <a:prstGeom prst="rect">
            <a:avLst/>
          </a:prstGeom>
          <a:noFill/>
          <a:ln/>
        </p:spPr>
        <p:txBody>
          <a:bodyPr wrap="square" lIns="0" tIns="0" rIns="0" bIns="0" rtlCol="0" anchor="t"/>
          <a:lstStyle/>
          <a:p>
            <a:pPr indent="0" marL="0">
              <a:buNone/>
            </a:pPr>
            <a:r>
              <a:rPr lang="en-US" sz="1200" b="1" spc="100" kern="0" dirty="0">
                <a:solidFill>
                  <a:schemeClr val="accent3"/>
                </a:solidFill>
              </a:rPr>
              <a:t>5 TOPICS × 2 SCENARIOS, EACH MATCHED TO CAMPAIGN CONTENT</a:t>
            </a:r>
            <a:endParaRPr lang="en-US" sz="1200" dirty="0"/>
          </a:p>
        </p:txBody>
      </p:sp>
      <p:sp>
        <p:nvSpPr>
          <p:cNvPr id="4" name="card"/>
          <p:cNvSpPr/>
          <p:nvPr/>
        </p:nvSpPr>
        <p:spPr>
          <a:xfrm>
            <a:off x="548640" y="1691640"/>
            <a:ext cx="6400800" cy="786384"/>
          </a:xfrm>
          <a:prstGeom prst="roundRect">
            <a:avLst>
              <a:gd name="adj" fmla="val 11628"/>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5" name="Text 3"/>
          <p:cNvSpPr txBox="1"/>
          <p:nvPr/>
        </p:nvSpPr>
        <p:spPr>
          <a:xfrm>
            <a:off x="777240" y="1801368"/>
            <a:ext cx="2194560" cy="320040"/>
          </a:xfrm>
          <a:prstGeom prst="rect">
            <a:avLst/>
          </a:prstGeom>
          <a:noFill/>
          <a:ln/>
        </p:spPr>
        <p:txBody>
          <a:bodyPr wrap="square" lIns="0" tIns="0" rIns="0" bIns="0" rtlCol="0" anchor="t"/>
          <a:lstStyle/>
          <a:p>
            <a:pPr indent="0" marL="0">
              <a:buNone/>
            </a:pPr>
            <a:r>
              <a:rPr lang="en-US" sz="1500" b="1" dirty="0">
                <a:solidFill>
                  <a:schemeClr val="tx1"/>
                </a:solidFill>
              </a:rPr>
              <a:t>Email phishing</a:t>
            </a:r>
            <a:endParaRPr lang="en-US" sz="1500" dirty="0"/>
          </a:p>
        </p:txBody>
      </p:sp>
      <p:sp>
        <p:nvSpPr>
          <p:cNvPr id="6" name="Text 4"/>
          <p:cNvSpPr txBox="1"/>
          <p:nvPr/>
        </p:nvSpPr>
        <p:spPr>
          <a:xfrm>
            <a:off x="777240" y="2121408"/>
            <a:ext cx="3291840" cy="292608"/>
          </a:xfrm>
          <a:prstGeom prst="rect">
            <a:avLst/>
          </a:prstGeom>
          <a:noFill/>
          <a:ln/>
        </p:spPr>
        <p:txBody>
          <a:bodyPr wrap="square" lIns="0" tIns="0" rIns="0" bIns="0" rtlCol="0" anchor="t"/>
          <a:lstStyle/>
          <a:p>
            <a:pPr indent="0" marL="0">
              <a:buNone/>
            </a:pPr>
            <a:r>
              <a:rPr lang="en-US" sz="1200" dirty="0">
                <a:solidFill>
                  <a:schemeClr val="tx2"/>
                </a:solidFill>
              </a:rPr>
              <a:t>→ "It looks real. But is it?" poster</a:t>
            </a:r>
            <a:endParaRPr lang="en-US" sz="1200" dirty="0"/>
          </a:p>
        </p:txBody>
      </p:sp>
      <p:sp>
        <p:nvSpPr>
          <p:cNvPr id="7" name="chip"/>
          <p:cNvSpPr txBox="1"/>
          <p:nvPr/>
        </p:nvSpPr>
        <p:spPr>
          <a:xfrm>
            <a:off x="3977640" y="1874520"/>
            <a:ext cx="1371600" cy="420624"/>
          </a:xfrm>
          <a:prstGeom prst="roundRect">
            <a:avLst>
              <a:gd name="adj" fmla="val 108696"/>
            </a:avLst>
          </a:prstGeom>
          <a:solidFill>
            <a:schemeClr val="accent5"/>
          </a:solidFill>
          <a:ln/>
        </p:spPr>
        <p:txBody>
          <a:bodyPr wrap="square" lIns="0" tIns="101600" rIns="101600" bIns="0" rtlCol="0" anchor="ctr"/>
          <a:lstStyle/>
          <a:p>
            <a:pPr algn="ctr" indent="0" marL="0">
              <a:buNone/>
            </a:pPr>
            <a:r>
              <a:rPr lang="en-US" sz="1100" b="1" dirty="0">
                <a:solidFill>
                  <a:schemeClr val="tx1"/>
                </a:solidFill>
              </a:rPr>
              <a:t>1 Suspension email</a:t>
            </a:r>
            <a:endParaRPr lang="en-US" sz="1100" dirty="0"/>
          </a:p>
        </p:txBody>
      </p:sp>
      <p:sp>
        <p:nvSpPr>
          <p:cNvPr id="8" name="chip"/>
          <p:cNvSpPr txBox="1"/>
          <p:nvPr/>
        </p:nvSpPr>
        <p:spPr>
          <a:xfrm>
            <a:off x="5440680" y="1874520"/>
            <a:ext cx="1371600" cy="420624"/>
          </a:xfrm>
          <a:prstGeom prst="roundRect">
            <a:avLst>
              <a:gd name="adj" fmla="val 108696"/>
            </a:avLst>
          </a:prstGeom>
          <a:solidFill>
            <a:schemeClr val="accent5"/>
          </a:solidFill>
          <a:ln/>
        </p:spPr>
        <p:txBody>
          <a:bodyPr wrap="square" lIns="0" tIns="101600" rIns="101600" bIns="0" rtlCol="0" anchor="ctr"/>
          <a:lstStyle/>
          <a:p>
            <a:pPr algn="ctr" indent="0" marL="0">
              <a:buNone/>
            </a:pPr>
            <a:r>
              <a:rPr lang="en-US" sz="1100" b="1" dirty="0">
                <a:solidFill>
                  <a:schemeClr val="tx1"/>
                </a:solidFill>
              </a:rPr>
              <a:t>4 Warning signs</a:t>
            </a:r>
            <a:endParaRPr lang="en-US" sz="1100" dirty="0"/>
          </a:p>
        </p:txBody>
      </p:sp>
      <p:sp>
        <p:nvSpPr>
          <p:cNvPr id="9" name="card"/>
          <p:cNvSpPr/>
          <p:nvPr/>
        </p:nvSpPr>
        <p:spPr>
          <a:xfrm>
            <a:off x="548640" y="2587752"/>
            <a:ext cx="6400800" cy="786384"/>
          </a:xfrm>
          <a:prstGeom prst="roundRect">
            <a:avLst>
              <a:gd name="adj" fmla="val 11628"/>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10" name="Text 8"/>
          <p:cNvSpPr txBox="1"/>
          <p:nvPr/>
        </p:nvSpPr>
        <p:spPr>
          <a:xfrm>
            <a:off x="777240" y="2697480"/>
            <a:ext cx="2194560" cy="320040"/>
          </a:xfrm>
          <a:prstGeom prst="rect">
            <a:avLst/>
          </a:prstGeom>
          <a:noFill/>
          <a:ln/>
        </p:spPr>
        <p:txBody>
          <a:bodyPr wrap="square" lIns="0" tIns="0" rIns="0" bIns="0" rtlCol="0" anchor="t"/>
          <a:lstStyle/>
          <a:p>
            <a:pPr indent="0" marL="0">
              <a:buNone/>
            </a:pPr>
            <a:r>
              <a:rPr lang="en-US" sz="1500" b="1" dirty="0">
                <a:solidFill>
                  <a:schemeClr val="tx1"/>
                </a:solidFill>
              </a:rPr>
              <a:t>Links &amp; websites</a:t>
            </a:r>
            <a:endParaRPr lang="en-US" sz="1500" dirty="0"/>
          </a:p>
        </p:txBody>
      </p:sp>
      <p:sp>
        <p:nvSpPr>
          <p:cNvPr id="11" name="Text 9"/>
          <p:cNvSpPr txBox="1"/>
          <p:nvPr/>
        </p:nvSpPr>
        <p:spPr>
          <a:xfrm>
            <a:off x="777240" y="3017520"/>
            <a:ext cx="3291840" cy="292608"/>
          </a:xfrm>
          <a:prstGeom prst="rect">
            <a:avLst/>
          </a:prstGeom>
          <a:noFill/>
          <a:ln/>
        </p:spPr>
        <p:txBody>
          <a:bodyPr wrap="square" lIns="0" tIns="0" rIns="0" bIns="0" rtlCol="0" anchor="t"/>
          <a:lstStyle/>
          <a:p>
            <a:pPr indent="0" marL="0">
              <a:buNone/>
            </a:pPr>
            <a:r>
              <a:rPr lang="en-US" sz="1200" dirty="0">
                <a:solidFill>
                  <a:schemeClr val="tx2"/>
                </a:solidFill>
              </a:rPr>
              <a:t>→ "Verify before you click" post</a:t>
            </a:r>
            <a:endParaRPr lang="en-US" sz="1200" dirty="0"/>
          </a:p>
        </p:txBody>
      </p:sp>
      <p:sp>
        <p:nvSpPr>
          <p:cNvPr id="12" name="chip"/>
          <p:cNvSpPr txBox="1"/>
          <p:nvPr/>
        </p:nvSpPr>
        <p:spPr>
          <a:xfrm>
            <a:off x="3977640" y="2770632"/>
            <a:ext cx="1371600" cy="420624"/>
          </a:xfrm>
          <a:prstGeom prst="roundRect">
            <a:avLst>
              <a:gd name="adj" fmla="val 108696"/>
            </a:avLst>
          </a:prstGeom>
          <a:solidFill>
            <a:schemeClr val="accent5"/>
          </a:solidFill>
          <a:ln/>
        </p:spPr>
        <p:txBody>
          <a:bodyPr wrap="square" lIns="0" tIns="101600" rIns="101600" bIns="0" rtlCol="0" anchor="ctr"/>
          <a:lstStyle/>
          <a:p>
            <a:pPr algn="ctr" indent="0" marL="0">
              <a:buNone/>
            </a:pPr>
            <a:r>
              <a:rPr lang="en-US" sz="1100" b="1" dirty="0">
                <a:solidFill>
                  <a:schemeClr val="tx1"/>
                </a:solidFill>
              </a:rPr>
              <a:t>2 Reading a URL</a:t>
            </a:r>
            <a:endParaRPr lang="en-US" sz="1100" dirty="0"/>
          </a:p>
        </p:txBody>
      </p:sp>
      <p:sp>
        <p:nvSpPr>
          <p:cNvPr id="13" name="chip"/>
          <p:cNvSpPr txBox="1"/>
          <p:nvPr/>
        </p:nvSpPr>
        <p:spPr>
          <a:xfrm>
            <a:off x="5440680" y="2770632"/>
            <a:ext cx="1371600" cy="420624"/>
          </a:xfrm>
          <a:prstGeom prst="roundRect">
            <a:avLst>
              <a:gd name="adj" fmla="val 108696"/>
            </a:avLst>
          </a:prstGeom>
          <a:solidFill>
            <a:schemeClr val="accent5"/>
          </a:solidFill>
          <a:ln/>
        </p:spPr>
        <p:txBody>
          <a:bodyPr wrap="square" lIns="0" tIns="101600" rIns="101600" bIns="0" rtlCol="0" anchor="ctr"/>
          <a:lstStyle/>
          <a:p>
            <a:pPr algn="ctr" indent="0" marL="0">
              <a:buNone/>
            </a:pPr>
            <a:r>
              <a:rPr lang="en-US" sz="1100" b="1" dirty="0">
                <a:solidFill>
                  <a:schemeClr val="tx1"/>
                </a:solidFill>
              </a:rPr>
              <a:t>3 The padlock</a:t>
            </a:r>
            <a:endParaRPr lang="en-US" sz="1100" dirty="0"/>
          </a:p>
        </p:txBody>
      </p:sp>
      <p:sp>
        <p:nvSpPr>
          <p:cNvPr id="14" name="card"/>
          <p:cNvSpPr/>
          <p:nvPr/>
        </p:nvSpPr>
        <p:spPr>
          <a:xfrm>
            <a:off x="548640" y="3483864"/>
            <a:ext cx="6400800" cy="786384"/>
          </a:xfrm>
          <a:prstGeom prst="roundRect">
            <a:avLst>
              <a:gd name="adj" fmla="val 11628"/>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15" name="Text 13"/>
          <p:cNvSpPr txBox="1"/>
          <p:nvPr/>
        </p:nvSpPr>
        <p:spPr>
          <a:xfrm>
            <a:off x="777240" y="3593592"/>
            <a:ext cx="2194560" cy="320040"/>
          </a:xfrm>
          <a:prstGeom prst="rect">
            <a:avLst/>
          </a:prstGeom>
          <a:noFill/>
          <a:ln/>
        </p:spPr>
        <p:txBody>
          <a:bodyPr wrap="square" lIns="0" tIns="0" rIns="0" bIns="0" rtlCol="0" anchor="t"/>
          <a:lstStyle/>
          <a:p>
            <a:pPr indent="0" marL="0">
              <a:buNone/>
            </a:pPr>
            <a:r>
              <a:rPr lang="en-US" sz="1500" b="1" dirty="0">
                <a:solidFill>
                  <a:schemeClr val="tx1"/>
                </a:solidFill>
              </a:rPr>
              <a:t>SMS &amp; QR scams</a:t>
            </a:r>
            <a:endParaRPr lang="en-US" sz="1500" dirty="0"/>
          </a:p>
        </p:txBody>
      </p:sp>
      <p:sp>
        <p:nvSpPr>
          <p:cNvPr id="16" name="Text 14"/>
          <p:cNvSpPr txBox="1"/>
          <p:nvPr/>
        </p:nvSpPr>
        <p:spPr>
          <a:xfrm>
            <a:off x="777240" y="3913632"/>
            <a:ext cx="3291840" cy="292608"/>
          </a:xfrm>
          <a:prstGeom prst="rect">
            <a:avLst/>
          </a:prstGeom>
          <a:noFill/>
          <a:ln/>
        </p:spPr>
        <p:txBody>
          <a:bodyPr wrap="square" lIns="0" tIns="0" rIns="0" bIns="0" rtlCol="0" anchor="t"/>
          <a:lstStyle/>
          <a:p>
            <a:pPr indent="0" marL="0">
              <a:buNone/>
            </a:pPr>
            <a:r>
              <a:rPr lang="en-US" sz="1200" dirty="0">
                <a:solidFill>
                  <a:schemeClr val="tx2"/>
                </a:solidFill>
              </a:rPr>
              <a:t>→ "Don't get hooked" post</a:t>
            </a:r>
            <a:endParaRPr lang="en-US" sz="1200" dirty="0"/>
          </a:p>
        </p:txBody>
      </p:sp>
      <p:sp>
        <p:nvSpPr>
          <p:cNvPr id="17" name="chip"/>
          <p:cNvSpPr txBox="1"/>
          <p:nvPr/>
        </p:nvSpPr>
        <p:spPr>
          <a:xfrm>
            <a:off x="3977640" y="3666744"/>
            <a:ext cx="1371600" cy="420624"/>
          </a:xfrm>
          <a:prstGeom prst="roundRect">
            <a:avLst>
              <a:gd name="adj" fmla="val 108696"/>
            </a:avLst>
          </a:prstGeom>
          <a:solidFill>
            <a:schemeClr val="accent5"/>
          </a:solidFill>
          <a:ln/>
        </p:spPr>
        <p:txBody>
          <a:bodyPr wrap="square" lIns="0" tIns="101600" rIns="101600" bIns="0" rtlCol="0" anchor="ctr"/>
          <a:lstStyle/>
          <a:p>
            <a:pPr algn="ctr" indent="0" marL="0">
              <a:buNone/>
            </a:pPr>
            <a:r>
              <a:rPr lang="en-US" sz="1100" b="1" dirty="0">
                <a:solidFill>
                  <a:schemeClr val="tx1"/>
                </a:solidFill>
              </a:rPr>
              <a:t>5 Parcel-fee text</a:t>
            </a:r>
            <a:endParaRPr lang="en-US" sz="1100" dirty="0"/>
          </a:p>
        </p:txBody>
      </p:sp>
      <p:sp>
        <p:nvSpPr>
          <p:cNvPr id="18" name="chip"/>
          <p:cNvSpPr txBox="1"/>
          <p:nvPr/>
        </p:nvSpPr>
        <p:spPr>
          <a:xfrm>
            <a:off x="5440680" y="3666744"/>
            <a:ext cx="1371600" cy="420624"/>
          </a:xfrm>
          <a:prstGeom prst="roundRect">
            <a:avLst>
              <a:gd name="adj" fmla="val 108696"/>
            </a:avLst>
          </a:prstGeom>
          <a:solidFill>
            <a:schemeClr val="accent5"/>
          </a:solidFill>
          <a:ln/>
        </p:spPr>
        <p:txBody>
          <a:bodyPr wrap="square" lIns="0" tIns="101600" rIns="101600" bIns="0" rtlCol="0" anchor="ctr"/>
          <a:lstStyle/>
          <a:p>
            <a:pPr algn="ctr" indent="0" marL="0">
              <a:buNone/>
            </a:pPr>
            <a:r>
              <a:rPr lang="en-US" sz="1100" b="1" dirty="0">
                <a:solidFill>
                  <a:schemeClr val="tx1"/>
                </a:solidFill>
              </a:rPr>
              <a:t>9 QR sticker</a:t>
            </a:r>
            <a:endParaRPr lang="en-US" sz="1100" dirty="0"/>
          </a:p>
        </p:txBody>
      </p:sp>
      <p:sp>
        <p:nvSpPr>
          <p:cNvPr id="19" name="card"/>
          <p:cNvSpPr/>
          <p:nvPr/>
        </p:nvSpPr>
        <p:spPr>
          <a:xfrm>
            <a:off x="548640" y="4379976"/>
            <a:ext cx="6400800" cy="786384"/>
          </a:xfrm>
          <a:prstGeom prst="roundRect">
            <a:avLst>
              <a:gd name="adj" fmla="val 11628"/>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20" name="Text 18"/>
          <p:cNvSpPr txBox="1"/>
          <p:nvPr/>
        </p:nvSpPr>
        <p:spPr>
          <a:xfrm>
            <a:off x="777240" y="4489704"/>
            <a:ext cx="2194560" cy="320040"/>
          </a:xfrm>
          <a:prstGeom prst="rect">
            <a:avLst/>
          </a:prstGeom>
          <a:noFill/>
          <a:ln/>
        </p:spPr>
        <p:txBody>
          <a:bodyPr wrap="square" lIns="0" tIns="0" rIns="0" bIns="0" rtlCol="0" anchor="t"/>
          <a:lstStyle/>
          <a:p>
            <a:pPr indent="0" marL="0">
              <a:buNone/>
            </a:pPr>
            <a:r>
              <a:rPr lang="en-US" sz="1500" b="1" dirty="0">
                <a:solidFill>
                  <a:schemeClr val="tx1"/>
                </a:solidFill>
              </a:rPr>
              <a:t>Account security</a:t>
            </a:r>
            <a:endParaRPr lang="en-US" sz="1500" dirty="0"/>
          </a:p>
        </p:txBody>
      </p:sp>
      <p:sp>
        <p:nvSpPr>
          <p:cNvPr id="21" name="Text 19"/>
          <p:cNvSpPr txBox="1"/>
          <p:nvPr/>
        </p:nvSpPr>
        <p:spPr>
          <a:xfrm>
            <a:off x="777240" y="4809744"/>
            <a:ext cx="3291840" cy="292608"/>
          </a:xfrm>
          <a:prstGeom prst="rect">
            <a:avLst/>
          </a:prstGeom>
          <a:noFill/>
          <a:ln/>
        </p:spPr>
        <p:txBody>
          <a:bodyPr wrap="square" lIns="0" tIns="0" rIns="0" bIns="0" rtlCol="0" anchor="t"/>
          <a:lstStyle/>
          <a:p>
            <a:pPr indent="0" marL="0">
              <a:buNone/>
            </a:pPr>
            <a:r>
              <a:rPr lang="en-US" sz="1200" dirty="0">
                <a:solidFill>
                  <a:schemeClr val="tx2"/>
                </a:solidFill>
              </a:rPr>
              <a:t>→ "Spotted something suspicious?" poster</a:t>
            </a:r>
            <a:endParaRPr lang="en-US" sz="1200" dirty="0"/>
          </a:p>
        </p:txBody>
      </p:sp>
      <p:sp>
        <p:nvSpPr>
          <p:cNvPr id="22" name="chip"/>
          <p:cNvSpPr txBox="1"/>
          <p:nvPr/>
        </p:nvSpPr>
        <p:spPr>
          <a:xfrm>
            <a:off x="3977640" y="4562856"/>
            <a:ext cx="1371600" cy="420624"/>
          </a:xfrm>
          <a:prstGeom prst="roundRect">
            <a:avLst>
              <a:gd name="adj" fmla="val 108696"/>
            </a:avLst>
          </a:prstGeom>
          <a:solidFill>
            <a:schemeClr val="accent5"/>
          </a:solidFill>
          <a:ln/>
        </p:spPr>
        <p:txBody>
          <a:bodyPr wrap="square" lIns="0" tIns="101600" rIns="101600" bIns="0" rtlCol="0" anchor="ctr"/>
          <a:lstStyle/>
          <a:p>
            <a:pPr algn="ctr" indent="0" marL="0">
              <a:buNone/>
            </a:pPr>
            <a:r>
              <a:rPr lang="en-US" sz="1100" b="1" dirty="0">
                <a:solidFill>
                  <a:schemeClr val="tx1"/>
                </a:solidFill>
              </a:rPr>
              <a:t>6 Sign-in prompts</a:t>
            </a:r>
            <a:endParaRPr lang="en-US" sz="1100" dirty="0"/>
          </a:p>
        </p:txBody>
      </p:sp>
      <p:sp>
        <p:nvSpPr>
          <p:cNvPr id="23" name="chip"/>
          <p:cNvSpPr txBox="1"/>
          <p:nvPr/>
        </p:nvSpPr>
        <p:spPr>
          <a:xfrm>
            <a:off x="5440680" y="4562856"/>
            <a:ext cx="1371600" cy="420624"/>
          </a:xfrm>
          <a:prstGeom prst="roundRect">
            <a:avLst>
              <a:gd name="adj" fmla="val 108696"/>
            </a:avLst>
          </a:prstGeom>
          <a:solidFill>
            <a:schemeClr val="accent5"/>
          </a:solidFill>
          <a:ln/>
        </p:spPr>
        <p:txBody>
          <a:bodyPr wrap="square" lIns="0" tIns="101600" rIns="101600" bIns="0" rtlCol="0" anchor="ctr"/>
          <a:lstStyle/>
          <a:p>
            <a:pPr algn="ctr" indent="0" marL="0">
              <a:buNone/>
            </a:pPr>
            <a:r>
              <a:rPr lang="en-US" sz="1100" b="1" dirty="0">
                <a:solidFill>
                  <a:schemeClr val="tx1"/>
                </a:solidFill>
              </a:rPr>
              <a:t>10 After a leak</a:t>
            </a:r>
            <a:endParaRPr lang="en-US" sz="1100" dirty="0"/>
          </a:p>
        </p:txBody>
      </p:sp>
      <p:sp>
        <p:nvSpPr>
          <p:cNvPr id="24" name="card"/>
          <p:cNvSpPr/>
          <p:nvPr/>
        </p:nvSpPr>
        <p:spPr>
          <a:xfrm>
            <a:off x="548640" y="5276088"/>
            <a:ext cx="6400800" cy="786384"/>
          </a:xfrm>
          <a:prstGeom prst="roundRect">
            <a:avLst>
              <a:gd name="adj" fmla="val 11628"/>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25" name="Text 23"/>
          <p:cNvSpPr txBox="1"/>
          <p:nvPr/>
        </p:nvSpPr>
        <p:spPr>
          <a:xfrm>
            <a:off x="777240" y="5385816"/>
            <a:ext cx="2194560" cy="320040"/>
          </a:xfrm>
          <a:prstGeom prst="rect">
            <a:avLst/>
          </a:prstGeom>
          <a:noFill/>
          <a:ln/>
        </p:spPr>
        <p:txBody>
          <a:bodyPr wrap="square" lIns="0" tIns="0" rIns="0" bIns="0" rtlCol="0" anchor="t"/>
          <a:lstStyle/>
          <a:p>
            <a:pPr indent="0" marL="0">
              <a:buNone/>
            </a:pPr>
            <a:r>
              <a:rPr lang="en-US" sz="1500" b="1" dirty="0">
                <a:solidFill>
                  <a:schemeClr val="tx1"/>
                </a:solidFill>
              </a:rPr>
              <a:t>Impersonation</a:t>
            </a:r>
            <a:endParaRPr lang="en-US" sz="1500" dirty="0"/>
          </a:p>
        </p:txBody>
      </p:sp>
      <p:sp>
        <p:nvSpPr>
          <p:cNvPr id="26" name="Text 24"/>
          <p:cNvSpPr txBox="1"/>
          <p:nvPr/>
        </p:nvSpPr>
        <p:spPr>
          <a:xfrm>
            <a:off x="777240" y="5705856"/>
            <a:ext cx="3291840" cy="292608"/>
          </a:xfrm>
          <a:prstGeom prst="rect">
            <a:avLst/>
          </a:prstGeom>
          <a:noFill/>
          <a:ln/>
        </p:spPr>
        <p:txBody>
          <a:bodyPr wrap="square" lIns="0" tIns="0" rIns="0" bIns="0" rtlCol="0" anchor="t"/>
          <a:lstStyle/>
          <a:p>
            <a:pPr indent="0" marL="0">
              <a:buNone/>
            </a:pPr>
            <a:r>
              <a:rPr lang="en-US" sz="1200" dirty="0">
                <a:solidFill>
                  <a:schemeClr val="tx2"/>
                </a:solidFill>
              </a:rPr>
              <a:t>→ "They only need the OTP" poster</a:t>
            </a:r>
            <a:endParaRPr lang="en-US" sz="1200" dirty="0"/>
          </a:p>
        </p:txBody>
      </p:sp>
      <p:sp>
        <p:nvSpPr>
          <p:cNvPr id="27" name="chip"/>
          <p:cNvSpPr txBox="1"/>
          <p:nvPr/>
        </p:nvSpPr>
        <p:spPr>
          <a:xfrm>
            <a:off x="3977640" y="5458968"/>
            <a:ext cx="1371600" cy="420624"/>
          </a:xfrm>
          <a:prstGeom prst="roundRect">
            <a:avLst>
              <a:gd name="adj" fmla="val 108696"/>
            </a:avLst>
          </a:prstGeom>
          <a:solidFill>
            <a:schemeClr val="accent5"/>
          </a:solidFill>
          <a:ln/>
        </p:spPr>
        <p:txBody>
          <a:bodyPr wrap="square" lIns="0" tIns="101600" rIns="101600" bIns="0" rtlCol="0" anchor="ctr"/>
          <a:lstStyle/>
          <a:p>
            <a:pPr algn="ctr" indent="0" marL="0">
              <a:buNone/>
            </a:pPr>
            <a:r>
              <a:rPr lang="en-US" sz="1100" b="1" dirty="0">
                <a:solidFill>
                  <a:schemeClr val="tx1"/>
                </a:solidFill>
              </a:rPr>
              <a:t>7 Friend's code</a:t>
            </a:r>
            <a:endParaRPr lang="en-US" sz="1100" dirty="0"/>
          </a:p>
        </p:txBody>
      </p:sp>
      <p:sp>
        <p:nvSpPr>
          <p:cNvPr id="28" name="chip"/>
          <p:cNvSpPr txBox="1"/>
          <p:nvPr/>
        </p:nvSpPr>
        <p:spPr>
          <a:xfrm>
            <a:off x="5440680" y="5458968"/>
            <a:ext cx="1371600" cy="420624"/>
          </a:xfrm>
          <a:prstGeom prst="roundRect">
            <a:avLst>
              <a:gd name="adj" fmla="val 108696"/>
            </a:avLst>
          </a:prstGeom>
          <a:solidFill>
            <a:schemeClr val="accent5"/>
          </a:solidFill>
          <a:ln/>
        </p:spPr>
        <p:txBody>
          <a:bodyPr wrap="square" lIns="0" tIns="101600" rIns="101600" bIns="0" rtlCol="0" anchor="ctr"/>
          <a:lstStyle/>
          <a:p>
            <a:pPr algn="ctr" indent="0" marL="0">
              <a:buNone/>
            </a:pPr>
            <a:r>
              <a:rPr lang="en-US" sz="1100" b="1" dirty="0">
                <a:solidFill>
                  <a:schemeClr val="tx1"/>
                </a:solidFill>
              </a:rPr>
              <a:t>8 Lecturer gift card</a:t>
            </a:r>
            <a:endParaRPr lang="en-US" sz="1100" dirty="0"/>
          </a:p>
        </p:txBody>
      </p:sp>
      <p:sp>
        <p:nvSpPr>
          <p:cNvPr id="29" name="Text 27"/>
          <p:cNvSpPr txBox="1"/>
          <p:nvPr/>
        </p:nvSpPr>
        <p:spPr>
          <a:xfrm>
            <a:off x="7360920" y="1280160"/>
            <a:ext cx="4297680" cy="365760"/>
          </a:xfrm>
          <a:prstGeom prst="rect">
            <a:avLst/>
          </a:prstGeom>
          <a:noFill/>
          <a:ln/>
        </p:spPr>
        <p:txBody>
          <a:bodyPr wrap="square" lIns="0" tIns="0" rIns="0" bIns="0" rtlCol="0" anchor="t"/>
          <a:lstStyle/>
          <a:p>
            <a:pPr indent="0" marL="0">
              <a:buNone/>
            </a:pPr>
            <a:r>
              <a:rPr lang="en-US" sz="1700" b="1" dirty="0">
                <a:solidFill>
                  <a:schemeClr val="accent3"/>
                </a:solidFill>
              </a:rPr>
              <a:t>How each item was chosen</a:t>
            </a:r>
            <a:endParaRPr lang="en-US" sz="1700" dirty="0"/>
          </a:p>
        </p:txBody>
      </p:sp>
      <p:sp>
        <p:nvSpPr>
          <p:cNvPr id="30" name="rule-number"/>
          <p:cNvSpPr txBox="1"/>
          <p:nvPr/>
        </p:nvSpPr>
        <p:spPr>
          <a:xfrm>
            <a:off x="7360920" y="1755648"/>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tx1"/>
                </a:solidFill>
              </a:rPr>
              <a:t>1</a:t>
            </a:r>
            <a:endParaRPr lang="en-US" sz="1300" dirty="0"/>
          </a:p>
        </p:txBody>
      </p:sp>
      <p:sp>
        <p:nvSpPr>
          <p:cNvPr id="31" name="Text 29"/>
          <p:cNvSpPr txBox="1"/>
          <p:nvPr/>
        </p:nvSpPr>
        <p:spPr>
          <a:xfrm>
            <a:off x="7882128" y="1737360"/>
            <a:ext cx="3749040" cy="310896"/>
          </a:xfrm>
          <a:prstGeom prst="rect">
            <a:avLst/>
          </a:prstGeom>
          <a:noFill/>
          <a:ln/>
        </p:spPr>
        <p:txBody>
          <a:bodyPr wrap="square" lIns="0" tIns="0" rIns="0" bIns="0" rtlCol="0" anchor="t"/>
          <a:lstStyle/>
          <a:p>
            <a:pPr indent="0" marL="0">
              <a:buNone/>
            </a:pPr>
            <a:r>
              <a:rPr lang="en-US" sz="1500" b="1" dirty="0">
                <a:solidFill>
                  <a:schemeClr val="tx1"/>
                </a:solidFill>
              </a:rPr>
              <a:t>The attacks students actually get</a:t>
            </a:r>
            <a:endParaRPr lang="en-US" sz="1500" dirty="0"/>
          </a:p>
        </p:txBody>
      </p:sp>
      <p:sp>
        <p:nvSpPr>
          <p:cNvPr id="32" name="Text 30"/>
          <p:cNvSpPr txBox="1"/>
          <p:nvPr/>
        </p:nvSpPr>
        <p:spPr>
          <a:xfrm>
            <a:off x="7882128" y="2048256"/>
            <a:ext cx="3749040" cy="502920"/>
          </a:xfrm>
          <a:prstGeom prst="rect">
            <a:avLst/>
          </a:prstGeom>
          <a:noFill/>
          <a:ln/>
        </p:spPr>
        <p:txBody>
          <a:bodyPr wrap="square" lIns="0" tIns="0" rIns="0" bIns="0" rtlCol="0" anchor="t"/>
          <a:lstStyle/>
          <a:p>
            <a:pPr indent="0" marL="0">
              <a:buNone/>
            </a:pPr>
            <a:r>
              <a:rPr lang="en-US" sz="1300" dirty="0">
                <a:solidFill>
                  <a:schemeClr val="tx2"/>
                </a:solidFill>
              </a:rPr>
              <a:t>Every scenario copies a real email, text, DM or QR sticker</a:t>
            </a:r>
            <a:endParaRPr lang="en-US" sz="1300" dirty="0"/>
          </a:p>
        </p:txBody>
      </p:sp>
      <p:sp>
        <p:nvSpPr>
          <p:cNvPr id="33" name="rule-number"/>
          <p:cNvSpPr txBox="1"/>
          <p:nvPr/>
        </p:nvSpPr>
        <p:spPr>
          <a:xfrm>
            <a:off x="7360920" y="2651760"/>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tx1"/>
                </a:solidFill>
              </a:rPr>
              <a:t>2</a:t>
            </a:r>
            <a:endParaRPr lang="en-US" sz="1300" dirty="0"/>
          </a:p>
        </p:txBody>
      </p:sp>
      <p:sp>
        <p:nvSpPr>
          <p:cNvPr id="34" name="Text 32"/>
          <p:cNvSpPr txBox="1"/>
          <p:nvPr/>
        </p:nvSpPr>
        <p:spPr>
          <a:xfrm>
            <a:off x="7882128" y="2633472"/>
            <a:ext cx="3749040" cy="310896"/>
          </a:xfrm>
          <a:prstGeom prst="rect">
            <a:avLst/>
          </a:prstGeom>
          <a:noFill/>
          <a:ln/>
        </p:spPr>
        <p:txBody>
          <a:bodyPr wrap="square" lIns="0" tIns="0" rIns="0" bIns="0" rtlCol="0" anchor="t"/>
          <a:lstStyle/>
          <a:p>
            <a:pPr indent="0" marL="0">
              <a:buNone/>
            </a:pPr>
            <a:r>
              <a:rPr lang="en-US" sz="1500" b="1" dirty="0">
                <a:solidFill>
                  <a:schemeClr val="tx1"/>
                </a:solidFill>
              </a:rPr>
              <a:t>Tests an action, not a definition</a:t>
            </a:r>
            <a:endParaRPr lang="en-US" sz="1500" dirty="0"/>
          </a:p>
        </p:txBody>
      </p:sp>
      <p:sp>
        <p:nvSpPr>
          <p:cNvPr id="35" name="Text 33"/>
          <p:cNvSpPr txBox="1"/>
          <p:nvPr/>
        </p:nvSpPr>
        <p:spPr>
          <a:xfrm>
            <a:off x="7882128" y="2944368"/>
            <a:ext cx="3749040" cy="502920"/>
          </a:xfrm>
          <a:prstGeom prst="rect">
            <a:avLst/>
          </a:prstGeom>
          <a:noFill/>
          <a:ln/>
        </p:spPr>
        <p:txBody>
          <a:bodyPr wrap="square" lIns="0" tIns="0" rIns="0" bIns="0" rtlCol="0" anchor="t"/>
          <a:lstStyle/>
          <a:p>
            <a:pPr indent="0" marL="0">
              <a:buNone/>
            </a:pPr>
            <a:r>
              <a:rPr lang="en-US" sz="1300" dirty="0">
                <a:solidFill>
                  <a:schemeClr val="tx2"/>
                </a:solidFill>
              </a:rPr>
              <a:t>"What should you do?", with one defensible best answer</a:t>
            </a:r>
            <a:endParaRPr lang="en-US" sz="1300" dirty="0"/>
          </a:p>
        </p:txBody>
      </p:sp>
      <p:sp>
        <p:nvSpPr>
          <p:cNvPr id="36" name="rule-number"/>
          <p:cNvSpPr txBox="1"/>
          <p:nvPr/>
        </p:nvSpPr>
        <p:spPr>
          <a:xfrm>
            <a:off x="7360920" y="3547872"/>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37" name="Text 35"/>
          <p:cNvSpPr txBox="1"/>
          <p:nvPr/>
        </p:nvSpPr>
        <p:spPr>
          <a:xfrm>
            <a:off x="7882128" y="3529584"/>
            <a:ext cx="3749040" cy="310896"/>
          </a:xfrm>
          <a:prstGeom prst="rect">
            <a:avLst/>
          </a:prstGeom>
          <a:noFill/>
          <a:ln/>
        </p:spPr>
        <p:txBody>
          <a:bodyPr wrap="square" lIns="0" tIns="0" rIns="0" bIns="0" rtlCol="0" anchor="t"/>
          <a:lstStyle/>
          <a:p>
            <a:pPr indent="0" marL="0">
              <a:buNone/>
            </a:pPr>
            <a:r>
              <a:rPr lang="en-US" sz="1500" b="1" dirty="0">
                <a:solidFill>
                  <a:schemeClr val="tx1"/>
                </a:solidFill>
              </a:rPr>
              <a:t>Wrong answers are diagnostic</a:t>
            </a:r>
            <a:endParaRPr lang="en-US" sz="1500" dirty="0"/>
          </a:p>
        </p:txBody>
      </p:sp>
      <p:sp>
        <p:nvSpPr>
          <p:cNvPr id="38" name="Text 36"/>
          <p:cNvSpPr txBox="1"/>
          <p:nvPr/>
        </p:nvSpPr>
        <p:spPr>
          <a:xfrm>
            <a:off x="7882128" y="3840480"/>
            <a:ext cx="3749040" cy="502920"/>
          </a:xfrm>
          <a:prstGeom prst="rect">
            <a:avLst/>
          </a:prstGeom>
          <a:noFill/>
          <a:ln/>
        </p:spPr>
        <p:txBody>
          <a:bodyPr wrap="square" lIns="0" tIns="0" rIns="0" bIns="0" rtlCol="0" anchor="t"/>
          <a:lstStyle/>
          <a:p>
            <a:pPr indent="0" marL="0">
              <a:buNone/>
            </a:pPr>
            <a:r>
              <a:rPr lang="en-US" sz="1300" dirty="0">
                <a:solidFill>
                  <a:schemeClr val="tx2"/>
                </a:solidFill>
              </a:rPr>
              <a:t>Each distractor is a real misconception, e.g. "padlock = safe"</a:t>
            </a:r>
            <a:endParaRPr lang="en-US" sz="1300" dirty="0"/>
          </a:p>
        </p:txBody>
      </p:sp>
      <p:sp>
        <p:nvSpPr>
          <p:cNvPr id="39" name="rule-number"/>
          <p:cNvSpPr txBox="1"/>
          <p:nvPr/>
        </p:nvSpPr>
        <p:spPr>
          <a:xfrm>
            <a:off x="7360920" y="4443984"/>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tx1"/>
                </a:solidFill>
              </a:rPr>
              <a:t>4</a:t>
            </a:r>
            <a:endParaRPr lang="en-US" sz="1300" dirty="0"/>
          </a:p>
        </p:txBody>
      </p:sp>
      <p:sp>
        <p:nvSpPr>
          <p:cNvPr id="40" name="Text 38"/>
          <p:cNvSpPr txBox="1"/>
          <p:nvPr/>
        </p:nvSpPr>
        <p:spPr>
          <a:xfrm>
            <a:off x="7882128" y="4425696"/>
            <a:ext cx="3749040" cy="310896"/>
          </a:xfrm>
          <a:prstGeom prst="rect">
            <a:avLst/>
          </a:prstGeom>
          <a:noFill/>
          <a:ln/>
        </p:spPr>
        <p:txBody>
          <a:bodyPr wrap="square" lIns="0" tIns="0" rIns="0" bIns="0" rtlCol="0" anchor="t"/>
          <a:lstStyle/>
          <a:p>
            <a:pPr indent="0" marL="0">
              <a:buNone/>
            </a:pPr>
            <a:r>
              <a:rPr lang="en-US" sz="1500" b="1" dirty="0">
                <a:solidFill>
                  <a:schemeClr val="tx1"/>
                </a:solidFill>
              </a:rPr>
              <a:t>Fair to everyone</a:t>
            </a:r>
            <a:endParaRPr lang="en-US" sz="1500" dirty="0"/>
          </a:p>
        </p:txBody>
      </p:sp>
      <p:sp>
        <p:nvSpPr>
          <p:cNvPr id="41" name="Text 39"/>
          <p:cNvSpPr txBox="1"/>
          <p:nvPr/>
        </p:nvSpPr>
        <p:spPr>
          <a:xfrm>
            <a:off x="7882128" y="4736592"/>
            <a:ext cx="3749040" cy="502920"/>
          </a:xfrm>
          <a:prstGeom prst="rect">
            <a:avLst/>
          </a:prstGeom>
          <a:noFill/>
          <a:ln/>
        </p:spPr>
        <p:txBody>
          <a:bodyPr wrap="square" lIns="0" tIns="0" rIns="0" bIns="0" rtlCol="0" anchor="t"/>
          <a:lstStyle/>
          <a:p>
            <a:pPr indent="0" marL="0">
              <a:buNone/>
            </a:pPr>
            <a:r>
              <a:rPr lang="en-US" sz="1300" dirty="0">
                <a:solidFill>
                  <a:schemeClr val="tx2"/>
                </a:solidFill>
              </a:rPr>
              <a:t>No jargon, no leading cues, balanced option lengths, an "I'm not sure" option</a:t>
            </a:r>
            <a:endParaRPr lang="en-US" sz="1300" dirty="0"/>
          </a:p>
        </p:txBody>
      </p:sp>
      <p:sp>
        <p:nvSpPr>
          <p:cNvPr id="42" name="rule-number"/>
          <p:cNvSpPr txBox="1"/>
          <p:nvPr/>
        </p:nvSpPr>
        <p:spPr>
          <a:xfrm>
            <a:off x="7360920" y="5340096"/>
            <a:ext cx="384048" cy="38404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tx1"/>
                </a:solidFill>
              </a:rPr>
              <a:t>5</a:t>
            </a:r>
            <a:endParaRPr lang="en-US" sz="1300" dirty="0"/>
          </a:p>
        </p:txBody>
      </p:sp>
      <p:sp>
        <p:nvSpPr>
          <p:cNvPr id="43" name="Text 41"/>
          <p:cNvSpPr txBox="1"/>
          <p:nvPr/>
        </p:nvSpPr>
        <p:spPr>
          <a:xfrm>
            <a:off x="7882128" y="5321808"/>
            <a:ext cx="3749040" cy="310896"/>
          </a:xfrm>
          <a:prstGeom prst="rect">
            <a:avLst/>
          </a:prstGeom>
          <a:noFill/>
          <a:ln/>
        </p:spPr>
        <p:txBody>
          <a:bodyPr wrap="square" lIns="0" tIns="0" rIns="0" bIns="0" rtlCol="0" anchor="t"/>
          <a:lstStyle/>
          <a:p>
            <a:pPr indent="0" marL="0">
              <a:buNone/>
            </a:pPr>
            <a:r>
              <a:rPr lang="en-US" sz="1500" b="1" dirty="0">
                <a:solidFill>
                  <a:schemeClr val="tx1"/>
                </a:solidFill>
              </a:rPr>
              <a:t>The same items PRE and POST</a:t>
            </a:r>
            <a:endParaRPr lang="en-US" sz="1500" dirty="0"/>
          </a:p>
        </p:txBody>
      </p:sp>
      <p:sp>
        <p:nvSpPr>
          <p:cNvPr id="44" name="Text 42"/>
          <p:cNvSpPr txBox="1"/>
          <p:nvPr/>
        </p:nvSpPr>
        <p:spPr>
          <a:xfrm>
            <a:off x="7882128" y="5632704"/>
            <a:ext cx="3749040" cy="502920"/>
          </a:xfrm>
          <a:prstGeom prst="rect">
            <a:avLst/>
          </a:prstGeom>
          <a:noFill/>
          <a:ln/>
        </p:spPr>
        <p:txBody>
          <a:bodyPr wrap="square" lIns="0" tIns="0" rIns="0" bIns="0" rtlCol="0" anchor="t"/>
          <a:lstStyle/>
          <a:p>
            <a:pPr indent="0" marL="0">
              <a:buNone/>
            </a:pPr>
            <a:r>
              <a:rPr lang="en-US" sz="1300" dirty="0">
                <a:solidFill>
                  <a:schemeClr val="tx2"/>
                </a:solidFill>
              </a:rPr>
              <a:t>The most defensible comparison at n ≈ 30; options shuffled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Every question targets a human trait</a:t>
            </a:r>
            <a:endParaRPr lang="en-US" sz="3400" dirty="0"/>
          </a:p>
        </p:txBody>
      </p:sp>
      <p:sp>
        <p:nvSpPr>
          <p:cNvPr id="3" name="card"/>
          <p:cNvSpPr/>
          <p:nvPr/>
        </p:nvSpPr>
        <p:spPr>
          <a:xfrm>
            <a:off x="548640" y="1371600"/>
            <a:ext cx="3575304" cy="1719072"/>
          </a:xfrm>
          <a:prstGeom prst="roundRect">
            <a:avLst>
              <a:gd name="adj" fmla="val 5319"/>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4" name="icon-bg-clock"/>
          <p:cNvSpPr/>
          <p:nvPr/>
        </p:nvSpPr>
        <p:spPr>
          <a:xfrm>
            <a:off x="777240" y="1600200"/>
            <a:ext cx="548640" cy="548640"/>
          </a:xfrm>
          <a:prstGeom prst="ellipse">
            <a:avLst/>
          </a:prstGeom>
          <a:solidFill>
            <a:schemeClr val="accent2">
              <a:alpha val="18000"/>
            </a:schemeClr>
          </a:solidFill>
          <a:ln/>
        </p:spPr>
      </p:sp>
      <p:pic>
        <p:nvPicPr>
          <p:cNvPr id="5" name="icon-clock" descr="preencoded.png">    </p:cNvPr>
          <p:cNvPicPr>
            <a:picLocks noChangeAspect="1"/>
          </p:cNvPicPr>
          <p:nvPr/>
        </p:nvPicPr>
        <p:blipFill>
          <a:blip r:embed="rId1"/>
          <a:stretch>
            <a:fillRect/>
          </a:stretch>
        </p:blipFill>
        <p:spPr>
          <a:xfrm>
            <a:off x="897941" y="1720901"/>
            <a:ext cx="307238" cy="307238"/>
          </a:xfrm>
          <a:prstGeom prst="rect">
            <a:avLst/>
          </a:prstGeom>
        </p:spPr>
      </p:pic>
      <p:sp>
        <p:nvSpPr>
          <p:cNvPr id="6" name="Text 3"/>
          <p:cNvSpPr txBox="1"/>
          <p:nvPr/>
        </p:nvSpPr>
        <p:spPr>
          <a:xfrm>
            <a:off x="1463040" y="1627632"/>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Urgency &amp; fear</a:t>
            </a:r>
            <a:endParaRPr lang="en-US" sz="1800" dirty="0"/>
          </a:p>
        </p:txBody>
      </p:sp>
      <p:sp>
        <p:nvSpPr>
          <p:cNvPr id="7" name="Text 4"/>
          <p:cNvSpPr txBox="1"/>
          <p:nvPr/>
        </p:nvSpPr>
        <p:spPr>
          <a:xfrm>
            <a:off x="777240" y="2267712"/>
            <a:ext cx="3200400" cy="292608"/>
          </a:xfrm>
          <a:prstGeom prst="rect">
            <a:avLst/>
          </a:prstGeom>
          <a:noFill/>
          <a:ln/>
        </p:spPr>
        <p:txBody>
          <a:bodyPr wrap="square" lIns="0" tIns="0" rIns="0" bIns="0" rtlCol="0" anchor="t"/>
          <a:lstStyle/>
          <a:p>
            <a:pPr indent="0" marL="0">
              <a:buNone/>
            </a:pPr>
            <a:r>
              <a:rPr lang="en-US" sz="1200" b="1" dirty="0">
                <a:solidFill>
                  <a:schemeClr val="accent2"/>
                </a:solidFill>
              </a:rPr>
              <a:t>Q1 Suspension email · Q5 Parcel fee</a:t>
            </a:r>
            <a:endParaRPr lang="en-US" sz="1200" dirty="0"/>
          </a:p>
        </p:txBody>
      </p:sp>
      <p:sp>
        <p:nvSpPr>
          <p:cNvPr id="8" name="Text 5"/>
          <p:cNvSpPr txBox="1"/>
          <p:nvPr/>
        </p:nvSpPr>
        <p:spPr>
          <a:xfrm>
            <a:off x="777240" y="2578608"/>
            <a:ext cx="3200400" cy="457200"/>
          </a:xfrm>
          <a:prstGeom prst="rect">
            <a:avLst/>
          </a:prstGeom>
          <a:noFill/>
          <a:ln/>
        </p:spPr>
        <p:txBody>
          <a:bodyPr wrap="square" lIns="0" tIns="0" rIns="0" bIns="0" rtlCol="0" anchor="t"/>
          <a:lstStyle/>
          <a:p>
            <a:pPr indent="0" marL="0">
              <a:buNone/>
            </a:pPr>
            <a:r>
              <a:rPr lang="en-US" sz="1300" dirty="0">
                <a:solidFill>
                  <a:schemeClr val="tx2"/>
                </a:solidFill>
              </a:rPr>
              <a:t>Pressure and deadlines cut careful thinking short</a:t>
            </a:r>
            <a:endParaRPr lang="en-US" sz="1300" dirty="0"/>
          </a:p>
        </p:txBody>
      </p:sp>
      <p:sp>
        <p:nvSpPr>
          <p:cNvPr id="9" name="card"/>
          <p:cNvSpPr/>
          <p:nvPr/>
        </p:nvSpPr>
        <p:spPr>
          <a:xfrm>
            <a:off x="4306824" y="1371600"/>
            <a:ext cx="3575304" cy="1719072"/>
          </a:xfrm>
          <a:prstGeom prst="roundRect">
            <a:avLst>
              <a:gd name="adj" fmla="val 5319"/>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10" name="icon-bg-shield"/>
          <p:cNvSpPr/>
          <p:nvPr/>
        </p:nvSpPr>
        <p:spPr>
          <a:xfrm>
            <a:off x="4535424" y="1600200"/>
            <a:ext cx="548640" cy="548640"/>
          </a:xfrm>
          <a:prstGeom prst="ellipse">
            <a:avLst/>
          </a:prstGeom>
          <a:solidFill>
            <a:schemeClr val="accent4">
              <a:alpha val="18000"/>
            </a:schemeClr>
          </a:solidFill>
          <a:ln/>
        </p:spPr>
      </p:sp>
      <p:pic>
        <p:nvPicPr>
          <p:cNvPr id="11" name="icon-shield" descr="preencoded.png">    </p:cNvPr>
          <p:cNvPicPr>
            <a:picLocks noChangeAspect="1"/>
          </p:cNvPicPr>
          <p:nvPr/>
        </p:nvPicPr>
        <p:blipFill>
          <a:blip r:embed="rId2"/>
          <a:stretch>
            <a:fillRect/>
          </a:stretch>
        </p:blipFill>
        <p:spPr>
          <a:xfrm>
            <a:off x="4656125" y="1720901"/>
            <a:ext cx="307238" cy="307238"/>
          </a:xfrm>
          <a:prstGeom prst="rect">
            <a:avLst/>
          </a:prstGeom>
        </p:spPr>
      </p:pic>
      <p:sp>
        <p:nvSpPr>
          <p:cNvPr id="12" name="Text 8"/>
          <p:cNvSpPr txBox="1"/>
          <p:nvPr/>
        </p:nvSpPr>
        <p:spPr>
          <a:xfrm>
            <a:off x="5221224" y="1627632"/>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Authority</a:t>
            </a:r>
            <a:endParaRPr lang="en-US" sz="1800" dirty="0"/>
          </a:p>
        </p:txBody>
      </p:sp>
      <p:sp>
        <p:nvSpPr>
          <p:cNvPr id="13" name="Text 9"/>
          <p:cNvSpPr txBox="1"/>
          <p:nvPr/>
        </p:nvSpPr>
        <p:spPr>
          <a:xfrm>
            <a:off x="4535424" y="2267712"/>
            <a:ext cx="3200400" cy="292608"/>
          </a:xfrm>
          <a:prstGeom prst="rect">
            <a:avLst/>
          </a:prstGeom>
          <a:noFill/>
          <a:ln/>
        </p:spPr>
        <p:txBody>
          <a:bodyPr wrap="square" lIns="0" tIns="0" rIns="0" bIns="0" rtlCol="0" anchor="t"/>
          <a:lstStyle/>
          <a:p>
            <a:pPr indent="0" marL="0">
              <a:buNone/>
            </a:pPr>
            <a:r>
              <a:rPr lang="en-US" sz="1200" b="1" dirty="0">
                <a:solidFill>
                  <a:schemeClr val="accent4"/>
                </a:solidFill>
              </a:rPr>
              <a:t>Q6 Fake IT call · Q8 Lecturer gift card</a:t>
            </a:r>
            <a:endParaRPr lang="en-US" sz="1200" dirty="0"/>
          </a:p>
        </p:txBody>
      </p:sp>
      <p:sp>
        <p:nvSpPr>
          <p:cNvPr id="14" name="Text 10"/>
          <p:cNvSpPr txBox="1"/>
          <p:nvPr/>
        </p:nvSpPr>
        <p:spPr>
          <a:xfrm>
            <a:off x="4535424" y="2578608"/>
            <a:ext cx="3200400" cy="457200"/>
          </a:xfrm>
          <a:prstGeom prst="rect">
            <a:avLst/>
          </a:prstGeom>
          <a:noFill/>
          <a:ln/>
        </p:spPr>
        <p:txBody>
          <a:bodyPr wrap="square" lIns="0" tIns="0" rIns="0" bIns="0" rtlCol="0" anchor="t"/>
          <a:lstStyle/>
          <a:p>
            <a:pPr indent="0" marL="0">
              <a:buNone/>
            </a:pPr>
            <a:r>
              <a:rPr lang="en-US" sz="1300" dirty="0">
                <a:solidFill>
                  <a:schemeClr val="tx2"/>
                </a:solidFill>
              </a:rPr>
              <a:t>We comply with people who seem to be in charge</a:t>
            </a:r>
            <a:endParaRPr lang="en-US" sz="1300" dirty="0"/>
          </a:p>
        </p:txBody>
      </p:sp>
      <p:sp>
        <p:nvSpPr>
          <p:cNvPr id="15" name="card"/>
          <p:cNvSpPr/>
          <p:nvPr/>
        </p:nvSpPr>
        <p:spPr>
          <a:xfrm>
            <a:off x="8065008" y="1371600"/>
            <a:ext cx="3575304" cy="1719072"/>
          </a:xfrm>
          <a:prstGeom prst="roundRect">
            <a:avLst>
              <a:gd name="adj" fmla="val 5319"/>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16" name="icon-bg-users"/>
          <p:cNvSpPr/>
          <p:nvPr/>
        </p:nvSpPr>
        <p:spPr>
          <a:xfrm>
            <a:off x="8293608" y="1600200"/>
            <a:ext cx="548640" cy="548640"/>
          </a:xfrm>
          <a:prstGeom prst="ellipse">
            <a:avLst/>
          </a:prstGeom>
          <a:solidFill>
            <a:schemeClr val="accent3">
              <a:alpha val="18000"/>
            </a:schemeClr>
          </a:solidFill>
          <a:ln/>
        </p:spPr>
      </p:sp>
      <p:pic>
        <p:nvPicPr>
          <p:cNvPr id="17" name="icon-users" descr="preencoded.png">    </p:cNvPr>
          <p:cNvPicPr>
            <a:picLocks noChangeAspect="1"/>
          </p:cNvPicPr>
          <p:nvPr/>
        </p:nvPicPr>
        <p:blipFill>
          <a:blip r:embed="rId3"/>
          <a:stretch>
            <a:fillRect/>
          </a:stretch>
        </p:blipFill>
        <p:spPr>
          <a:xfrm>
            <a:off x="8414309" y="1720901"/>
            <a:ext cx="307238" cy="307238"/>
          </a:xfrm>
          <a:prstGeom prst="rect">
            <a:avLst/>
          </a:prstGeom>
        </p:spPr>
      </p:pic>
      <p:sp>
        <p:nvSpPr>
          <p:cNvPr id="18" name="Text 13"/>
          <p:cNvSpPr txBox="1"/>
          <p:nvPr/>
        </p:nvSpPr>
        <p:spPr>
          <a:xfrm>
            <a:off x="8979408" y="1627632"/>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Social trust</a:t>
            </a:r>
            <a:endParaRPr lang="en-US" sz="1800" dirty="0"/>
          </a:p>
        </p:txBody>
      </p:sp>
      <p:sp>
        <p:nvSpPr>
          <p:cNvPr id="19" name="Text 14"/>
          <p:cNvSpPr txBox="1"/>
          <p:nvPr/>
        </p:nvSpPr>
        <p:spPr>
          <a:xfrm>
            <a:off x="8293608" y="2267712"/>
            <a:ext cx="3200400" cy="292608"/>
          </a:xfrm>
          <a:prstGeom prst="rect">
            <a:avLst/>
          </a:prstGeom>
          <a:noFill/>
          <a:ln/>
        </p:spPr>
        <p:txBody>
          <a:bodyPr wrap="square" lIns="0" tIns="0" rIns="0" bIns="0" rtlCol="0" anchor="t"/>
          <a:lstStyle/>
          <a:p>
            <a:pPr indent="0" marL="0">
              <a:buNone/>
            </a:pPr>
            <a:r>
              <a:rPr lang="en-US" sz="1200" b="1" dirty="0">
                <a:solidFill>
                  <a:schemeClr val="accent3"/>
                </a:solidFill>
              </a:rPr>
              <a:t>Q7 A friend asks for your code</a:t>
            </a:r>
            <a:endParaRPr lang="en-US" sz="1200" dirty="0"/>
          </a:p>
        </p:txBody>
      </p:sp>
      <p:sp>
        <p:nvSpPr>
          <p:cNvPr id="20" name="Text 15"/>
          <p:cNvSpPr txBox="1"/>
          <p:nvPr/>
        </p:nvSpPr>
        <p:spPr>
          <a:xfrm>
            <a:off x="8293608" y="2578608"/>
            <a:ext cx="3200400" cy="457200"/>
          </a:xfrm>
          <a:prstGeom prst="rect">
            <a:avLst/>
          </a:prstGeom>
          <a:noFill/>
          <a:ln/>
        </p:spPr>
        <p:txBody>
          <a:bodyPr wrap="square" lIns="0" tIns="0" rIns="0" bIns="0" rtlCol="0" anchor="t"/>
          <a:lstStyle/>
          <a:p>
            <a:pPr indent="0" marL="0">
              <a:buNone/>
            </a:pPr>
            <a:r>
              <a:rPr lang="en-US" sz="1300" dirty="0">
                <a:solidFill>
                  <a:schemeClr val="tx2"/>
                </a:solidFill>
              </a:rPr>
              <a:t>We help people we know, even when it's a hijacked account</a:t>
            </a:r>
            <a:endParaRPr lang="en-US" sz="1300" dirty="0"/>
          </a:p>
        </p:txBody>
      </p:sp>
      <p:sp>
        <p:nvSpPr>
          <p:cNvPr id="21" name="card"/>
          <p:cNvSpPr/>
          <p:nvPr/>
        </p:nvSpPr>
        <p:spPr>
          <a:xfrm>
            <a:off x="548640" y="3273552"/>
            <a:ext cx="3575304" cy="1719072"/>
          </a:xfrm>
          <a:prstGeom prst="roundRect">
            <a:avLst>
              <a:gd name="adj" fmla="val 5319"/>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22" name="icon-bg-lock"/>
          <p:cNvSpPr/>
          <p:nvPr/>
        </p:nvSpPr>
        <p:spPr>
          <a:xfrm>
            <a:off x="777240" y="3502152"/>
            <a:ext cx="548640" cy="548640"/>
          </a:xfrm>
          <a:prstGeom prst="ellipse">
            <a:avLst/>
          </a:prstGeom>
          <a:solidFill>
            <a:schemeClr val="accent2">
              <a:alpha val="18000"/>
            </a:schemeClr>
          </a:solidFill>
          <a:ln/>
        </p:spPr>
      </p:sp>
      <p:pic>
        <p:nvPicPr>
          <p:cNvPr id="23" name="icon-lock" descr="preencoded.png">    </p:cNvPr>
          <p:cNvPicPr>
            <a:picLocks noChangeAspect="1"/>
          </p:cNvPicPr>
          <p:nvPr/>
        </p:nvPicPr>
        <p:blipFill>
          <a:blip r:embed="rId4"/>
          <a:stretch>
            <a:fillRect/>
          </a:stretch>
        </p:blipFill>
        <p:spPr>
          <a:xfrm>
            <a:off x="897941" y="3622853"/>
            <a:ext cx="307238" cy="307238"/>
          </a:xfrm>
          <a:prstGeom prst="rect">
            <a:avLst/>
          </a:prstGeom>
        </p:spPr>
      </p:pic>
      <p:sp>
        <p:nvSpPr>
          <p:cNvPr id="24" name="Text 18"/>
          <p:cNvSpPr txBox="1"/>
          <p:nvPr/>
        </p:nvSpPr>
        <p:spPr>
          <a:xfrm>
            <a:off x="1463040" y="3529584"/>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Trust in familiar cues</a:t>
            </a:r>
            <a:endParaRPr lang="en-US" sz="1800" dirty="0"/>
          </a:p>
        </p:txBody>
      </p:sp>
      <p:sp>
        <p:nvSpPr>
          <p:cNvPr id="25" name="Text 19"/>
          <p:cNvSpPr txBox="1"/>
          <p:nvPr/>
        </p:nvSpPr>
        <p:spPr>
          <a:xfrm>
            <a:off x="777240" y="4169664"/>
            <a:ext cx="3200400" cy="292608"/>
          </a:xfrm>
          <a:prstGeom prst="rect">
            <a:avLst/>
          </a:prstGeom>
          <a:noFill/>
          <a:ln/>
        </p:spPr>
        <p:txBody>
          <a:bodyPr wrap="square" lIns="0" tIns="0" rIns="0" bIns="0" rtlCol="0" anchor="t"/>
          <a:lstStyle/>
          <a:p>
            <a:pPr indent="0" marL="0">
              <a:buNone/>
            </a:pPr>
            <a:r>
              <a:rPr lang="en-US" sz="1200" b="1" dirty="0">
                <a:solidFill>
                  <a:schemeClr val="accent2"/>
                </a:solidFill>
              </a:rPr>
              <a:t>Q3 The padlock · Q9 QR sticker on a meter</a:t>
            </a:r>
            <a:endParaRPr lang="en-US" sz="1200" dirty="0"/>
          </a:p>
        </p:txBody>
      </p:sp>
      <p:sp>
        <p:nvSpPr>
          <p:cNvPr id="26" name="Text 20"/>
          <p:cNvSpPr txBox="1"/>
          <p:nvPr/>
        </p:nvSpPr>
        <p:spPr>
          <a:xfrm>
            <a:off x="777240" y="4480560"/>
            <a:ext cx="3200400" cy="457200"/>
          </a:xfrm>
          <a:prstGeom prst="rect">
            <a:avLst/>
          </a:prstGeom>
          <a:noFill/>
          <a:ln/>
        </p:spPr>
        <p:txBody>
          <a:bodyPr wrap="square" lIns="0" tIns="0" rIns="0" bIns="0" rtlCol="0" anchor="t"/>
          <a:lstStyle/>
          <a:p>
            <a:pPr indent="0" marL="0">
              <a:buNone/>
            </a:pPr>
            <a:r>
              <a:rPr lang="en-US" sz="1300" dirty="0">
                <a:solidFill>
                  <a:schemeClr val="tx2"/>
                </a:solidFill>
              </a:rPr>
              <a:t>Symbols, logos and placement feel safe</a:t>
            </a:r>
            <a:endParaRPr lang="en-US" sz="1300" dirty="0"/>
          </a:p>
        </p:txBody>
      </p:sp>
      <p:sp>
        <p:nvSpPr>
          <p:cNvPr id="27" name="card"/>
          <p:cNvSpPr/>
          <p:nvPr/>
        </p:nvSpPr>
        <p:spPr>
          <a:xfrm>
            <a:off x="4306824" y="3273552"/>
            <a:ext cx="3575304" cy="1719072"/>
          </a:xfrm>
          <a:prstGeom prst="roundRect">
            <a:avLst>
              <a:gd name="adj" fmla="val 5319"/>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28" name="icon-bg-eye"/>
          <p:cNvSpPr/>
          <p:nvPr/>
        </p:nvSpPr>
        <p:spPr>
          <a:xfrm>
            <a:off x="4535424" y="3502152"/>
            <a:ext cx="548640" cy="548640"/>
          </a:xfrm>
          <a:prstGeom prst="ellipse">
            <a:avLst/>
          </a:prstGeom>
          <a:solidFill>
            <a:schemeClr val="accent4">
              <a:alpha val="18000"/>
            </a:schemeClr>
          </a:solidFill>
          <a:ln/>
        </p:spPr>
      </p:sp>
      <p:pic>
        <p:nvPicPr>
          <p:cNvPr id="29" name="icon-eye" descr="preencoded.png">    </p:cNvPr>
          <p:cNvPicPr>
            <a:picLocks noChangeAspect="1"/>
          </p:cNvPicPr>
          <p:nvPr/>
        </p:nvPicPr>
        <p:blipFill>
          <a:blip r:embed="rId5"/>
          <a:stretch>
            <a:fillRect/>
          </a:stretch>
        </p:blipFill>
        <p:spPr>
          <a:xfrm>
            <a:off x="4656125" y="3622853"/>
            <a:ext cx="307238" cy="307238"/>
          </a:xfrm>
          <a:prstGeom prst="rect">
            <a:avLst/>
          </a:prstGeom>
        </p:spPr>
      </p:pic>
      <p:sp>
        <p:nvSpPr>
          <p:cNvPr id="30" name="Text 23"/>
          <p:cNvSpPr txBox="1"/>
          <p:nvPr/>
        </p:nvSpPr>
        <p:spPr>
          <a:xfrm>
            <a:off x="5221224" y="3529584"/>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Attention &amp; habit</a:t>
            </a:r>
            <a:endParaRPr lang="en-US" sz="1800" dirty="0"/>
          </a:p>
        </p:txBody>
      </p:sp>
      <p:sp>
        <p:nvSpPr>
          <p:cNvPr id="31" name="Text 24"/>
          <p:cNvSpPr txBox="1"/>
          <p:nvPr/>
        </p:nvSpPr>
        <p:spPr>
          <a:xfrm>
            <a:off x="4535424" y="4169664"/>
            <a:ext cx="3200400" cy="292608"/>
          </a:xfrm>
          <a:prstGeom prst="rect">
            <a:avLst/>
          </a:prstGeom>
          <a:noFill/>
          <a:ln/>
        </p:spPr>
        <p:txBody>
          <a:bodyPr wrap="square" lIns="0" tIns="0" rIns="0" bIns="0" rtlCol="0" anchor="t"/>
          <a:lstStyle/>
          <a:p>
            <a:pPr indent="0" marL="0">
              <a:buNone/>
            </a:pPr>
            <a:r>
              <a:rPr lang="en-US" sz="1200" b="1" dirty="0">
                <a:solidFill>
                  <a:schemeClr val="accent4"/>
                </a:solidFill>
              </a:rPr>
              <a:t>Q2 Reading a URL · Q4 Warning signs</a:t>
            </a:r>
            <a:endParaRPr lang="en-US" sz="1200" dirty="0"/>
          </a:p>
        </p:txBody>
      </p:sp>
      <p:sp>
        <p:nvSpPr>
          <p:cNvPr id="32" name="Text 25"/>
          <p:cNvSpPr txBox="1"/>
          <p:nvPr/>
        </p:nvSpPr>
        <p:spPr>
          <a:xfrm>
            <a:off x="4535424" y="4480560"/>
            <a:ext cx="3200400" cy="457200"/>
          </a:xfrm>
          <a:prstGeom prst="rect">
            <a:avLst/>
          </a:prstGeom>
          <a:noFill/>
          <a:ln/>
        </p:spPr>
        <p:txBody>
          <a:bodyPr wrap="square" lIns="0" tIns="0" rIns="0" bIns="0" rtlCol="0" anchor="t"/>
          <a:lstStyle/>
          <a:p>
            <a:pPr indent="0" marL="0">
              <a:buNone/>
            </a:pPr>
            <a:r>
              <a:rPr lang="en-US" sz="1300" dirty="0">
                <a:solidFill>
                  <a:schemeClr val="tx2"/>
                </a:solidFill>
              </a:rPr>
              <a:t>We skim, and read what we expect to see</a:t>
            </a:r>
            <a:endParaRPr lang="en-US" sz="1300" dirty="0"/>
          </a:p>
        </p:txBody>
      </p:sp>
      <p:sp>
        <p:nvSpPr>
          <p:cNvPr id="33" name="card"/>
          <p:cNvSpPr/>
          <p:nvPr/>
        </p:nvSpPr>
        <p:spPr>
          <a:xfrm>
            <a:off x="8065008" y="3273552"/>
            <a:ext cx="3575304" cy="1719072"/>
          </a:xfrm>
          <a:prstGeom prst="roundRect">
            <a:avLst>
              <a:gd name="adj" fmla="val 5319"/>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34" name="icon-bg-alert"/>
          <p:cNvSpPr/>
          <p:nvPr/>
        </p:nvSpPr>
        <p:spPr>
          <a:xfrm>
            <a:off x="8293608" y="3502152"/>
            <a:ext cx="548640" cy="548640"/>
          </a:xfrm>
          <a:prstGeom prst="ellipse">
            <a:avLst/>
          </a:prstGeom>
          <a:solidFill>
            <a:schemeClr val="accent3">
              <a:alpha val="18000"/>
            </a:schemeClr>
          </a:solidFill>
          <a:ln/>
        </p:spPr>
      </p:sp>
      <p:pic>
        <p:nvPicPr>
          <p:cNvPr id="35" name="icon-alert" descr="preencoded.png">    </p:cNvPr>
          <p:cNvPicPr>
            <a:picLocks noChangeAspect="1"/>
          </p:cNvPicPr>
          <p:nvPr/>
        </p:nvPicPr>
        <p:blipFill>
          <a:blip r:embed="rId6"/>
          <a:stretch>
            <a:fillRect/>
          </a:stretch>
        </p:blipFill>
        <p:spPr>
          <a:xfrm>
            <a:off x="8414309" y="3622853"/>
            <a:ext cx="307238" cy="307238"/>
          </a:xfrm>
          <a:prstGeom prst="rect">
            <a:avLst/>
          </a:prstGeom>
        </p:spPr>
      </p:pic>
      <p:sp>
        <p:nvSpPr>
          <p:cNvPr id="36" name="Text 28"/>
          <p:cNvSpPr txBox="1"/>
          <p:nvPr/>
        </p:nvSpPr>
        <p:spPr>
          <a:xfrm>
            <a:off x="8979408" y="3529584"/>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Optimism &amp; inaction</a:t>
            </a:r>
            <a:endParaRPr lang="en-US" sz="1800" dirty="0"/>
          </a:p>
        </p:txBody>
      </p:sp>
      <p:sp>
        <p:nvSpPr>
          <p:cNvPr id="37" name="Text 29"/>
          <p:cNvSpPr txBox="1"/>
          <p:nvPr/>
        </p:nvSpPr>
        <p:spPr>
          <a:xfrm>
            <a:off x="8293608" y="4169664"/>
            <a:ext cx="3200400" cy="292608"/>
          </a:xfrm>
          <a:prstGeom prst="rect">
            <a:avLst/>
          </a:prstGeom>
          <a:noFill/>
          <a:ln/>
        </p:spPr>
        <p:txBody>
          <a:bodyPr wrap="square" lIns="0" tIns="0" rIns="0" bIns="0" rtlCol="0" anchor="t"/>
          <a:lstStyle/>
          <a:p>
            <a:pPr indent="0" marL="0">
              <a:buNone/>
            </a:pPr>
            <a:r>
              <a:rPr lang="en-US" sz="1200" b="1" dirty="0">
                <a:solidFill>
                  <a:schemeClr val="accent3"/>
                </a:solidFill>
              </a:rPr>
              <a:t>Q10 After entering a password</a:t>
            </a:r>
            <a:endParaRPr lang="en-US" sz="1200" dirty="0"/>
          </a:p>
        </p:txBody>
      </p:sp>
      <p:sp>
        <p:nvSpPr>
          <p:cNvPr id="38" name="Text 30"/>
          <p:cNvSpPr txBox="1"/>
          <p:nvPr/>
        </p:nvSpPr>
        <p:spPr>
          <a:xfrm>
            <a:off x="8293608" y="4480560"/>
            <a:ext cx="3200400" cy="457200"/>
          </a:xfrm>
          <a:prstGeom prst="rect">
            <a:avLst/>
          </a:prstGeom>
          <a:noFill/>
          <a:ln/>
        </p:spPr>
        <p:txBody>
          <a:bodyPr wrap="square" lIns="0" tIns="0" rIns="0" bIns="0" rtlCol="0" anchor="t"/>
          <a:lstStyle/>
          <a:p>
            <a:pPr indent="0" marL="0">
              <a:buNone/>
            </a:pPr>
            <a:r>
              <a:rPr lang="en-US" sz="1300" dirty="0">
                <a:solidFill>
                  <a:schemeClr val="tx2"/>
                </a:solidFill>
              </a:rPr>
              <a:t>"It won't happen to me", so we wait instead of acting</a:t>
            </a:r>
            <a:endParaRPr lang="en-US" sz="1300" dirty="0"/>
          </a:p>
        </p:txBody>
      </p:sp>
      <p:sp>
        <p:nvSpPr>
          <p:cNvPr id="39" name="card"/>
          <p:cNvSpPr/>
          <p:nvPr/>
        </p:nvSpPr>
        <p:spPr>
          <a:xfrm>
            <a:off x="548640" y="5257800"/>
            <a:ext cx="11091672" cy="868680"/>
          </a:xfrm>
          <a:prstGeom prst="roundRect">
            <a:avLst>
              <a:gd name="adj" fmla="val 10526"/>
            </a:avLst>
          </a:prstGeom>
          <a:solidFill>
            <a:schemeClr val="accent5"/>
          </a:solidFill>
          <a:ln/>
          <a:effectLst>
            <a:outerShdw sx="100000" sy="100000" kx="0" ky="0" algn="bl" rotWithShape="0" blurRad="101600" dist="25400" dir="5400000">
              <a:srgbClr val="14213D">
                <a:alpha val="8000"/>
              </a:srgbClr>
            </a:outerShdw>
          </a:effectLst>
        </p:spPr>
      </p:sp>
      <p:sp>
        <p:nvSpPr>
          <p:cNvPr id="40" name="Text 32"/>
          <p:cNvSpPr txBox="1"/>
          <p:nvPr/>
        </p:nvSpPr>
        <p:spPr>
          <a:xfrm>
            <a:off x="822960" y="5349240"/>
            <a:ext cx="10607040" cy="685800"/>
          </a:xfrm>
          <a:prstGeom prst="rect">
            <a:avLst/>
          </a:prstGeom>
          <a:noFill/>
          <a:ln/>
        </p:spPr>
        <p:txBody>
          <a:bodyPr wrap="square" lIns="0" tIns="0" rIns="0" bIns="0" rtlCol="0" anchor="ctr"/>
          <a:lstStyle/>
          <a:p>
            <a:pPr indent="0" marL="0">
              <a:buNone/>
            </a:pPr>
            <a:r>
              <a:rPr lang="en-US" sz="1400" b="1" dirty="0">
                <a:solidFill>
                  <a:schemeClr val="tx1"/>
                </a:solidFill>
              </a:rPr>
              <a:t>Also measured   </a:t>
            </a:r>
            <a:pPr indent="0" marL="0">
              <a:buNone/>
            </a:pPr>
            <a:r>
              <a:rPr lang="en-US" sz="1400" b="1" dirty="0">
                <a:solidFill>
                  <a:schemeClr val="accent3"/>
                </a:solidFill>
              </a:rPr>
              <a:t>Self-perception: </a:t>
            </a:r>
            <a:pPr indent="0" marL="0">
              <a:buNone/>
            </a:pPr>
            <a:r>
              <a:rPr lang="en-US" sz="1400" dirty="0">
                <a:solidFill>
                  <a:schemeClr val="tx1"/>
                </a:solidFill>
              </a:rPr>
              <a:t>confidence and estimated score vs actual score, to detect overconfidence.   </a:t>
            </a:r>
            <a:pPr indent="0" marL="0">
              <a:buNone/>
            </a:pPr>
            <a:r>
              <a:rPr lang="en-US" sz="1400" b="1" dirty="0">
                <a:solidFill>
                  <a:schemeClr val="accent3"/>
                </a:solidFill>
              </a:rPr>
              <a:t>Uncertainty: </a:t>
            </a:r>
            <a:pPr indent="0" marL="0">
              <a:buNone/>
            </a:pPr>
            <a:r>
              <a:rPr lang="en-US" sz="1400" dirty="0">
                <a:solidFill>
                  <a:schemeClr val="tx1"/>
                </a:solidFill>
              </a:rPr>
              <a:t>"I'm not sure" is kept separate from wrong answers.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How we evaluate the program</a:t>
            </a:r>
            <a:endParaRPr lang="en-US" sz="3400" dirty="0"/>
          </a:p>
        </p:txBody>
      </p:sp>
      <p:sp>
        <p:nvSpPr>
          <p:cNvPr id="3" name="Text 1"/>
          <p:cNvSpPr txBox="1"/>
          <p:nvPr/>
        </p:nvSpPr>
        <p:spPr>
          <a:xfrm>
            <a:off x="777240" y="1325880"/>
            <a:ext cx="2286000"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WHAT WE WANT TO KNOW</a:t>
            </a:r>
            <a:endParaRPr lang="en-US" sz="1100" dirty="0"/>
          </a:p>
        </p:txBody>
      </p:sp>
      <p:sp>
        <p:nvSpPr>
          <p:cNvPr id="4" name="Text 2"/>
          <p:cNvSpPr txBox="1"/>
          <p:nvPr/>
        </p:nvSpPr>
        <p:spPr>
          <a:xfrm>
            <a:off x="3611880" y="1325880"/>
            <a:ext cx="2286000"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MEASURE</a:t>
            </a:r>
            <a:endParaRPr lang="en-US" sz="1100" dirty="0"/>
          </a:p>
        </p:txBody>
      </p:sp>
      <p:sp>
        <p:nvSpPr>
          <p:cNvPr id="5" name="Text 3"/>
          <p:cNvSpPr txBox="1"/>
          <p:nvPr/>
        </p:nvSpPr>
        <p:spPr>
          <a:xfrm>
            <a:off x="5852160" y="1325880"/>
            <a:ext cx="2286000"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ANALYSIS</a:t>
            </a:r>
            <a:endParaRPr lang="en-US" sz="1100" dirty="0"/>
          </a:p>
        </p:txBody>
      </p:sp>
      <p:sp>
        <p:nvSpPr>
          <p:cNvPr id="6" name="card"/>
          <p:cNvSpPr/>
          <p:nvPr/>
        </p:nvSpPr>
        <p:spPr>
          <a:xfrm>
            <a:off x="548640" y="1691640"/>
            <a:ext cx="7406640" cy="960120"/>
          </a:xfrm>
          <a:prstGeom prst="roundRect">
            <a:avLst>
              <a:gd name="adj" fmla="val 9524"/>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7" name="Text 5"/>
          <p:cNvSpPr txBox="1"/>
          <p:nvPr/>
        </p:nvSpPr>
        <p:spPr>
          <a:xfrm>
            <a:off x="777240" y="1801368"/>
            <a:ext cx="2651760" cy="731520"/>
          </a:xfrm>
          <a:prstGeom prst="rect">
            <a:avLst/>
          </a:prstGeom>
          <a:noFill/>
          <a:ln/>
        </p:spPr>
        <p:txBody>
          <a:bodyPr wrap="square" lIns="0" tIns="0" rIns="0" bIns="0" rtlCol="0" anchor="ctr"/>
          <a:lstStyle/>
          <a:p>
            <a:pPr indent="0" marL="0">
              <a:buNone/>
            </a:pPr>
            <a:r>
              <a:rPr lang="en-US" sz="1500" b="1" dirty="0">
                <a:solidFill>
                  <a:schemeClr val="tx1"/>
                </a:solidFill>
              </a:rPr>
              <a:t>Did knowledge improve?</a:t>
            </a:r>
            <a:endParaRPr lang="en-US" sz="1500" dirty="0"/>
          </a:p>
        </p:txBody>
      </p:sp>
      <p:sp>
        <p:nvSpPr>
          <p:cNvPr id="8" name="Text 6"/>
          <p:cNvSpPr txBox="1"/>
          <p:nvPr/>
        </p:nvSpPr>
        <p:spPr>
          <a:xfrm>
            <a:off x="3611880" y="1801368"/>
            <a:ext cx="2103120" cy="731520"/>
          </a:xfrm>
          <a:prstGeom prst="rect">
            <a:avLst/>
          </a:prstGeom>
          <a:noFill/>
          <a:ln/>
        </p:spPr>
        <p:txBody>
          <a:bodyPr wrap="square" lIns="0" tIns="0" rIns="0" bIns="0" rtlCol="0" anchor="ctr"/>
          <a:lstStyle/>
          <a:p>
            <a:pPr indent="0" marL="0">
              <a:buNone/>
            </a:pPr>
            <a:r>
              <a:rPr lang="en-US" sz="1300" dirty="0">
                <a:solidFill>
                  <a:schemeClr val="tx1"/>
                </a:solidFill>
              </a:rPr>
              <a:t>10-item scenario score, 0–10</a:t>
            </a:r>
            <a:endParaRPr lang="en-US" sz="1300" dirty="0"/>
          </a:p>
        </p:txBody>
      </p:sp>
      <p:sp>
        <p:nvSpPr>
          <p:cNvPr id="9" name="Text 7"/>
          <p:cNvSpPr txBox="1"/>
          <p:nvPr/>
        </p:nvSpPr>
        <p:spPr>
          <a:xfrm>
            <a:off x="5852160" y="1801368"/>
            <a:ext cx="1965960" cy="731520"/>
          </a:xfrm>
          <a:prstGeom prst="rect">
            <a:avLst/>
          </a:prstGeom>
          <a:noFill/>
          <a:ln/>
        </p:spPr>
        <p:txBody>
          <a:bodyPr wrap="square" lIns="0" tIns="0" rIns="0" bIns="0" rtlCol="0" anchor="ctr"/>
          <a:lstStyle/>
          <a:p>
            <a:pPr indent="0" marL="0">
              <a:buNone/>
            </a:pPr>
            <a:r>
              <a:rPr lang="en-US" sz="1300" dirty="0">
                <a:solidFill>
                  <a:schemeClr val="tx2"/>
                </a:solidFill>
              </a:rPr>
              <a:t>Paired t-test, Wilcoxon, effect size</a:t>
            </a:r>
            <a:endParaRPr lang="en-US" sz="1300" dirty="0"/>
          </a:p>
        </p:txBody>
      </p:sp>
      <p:sp>
        <p:nvSpPr>
          <p:cNvPr id="10" name="card"/>
          <p:cNvSpPr/>
          <p:nvPr/>
        </p:nvSpPr>
        <p:spPr>
          <a:xfrm>
            <a:off x="548640" y="2770632"/>
            <a:ext cx="7406640" cy="960120"/>
          </a:xfrm>
          <a:prstGeom prst="roundRect">
            <a:avLst>
              <a:gd name="adj" fmla="val 9524"/>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11" name="Text 9"/>
          <p:cNvSpPr txBox="1"/>
          <p:nvPr/>
        </p:nvSpPr>
        <p:spPr>
          <a:xfrm>
            <a:off x="777240" y="2880360"/>
            <a:ext cx="2651760" cy="731520"/>
          </a:xfrm>
          <a:prstGeom prst="rect">
            <a:avLst/>
          </a:prstGeom>
          <a:noFill/>
          <a:ln/>
        </p:spPr>
        <p:txBody>
          <a:bodyPr wrap="square" lIns="0" tIns="0" rIns="0" bIns="0" rtlCol="0" anchor="ctr"/>
          <a:lstStyle/>
          <a:p>
            <a:pPr indent="0" marL="0">
              <a:buNone/>
            </a:pPr>
            <a:r>
              <a:rPr lang="en-US" sz="1500" b="1" dirty="0">
                <a:solidFill>
                  <a:schemeClr val="tx1"/>
                </a:solidFill>
              </a:rPr>
              <a:t>Which traits are still exploited?</a:t>
            </a:r>
            <a:endParaRPr lang="en-US" sz="1500" dirty="0"/>
          </a:p>
        </p:txBody>
      </p:sp>
      <p:sp>
        <p:nvSpPr>
          <p:cNvPr id="12" name="Text 10"/>
          <p:cNvSpPr txBox="1"/>
          <p:nvPr/>
        </p:nvSpPr>
        <p:spPr>
          <a:xfrm>
            <a:off x="3611880" y="2880360"/>
            <a:ext cx="2103120" cy="731520"/>
          </a:xfrm>
          <a:prstGeom prst="rect">
            <a:avLst/>
          </a:prstGeom>
          <a:noFill/>
          <a:ln/>
        </p:spPr>
        <p:txBody>
          <a:bodyPr wrap="square" lIns="0" tIns="0" rIns="0" bIns="0" rtlCol="0" anchor="ctr"/>
          <a:lstStyle/>
          <a:p>
            <a:pPr indent="0" marL="0">
              <a:buNone/>
            </a:pPr>
            <a:r>
              <a:rPr lang="en-US" sz="1300" dirty="0">
                <a:solidFill>
                  <a:schemeClr val="tx1"/>
                </a:solidFill>
              </a:rPr>
              <a:t>Wrong answer → misconception → trait</a:t>
            </a:r>
            <a:endParaRPr lang="en-US" sz="1300" dirty="0"/>
          </a:p>
        </p:txBody>
      </p:sp>
      <p:sp>
        <p:nvSpPr>
          <p:cNvPr id="13" name="Text 11"/>
          <p:cNvSpPr txBox="1"/>
          <p:nvPr/>
        </p:nvSpPr>
        <p:spPr>
          <a:xfrm>
            <a:off x="5852160" y="2880360"/>
            <a:ext cx="1965960" cy="731520"/>
          </a:xfrm>
          <a:prstGeom prst="rect">
            <a:avLst/>
          </a:prstGeom>
          <a:noFill/>
          <a:ln/>
        </p:spPr>
        <p:txBody>
          <a:bodyPr wrap="square" lIns="0" tIns="0" rIns="0" bIns="0" rtlCol="0" anchor="ctr"/>
          <a:lstStyle/>
          <a:p>
            <a:pPr indent="0" marL="0">
              <a:buNone/>
            </a:pPr>
            <a:r>
              <a:rPr lang="en-US" sz="1300" dirty="0">
                <a:solidFill>
                  <a:schemeClr val="tx2"/>
                </a:solidFill>
              </a:rPr>
              <a:t>Accuracy per trait, top misconceptions</a:t>
            </a:r>
            <a:endParaRPr lang="en-US" sz="1300" dirty="0"/>
          </a:p>
        </p:txBody>
      </p:sp>
      <p:sp>
        <p:nvSpPr>
          <p:cNvPr id="14" name="card"/>
          <p:cNvSpPr/>
          <p:nvPr/>
        </p:nvSpPr>
        <p:spPr>
          <a:xfrm>
            <a:off x="548640" y="3849624"/>
            <a:ext cx="7406640" cy="960120"/>
          </a:xfrm>
          <a:prstGeom prst="roundRect">
            <a:avLst>
              <a:gd name="adj" fmla="val 9524"/>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15" name="Text 13"/>
          <p:cNvSpPr txBox="1"/>
          <p:nvPr/>
        </p:nvSpPr>
        <p:spPr>
          <a:xfrm>
            <a:off x="777240" y="3959352"/>
            <a:ext cx="2651760" cy="731520"/>
          </a:xfrm>
          <a:prstGeom prst="rect">
            <a:avLst/>
          </a:prstGeom>
          <a:noFill/>
          <a:ln/>
        </p:spPr>
        <p:txBody>
          <a:bodyPr wrap="square" lIns="0" tIns="0" rIns="0" bIns="0" rtlCol="0" anchor="ctr"/>
          <a:lstStyle/>
          <a:p>
            <a:pPr indent="0" marL="0">
              <a:buNone/>
            </a:pPr>
            <a:r>
              <a:rPr lang="en-US" sz="1500" b="1" dirty="0">
                <a:solidFill>
                  <a:schemeClr val="tx1"/>
                </a:solidFill>
              </a:rPr>
              <a:t>Do people know what they don't know?</a:t>
            </a:r>
            <a:endParaRPr lang="en-US" sz="1500" dirty="0"/>
          </a:p>
        </p:txBody>
      </p:sp>
      <p:sp>
        <p:nvSpPr>
          <p:cNvPr id="16" name="Text 14"/>
          <p:cNvSpPr txBox="1"/>
          <p:nvPr/>
        </p:nvSpPr>
        <p:spPr>
          <a:xfrm>
            <a:off x="3611880" y="3959352"/>
            <a:ext cx="2103120" cy="731520"/>
          </a:xfrm>
          <a:prstGeom prst="rect">
            <a:avLst/>
          </a:prstGeom>
          <a:noFill/>
          <a:ln/>
        </p:spPr>
        <p:txBody>
          <a:bodyPr wrap="square" lIns="0" tIns="0" rIns="0" bIns="0" rtlCol="0" anchor="ctr"/>
          <a:lstStyle/>
          <a:p>
            <a:pPr indent="0" marL="0">
              <a:buNone/>
            </a:pPr>
            <a:r>
              <a:rPr lang="en-US" sz="1300" dirty="0">
                <a:solidFill>
                  <a:schemeClr val="tx1"/>
                </a:solidFill>
              </a:rPr>
              <a:t>Confidence and self-estimate vs score</a:t>
            </a:r>
            <a:endParaRPr lang="en-US" sz="1300" dirty="0"/>
          </a:p>
        </p:txBody>
      </p:sp>
      <p:sp>
        <p:nvSpPr>
          <p:cNvPr id="17" name="Text 15"/>
          <p:cNvSpPr txBox="1"/>
          <p:nvPr/>
        </p:nvSpPr>
        <p:spPr>
          <a:xfrm>
            <a:off x="5852160" y="3959352"/>
            <a:ext cx="1965960" cy="731520"/>
          </a:xfrm>
          <a:prstGeom prst="rect">
            <a:avLst/>
          </a:prstGeom>
          <a:noFill/>
          <a:ln/>
        </p:spPr>
        <p:txBody>
          <a:bodyPr wrap="square" lIns="0" tIns="0" rIns="0" bIns="0" rtlCol="0" anchor="ctr"/>
          <a:lstStyle/>
          <a:p>
            <a:pPr indent="0" marL="0">
              <a:buNone/>
            </a:pPr>
            <a:r>
              <a:rPr lang="en-US" sz="1300" dirty="0">
                <a:solidFill>
                  <a:schemeClr val="tx2"/>
                </a:solidFill>
              </a:rPr>
              <a:t>Calibration gap, Spearman ρ</a:t>
            </a:r>
            <a:endParaRPr lang="en-US" sz="1300" dirty="0"/>
          </a:p>
        </p:txBody>
      </p:sp>
      <p:sp>
        <p:nvSpPr>
          <p:cNvPr id="18" name="card"/>
          <p:cNvSpPr/>
          <p:nvPr/>
        </p:nvSpPr>
        <p:spPr>
          <a:xfrm>
            <a:off x="548640" y="4928616"/>
            <a:ext cx="7406640" cy="960120"/>
          </a:xfrm>
          <a:prstGeom prst="roundRect">
            <a:avLst>
              <a:gd name="adj" fmla="val 9524"/>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19" name="Text 17"/>
          <p:cNvSpPr txBox="1"/>
          <p:nvPr/>
        </p:nvSpPr>
        <p:spPr>
          <a:xfrm>
            <a:off x="777240" y="5038344"/>
            <a:ext cx="2651760" cy="731520"/>
          </a:xfrm>
          <a:prstGeom prst="rect">
            <a:avLst/>
          </a:prstGeom>
          <a:noFill/>
          <a:ln/>
        </p:spPr>
        <p:txBody>
          <a:bodyPr wrap="square" lIns="0" tIns="0" rIns="0" bIns="0" rtlCol="0" anchor="ctr"/>
          <a:lstStyle/>
          <a:p>
            <a:pPr indent="0" marL="0">
              <a:buNone/>
            </a:pPr>
            <a:r>
              <a:rPr lang="en-US" sz="1500" b="1" dirty="0">
                <a:solidFill>
                  <a:schemeClr val="tx1"/>
                </a:solidFill>
              </a:rPr>
              <a:t>Did the campaign reach them?</a:t>
            </a:r>
            <a:endParaRPr lang="en-US" sz="1500" dirty="0"/>
          </a:p>
        </p:txBody>
      </p:sp>
      <p:sp>
        <p:nvSpPr>
          <p:cNvPr id="20" name="Text 18"/>
          <p:cNvSpPr txBox="1"/>
          <p:nvPr/>
        </p:nvSpPr>
        <p:spPr>
          <a:xfrm>
            <a:off x="3611880" y="5038344"/>
            <a:ext cx="2103120" cy="731520"/>
          </a:xfrm>
          <a:prstGeom prst="rect">
            <a:avLst/>
          </a:prstGeom>
          <a:noFill/>
          <a:ln/>
        </p:spPr>
        <p:txBody>
          <a:bodyPr wrap="square" lIns="0" tIns="0" rIns="0" bIns="0" rtlCol="0" anchor="ctr"/>
          <a:lstStyle/>
          <a:p>
            <a:pPr indent="0" marL="0">
              <a:buNone/>
            </a:pPr>
            <a:r>
              <a:rPr lang="en-US" sz="1300" dirty="0">
                <a:solidFill>
                  <a:schemeClr val="tx1"/>
                </a:solidFill>
              </a:rPr>
              <a:t>POST exposure question, Instagram analytics</a:t>
            </a:r>
            <a:endParaRPr lang="en-US" sz="1300" dirty="0"/>
          </a:p>
        </p:txBody>
      </p:sp>
      <p:sp>
        <p:nvSpPr>
          <p:cNvPr id="21" name="Text 19"/>
          <p:cNvSpPr txBox="1"/>
          <p:nvPr/>
        </p:nvSpPr>
        <p:spPr>
          <a:xfrm>
            <a:off x="5852160" y="5038344"/>
            <a:ext cx="1965960" cy="731520"/>
          </a:xfrm>
          <a:prstGeom prst="rect">
            <a:avLst/>
          </a:prstGeom>
          <a:noFill/>
          <a:ln/>
        </p:spPr>
        <p:txBody>
          <a:bodyPr wrap="square" lIns="0" tIns="0" rIns="0" bIns="0" rtlCol="0" anchor="ctr"/>
          <a:lstStyle/>
          <a:p>
            <a:pPr indent="0" marL="0">
              <a:buNone/>
            </a:pPr>
            <a:r>
              <a:rPr lang="en-US" sz="1300" dirty="0">
                <a:solidFill>
                  <a:schemeClr val="tx2"/>
                </a:solidFill>
              </a:rPr>
              <a:t>Exposure breakdown, likes and reach</a:t>
            </a:r>
            <a:endParaRPr lang="en-US" sz="1300" dirty="0"/>
          </a:p>
        </p:txBody>
      </p:sp>
      <p:sp>
        <p:nvSpPr>
          <p:cNvPr id="22" name="print"/>
          <p:cNvSpPr/>
          <p:nvPr/>
        </p:nvSpPr>
        <p:spPr>
          <a:xfrm>
            <a:off x="8284464" y="1339047"/>
            <a:ext cx="3438144" cy="2259665"/>
          </a:xfrm>
          <a:prstGeom prst="rect">
            <a:avLst/>
          </a:prstGeom>
          <a:solidFill>
            <a:schemeClr val="bg1"/>
          </a:solidFill>
          <a:ln w="9525">
            <a:solidFill>
              <a:schemeClr val="accent6"/>
            </a:solidFill>
            <a:prstDash val="solid"/>
          </a:ln>
          <a:effectLst>
            <a:outerShdw sx="100000" sy="100000" kx="0" ky="0" algn="bl" rotWithShape="0" blurRad="127000" dist="38100" dir="5400000">
              <a:srgbClr val="14213D">
                <a:alpha val="18000"/>
              </a:srgbClr>
            </a:outerShdw>
          </a:effectLst>
        </p:spPr>
      </p:sp>
      <p:pic>
        <p:nvPicPr>
          <p:cNvPr id="23" name="image" descr="HumanFactor dashboard paired PRE vs POST view.">    </p:cNvPr>
          <p:cNvPicPr>
            <a:picLocks noChangeAspect="1"/>
          </p:cNvPicPr>
          <p:nvPr/>
        </p:nvPicPr>
        <p:blipFill>
          <a:blip r:embed="rId1"/>
          <a:stretch>
            <a:fillRect/>
          </a:stretch>
        </p:blipFill>
        <p:spPr>
          <a:xfrm>
            <a:off x="8366760" y="1421343"/>
            <a:ext cx="3273552" cy="2095073"/>
          </a:xfrm>
          <a:prstGeom prst="rect">
            <a:avLst/>
          </a:prstGeom>
        </p:spPr>
      </p:pic>
      <p:sp>
        <p:nvSpPr>
          <p:cNvPr id="24" name="Text 21"/>
          <p:cNvSpPr txBox="1"/>
          <p:nvPr/>
        </p:nvSpPr>
        <p:spPr>
          <a:xfrm>
            <a:off x="8366760" y="3703320"/>
            <a:ext cx="3273552" cy="274320"/>
          </a:xfrm>
          <a:prstGeom prst="rect">
            <a:avLst/>
          </a:prstGeom>
          <a:noFill/>
          <a:ln/>
        </p:spPr>
        <p:txBody>
          <a:bodyPr wrap="square" lIns="0" tIns="0" rIns="0" bIns="0" rtlCol="0" anchor="t"/>
          <a:lstStyle/>
          <a:p>
            <a:pPr indent="0" marL="0">
              <a:buNone/>
            </a:pPr>
            <a:r>
              <a:rPr lang="en-US" sz="1100" dirty="0">
                <a:solidFill>
                  <a:schemeClr val="tx2"/>
                </a:solidFill>
              </a:rPr>
              <a:t>HumanFactor dashboard: paired PRE vs POST view</a:t>
            </a:r>
            <a:endParaRPr lang="en-US" sz="1100" dirty="0"/>
          </a:p>
        </p:txBody>
      </p:sp>
      <p:sp>
        <p:nvSpPr>
          <p:cNvPr id="25" name="Text 22"/>
          <p:cNvSpPr txBox="1"/>
          <p:nvPr/>
        </p:nvSpPr>
        <p:spPr>
          <a:xfrm>
            <a:off x="8366760" y="4160520"/>
            <a:ext cx="1325880" cy="502920"/>
          </a:xfrm>
          <a:prstGeom prst="rect">
            <a:avLst/>
          </a:prstGeom>
          <a:noFill/>
          <a:ln/>
        </p:spPr>
        <p:txBody>
          <a:bodyPr wrap="square" lIns="0" tIns="0" rIns="0" bIns="0" rtlCol="0" anchor="ctr"/>
          <a:lstStyle/>
          <a:p>
            <a:pPr indent="0" marL="0">
              <a:buNone/>
            </a:pPr>
            <a:r>
              <a:rPr lang="en-US" sz="2200" b="1" dirty="0">
                <a:solidFill>
                  <a:schemeClr val="accent3"/>
                </a:solidFill>
                <a:latin typeface="Arial" pitchFamily="34" charset="0"/>
                <a:ea typeface="Arial" pitchFamily="34" charset="-122"/>
                <a:cs typeface="Arial" pitchFamily="34" charset="-120"/>
              </a:rPr>
              <a:t>63</a:t>
            </a:r>
            <a:endParaRPr lang="en-US" sz="2200" dirty="0"/>
          </a:p>
        </p:txBody>
      </p:sp>
      <p:sp>
        <p:nvSpPr>
          <p:cNvPr id="26" name="Text 23"/>
          <p:cNvSpPr txBox="1"/>
          <p:nvPr/>
        </p:nvSpPr>
        <p:spPr>
          <a:xfrm>
            <a:off x="9738360" y="4160520"/>
            <a:ext cx="1920240" cy="502920"/>
          </a:xfrm>
          <a:prstGeom prst="rect">
            <a:avLst/>
          </a:prstGeom>
          <a:noFill/>
          <a:ln/>
        </p:spPr>
        <p:txBody>
          <a:bodyPr wrap="square" lIns="0" tIns="0" rIns="0" bIns="0" rtlCol="0" anchor="ctr"/>
          <a:lstStyle/>
          <a:p>
            <a:pPr indent="0" marL="0">
              <a:buNone/>
            </a:pPr>
            <a:r>
              <a:rPr lang="en-US" sz="1300" dirty="0">
                <a:solidFill>
                  <a:schemeClr val="tx1"/>
                </a:solidFill>
              </a:rPr>
              <a:t>automated tests pass</a:t>
            </a:r>
            <a:endParaRPr lang="en-US" sz="1300" dirty="0"/>
          </a:p>
        </p:txBody>
      </p:sp>
      <p:sp>
        <p:nvSpPr>
          <p:cNvPr id="27" name="Text 24"/>
          <p:cNvSpPr txBox="1"/>
          <p:nvPr/>
        </p:nvSpPr>
        <p:spPr>
          <a:xfrm>
            <a:off x="8366760" y="4818888"/>
            <a:ext cx="1325880" cy="502920"/>
          </a:xfrm>
          <a:prstGeom prst="rect">
            <a:avLst/>
          </a:prstGeom>
          <a:noFill/>
          <a:ln/>
        </p:spPr>
        <p:txBody>
          <a:bodyPr wrap="square" lIns="0" tIns="0" rIns="0" bIns="0" rtlCol="0" anchor="ctr"/>
          <a:lstStyle/>
          <a:p>
            <a:pPr indent="0" marL="0">
              <a:buNone/>
            </a:pPr>
            <a:r>
              <a:rPr lang="en-US" sz="2200" b="1" dirty="0">
                <a:solidFill>
                  <a:schemeClr val="accent3"/>
                </a:solidFill>
                <a:latin typeface="Arial" pitchFamily="34" charset="0"/>
                <a:ea typeface="Arial" pitchFamily="34" charset="-122"/>
                <a:cs typeface="Arial" pitchFamily="34" charset="-120"/>
              </a:rPr>
              <a:t>184/184</a:t>
            </a:r>
            <a:endParaRPr lang="en-US" sz="2200" dirty="0"/>
          </a:p>
        </p:txBody>
      </p:sp>
      <p:sp>
        <p:nvSpPr>
          <p:cNvPr id="28" name="Text 25"/>
          <p:cNvSpPr txBox="1"/>
          <p:nvPr/>
        </p:nvSpPr>
        <p:spPr>
          <a:xfrm>
            <a:off x="9738360" y="4818888"/>
            <a:ext cx="1920240" cy="502920"/>
          </a:xfrm>
          <a:prstGeom prst="rect">
            <a:avLst/>
          </a:prstGeom>
          <a:noFill/>
          <a:ln/>
        </p:spPr>
        <p:txBody>
          <a:bodyPr wrap="square" lIns="0" tIns="0" rIns="0" bIns="0" rtlCol="0" anchor="ctr"/>
          <a:lstStyle/>
          <a:p>
            <a:pPr indent="0" marL="0">
              <a:buNone/>
            </a:pPr>
            <a:r>
              <a:rPr lang="en-US" sz="1300" dirty="0">
                <a:solidFill>
                  <a:schemeClr val="tx1"/>
                </a:solidFill>
              </a:rPr>
              <a:t>dashboard figures re-verified</a:t>
            </a:r>
            <a:endParaRPr lang="en-US" sz="1300" dirty="0"/>
          </a:p>
        </p:txBody>
      </p:sp>
      <p:sp>
        <p:nvSpPr>
          <p:cNvPr id="29" name="Text 26"/>
          <p:cNvSpPr txBox="1"/>
          <p:nvPr/>
        </p:nvSpPr>
        <p:spPr>
          <a:xfrm>
            <a:off x="8366760" y="5477256"/>
            <a:ext cx="1325880" cy="502920"/>
          </a:xfrm>
          <a:prstGeom prst="rect">
            <a:avLst/>
          </a:prstGeom>
          <a:noFill/>
          <a:ln/>
        </p:spPr>
        <p:txBody>
          <a:bodyPr wrap="square" lIns="0" tIns="0" rIns="0" bIns="0" rtlCol="0" anchor="ctr"/>
          <a:lstStyle/>
          <a:p>
            <a:pPr indent="0" marL="0">
              <a:buNone/>
            </a:pPr>
            <a:r>
              <a:rPr lang="en-US" sz="2200" b="1" dirty="0">
                <a:solidFill>
                  <a:schemeClr val="accent3"/>
                </a:solidFill>
                <a:latin typeface="Arial" pitchFamily="34" charset="0"/>
                <a:ea typeface="Arial" pitchFamily="34" charset="-122"/>
                <a:cs typeface="Arial" pitchFamily="34" charset="-120"/>
              </a:rPr>
              <a:t>R</a:t>
            </a:r>
            <a:endParaRPr lang="en-US" sz="2200" dirty="0"/>
          </a:p>
        </p:txBody>
      </p:sp>
      <p:sp>
        <p:nvSpPr>
          <p:cNvPr id="30" name="Text 27"/>
          <p:cNvSpPr txBox="1"/>
          <p:nvPr/>
        </p:nvSpPr>
        <p:spPr>
          <a:xfrm>
            <a:off x="9738360" y="5477256"/>
            <a:ext cx="1920240" cy="502920"/>
          </a:xfrm>
          <a:prstGeom prst="rect">
            <a:avLst/>
          </a:prstGeom>
          <a:noFill/>
          <a:ln/>
        </p:spPr>
        <p:txBody>
          <a:bodyPr wrap="square" lIns="0" tIns="0" rIns="0" bIns="0" rtlCol="0" anchor="ctr"/>
          <a:lstStyle/>
          <a:p>
            <a:pPr indent="0" marL="0">
              <a:buNone/>
            </a:pPr>
            <a:r>
              <a:rPr lang="en-US" sz="1300" dirty="0">
                <a:solidFill>
                  <a:schemeClr val="tx1"/>
                </a:solidFill>
              </a:rPr>
              <a:t>used to check the statistics</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Ethical and accessible by design</a:t>
            </a:r>
            <a:endParaRPr lang="en-US" sz="3400" dirty="0"/>
          </a:p>
        </p:txBody>
      </p:sp>
      <p:sp>
        <p:nvSpPr>
          <p:cNvPr id="3" name="Text 1"/>
          <p:cNvSpPr txBox="1"/>
          <p:nvPr/>
        </p:nvSpPr>
        <p:spPr>
          <a:xfrm>
            <a:off x="548640" y="1325880"/>
            <a:ext cx="4114800" cy="365760"/>
          </a:xfrm>
          <a:prstGeom prst="rect">
            <a:avLst/>
          </a:prstGeom>
          <a:noFill/>
          <a:ln/>
        </p:spPr>
        <p:txBody>
          <a:bodyPr wrap="square" lIns="0" tIns="0" rIns="0" bIns="0" rtlCol="0" anchor="t"/>
          <a:lstStyle/>
          <a:p>
            <a:pPr indent="0" marL="0">
              <a:buNone/>
            </a:pPr>
            <a:r>
              <a:rPr lang="en-US" sz="1800" b="1" dirty="0">
                <a:solidFill>
                  <a:schemeClr val="accent2"/>
                </a:solidFill>
              </a:rPr>
              <a:t>Ethics</a:t>
            </a:r>
            <a:endParaRPr lang="en-US" sz="1800" dirty="0"/>
          </a:p>
        </p:txBody>
      </p:sp>
      <p:sp>
        <p:nvSpPr>
          <p:cNvPr id="4" name="icon-bg-shield"/>
          <p:cNvSpPr/>
          <p:nvPr/>
        </p:nvSpPr>
        <p:spPr>
          <a:xfrm>
            <a:off x="548640" y="1810512"/>
            <a:ext cx="457200" cy="457200"/>
          </a:xfrm>
          <a:prstGeom prst="ellipse">
            <a:avLst/>
          </a:prstGeom>
          <a:solidFill>
            <a:schemeClr val="accent2">
              <a:alpha val="18000"/>
            </a:schemeClr>
          </a:solidFill>
          <a:ln/>
        </p:spPr>
      </p:sp>
      <p:pic>
        <p:nvPicPr>
          <p:cNvPr id="5" name="icon-shield" descr="preencoded.png">    </p:cNvPr>
          <p:cNvPicPr>
            <a:picLocks noChangeAspect="1"/>
          </p:cNvPicPr>
          <p:nvPr/>
        </p:nvPicPr>
        <p:blipFill>
          <a:blip r:embed="rId1"/>
          <a:stretch>
            <a:fillRect/>
          </a:stretch>
        </p:blipFill>
        <p:spPr>
          <a:xfrm>
            <a:off x="649224" y="1911096"/>
            <a:ext cx="256032" cy="256032"/>
          </a:xfrm>
          <a:prstGeom prst="rect">
            <a:avLst/>
          </a:prstGeom>
        </p:spPr>
      </p:pic>
      <p:sp>
        <p:nvSpPr>
          <p:cNvPr id="6" name="Text 3"/>
          <p:cNvSpPr txBox="1"/>
          <p:nvPr/>
        </p:nvSpPr>
        <p:spPr>
          <a:xfrm>
            <a:off x="1188720" y="1773936"/>
            <a:ext cx="3566160" cy="320040"/>
          </a:xfrm>
          <a:prstGeom prst="rect">
            <a:avLst/>
          </a:prstGeom>
          <a:noFill/>
          <a:ln/>
        </p:spPr>
        <p:txBody>
          <a:bodyPr wrap="square" lIns="0" tIns="0" rIns="0" bIns="0" rtlCol="0" anchor="t"/>
          <a:lstStyle/>
          <a:p>
            <a:pPr indent="0" marL="0">
              <a:buNone/>
            </a:pPr>
            <a:r>
              <a:rPr lang="en-US" sz="1500" b="1" dirty="0">
                <a:solidFill>
                  <a:schemeClr val="tx1"/>
                </a:solidFill>
              </a:rPr>
              <a:t>Informed consent first</a:t>
            </a:r>
            <a:endParaRPr lang="en-US" sz="1500" dirty="0"/>
          </a:p>
        </p:txBody>
      </p:sp>
      <p:sp>
        <p:nvSpPr>
          <p:cNvPr id="7" name="Text 4"/>
          <p:cNvSpPr txBox="1"/>
          <p:nvPr/>
        </p:nvSpPr>
        <p:spPr>
          <a:xfrm>
            <a:off x="1188720" y="2093976"/>
            <a:ext cx="3566160" cy="502920"/>
          </a:xfrm>
          <a:prstGeom prst="rect">
            <a:avLst/>
          </a:prstGeom>
          <a:noFill/>
          <a:ln/>
        </p:spPr>
        <p:txBody>
          <a:bodyPr wrap="square" lIns="0" tIns="0" rIns="0" bIns="0" rtlCol="0" anchor="t"/>
          <a:lstStyle/>
          <a:p>
            <a:pPr indent="0" marL="0">
              <a:buNone/>
            </a:pPr>
            <a:r>
              <a:rPr lang="en-US" sz="1300" dirty="0">
                <a:solidFill>
                  <a:schemeClr val="tx2"/>
                </a:solidFill>
              </a:rPr>
              <a:t>Plain-language notice and an 18+ confirmation before any question</a:t>
            </a:r>
            <a:endParaRPr lang="en-US" sz="1300" dirty="0"/>
          </a:p>
        </p:txBody>
      </p:sp>
      <p:sp>
        <p:nvSpPr>
          <p:cNvPr id="8" name="icon-bg-eyeOff"/>
          <p:cNvSpPr/>
          <p:nvPr/>
        </p:nvSpPr>
        <p:spPr>
          <a:xfrm>
            <a:off x="548640" y="2679192"/>
            <a:ext cx="457200" cy="457200"/>
          </a:xfrm>
          <a:prstGeom prst="ellipse">
            <a:avLst/>
          </a:prstGeom>
          <a:solidFill>
            <a:schemeClr val="accent2">
              <a:alpha val="18000"/>
            </a:schemeClr>
          </a:solidFill>
          <a:ln/>
        </p:spPr>
      </p:sp>
      <p:pic>
        <p:nvPicPr>
          <p:cNvPr id="9" name="icon-eyeOff" descr="preencoded.png">    </p:cNvPr>
          <p:cNvPicPr>
            <a:picLocks noChangeAspect="1"/>
          </p:cNvPicPr>
          <p:nvPr/>
        </p:nvPicPr>
        <p:blipFill>
          <a:blip r:embed="rId2"/>
          <a:stretch>
            <a:fillRect/>
          </a:stretch>
        </p:blipFill>
        <p:spPr>
          <a:xfrm>
            <a:off x="649224" y="2779776"/>
            <a:ext cx="256032" cy="256032"/>
          </a:xfrm>
          <a:prstGeom prst="rect">
            <a:avLst/>
          </a:prstGeom>
        </p:spPr>
      </p:pic>
      <p:sp>
        <p:nvSpPr>
          <p:cNvPr id="10" name="Text 6"/>
          <p:cNvSpPr txBox="1"/>
          <p:nvPr/>
        </p:nvSpPr>
        <p:spPr>
          <a:xfrm>
            <a:off x="1188720" y="2642616"/>
            <a:ext cx="3566160" cy="320040"/>
          </a:xfrm>
          <a:prstGeom prst="rect">
            <a:avLst/>
          </a:prstGeom>
          <a:noFill/>
          <a:ln/>
        </p:spPr>
        <p:txBody>
          <a:bodyPr wrap="square" lIns="0" tIns="0" rIns="0" bIns="0" rtlCol="0" anchor="t"/>
          <a:lstStyle/>
          <a:p>
            <a:pPr indent="0" marL="0">
              <a:buNone/>
            </a:pPr>
            <a:r>
              <a:rPr lang="en-US" sz="1500" b="1" dirty="0">
                <a:solidFill>
                  <a:schemeClr val="tx1"/>
                </a:solidFill>
              </a:rPr>
              <a:t>Anonymous</a:t>
            </a:r>
            <a:endParaRPr lang="en-US" sz="1500" dirty="0"/>
          </a:p>
        </p:txBody>
      </p:sp>
      <p:sp>
        <p:nvSpPr>
          <p:cNvPr id="11" name="Text 7"/>
          <p:cNvSpPr txBox="1"/>
          <p:nvPr/>
        </p:nvSpPr>
        <p:spPr>
          <a:xfrm>
            <a:off x="1188720" y="2962656"/>
            <a:ext cx="3566160" cy="502920"/>
          </a:xfrm>
          <a:prstGeom prst="rect">
            <a:avLst/>
          </a:prstGeom>
          <a:noFill/>
          <a:ln/>
        </p:spPr>
        <p:txBody>
          <a:bodyPr wrap="square" lIns="0" tIns="0" rIns="0" bIns="0" rtlCol="0" anchor="t"/>
          <a:lstStyle/>
          <a:p>
            <a:pPr indent="0" marL="0">
              <a:buNone/>
            </a:pPr>
            <a:r>
              <a:rPr lang="en-US" sz="1300" dirty="0">
                <a:solidFill>
                  <a:schemeClr val="tx2"/>
                </a:solidFill>
              </a:rPr>
              <a:t>No names, emails, student IDs or IP addresses; a random code links PRE and POST</a:t>
            </a:r>
            <a:endParaRPr lang="en-US" sz="1300" dirty="0"/>
          </a:p>
        </p:txBody>
      </p:sp>
      <p:sp>
        <p:nvSpPr>
          <p:cNvPr id="12" name="icon-bg-undo"/>
          <p:cNvSpPr/>
          <p:nvPr/>
        </p:nvSpPr>
        <p:spPr>
          <a:xfrm>
            <a:off x="548640" y="3547872"/>
            <a:ext cx="457200" cy="457200"/>
          </a:xfrm>
          <a:prstGeom prst="ellipse">
            <a:avLst/>
          </a:prstGeom>
          <a:solidFill>
            <a:schemeClr val="accent2">
              <a:alpha val="18000"/>
            </a:schemeClr>
          </a:solidFill>
          <a:ln/>
        </p:spPr>
      </p:sp>
      <p:pic>
        <p:nvPicPr>
          <p:cNvPr id="13" name="icon-undo" descr="preencoded.png">    </p:cNvPr>
          <p:cNvPicPr>
            <a:picLocks noChangeAspect="1"/>
          </p:cNvPicPr>
          <p:nvPr/>
        </p:nvPicPr>
        <p:blipFill>
          <a:blip r:embed="rId3"/>
          <a:stretch>
            <a:fillRect/>
          </a:stretch>
        </p:blipFill>
        <p:spPr>
          <a:xfrm>
            <a:off x="649224" y="3648456"/>
            <a:ext cx="256032" cy="256032"/>
          </a:xfrm>
          <a:prstGeom prst="rect">
            <a:avLst/>
          </a:prstGeom>
        </p:spPr>
      </p:pic>
      <p:sp>
        <p:nvSpPr>
          <p:cNvPr id="14" name="Text 9"/>
          <p:cNvSpPr txBox="1"/>
          <p:nvPr/>
        </p:nvSpPr>
        <p:spPr>
          <a:xfrm>
            <a:off x="1188720" y="3511296"/>
            <a:ext cx="3566160" cy="320040"/>
          </a:xfrm>
          <a:prstGeom prst="rect">
            <a:avLst/>
          </a:prstGeom>
          <a:noFill/>
          <a:ln/>
        </p:spPr>
        <p:txBody>
          <a:bodyPr wrap="square" lIns="0" tIns="0" rIns="0" bIns="0" rtlCol="0" anchor="t"/>
          <a:lstStyle/>
          <a:p>
            <a:pPr indent="0" marL="0">
              <a:buNone/>
            </a:pPr>
            <a:r>
              <a:rPr lang="en-US" sz="1500" b="1" dirty="0">
                <a:solidFill>
                  <a:schemeClr val="tx1"/>
                </a:solidFill>
              </a:rPr>
              <a:t>Voluntary</a:t>
            </a:r>
            <a:endParaRPr lang="en-US" sz="1500" dirty="0"/>
          </a:p>
        </p:txBody>
      </p:sp>
      <p:sp>
        <p:nvSpPr>
          <p:cNvPr id="15" name="Text 10"/>
          <p:cNvSpPr txBox="1"/>
          <p:nvPr/>
        </p:nvSpPr>
        <p:spPr>
          <a:xfrm>
            <a:off x="1188720" y="3831336"/>
            <a:ext cx="3566160" cy="502920"/>
          </a:xfrm>
          <a:prstGeom prst="rect">
            <a:avLst/>
          </a:prstGeom>
          <a:noFill/>
          <a:ln/>
        </p:spPr>
        <p:txBody>
          <a:bodyPr wrap="square" lIns="0" tIns="0" rIns="0" bIns="0" rtlCol="0" anchor="t"/>
          <a:lstStyle/>
          <a:p>
            <a:pPr indent="0" marL="0">
              <a:buNone/>
            </a:pPr>
            <a:r>
              <a:rPr lang="en-US" sz="1300" dirty="0">
                <a:solidFill>
                  <a:schemeClr val="tx2"/>
                </a:solidFill>
              </a:rPr>
              <a:t>Stop at any time; withdraw later by quoting your code</a:t>
            </a:r>
            <a:endParaRPr lang="en-US" sz="1300" dirty="0"/>
          </a:p>
        </p:txBody>
      </p:sp>
      <p:sp>
        <p:nvSpPr>
          <p:cNvPr id="16" name="icon-bg-lock"/>
          <p:cNvSpPr/>
          <p:nvPr/>
        </p:nvSpPr>
        <p:spPr>
          <a:xfrm>
            <a:off x="548640" y="4416552"/>
            <a:ext cx="457200" cy="457200"/>
          </a:xfrm>
          <a:prstGeom prst="ellipse">
            <a:avLst/>
          </a:prstGeom>
          <a:solidFill>
            <a:schemeClr val="accent2">
              <a:alpha val="18000"/>
            </a:schemeClr>
          </a:solidFill>
          <a:ln/>
        </p:spPr>
      </p:sp>
      <p:pic>
        <p:nvPicPr>
          <p:cNvPr id="17" name="icon-lock" descr="preencoded.png">    </p:cNvPr>
          <p:cNvPicPr>
            <a:picLocks noChangeAspect="1"/>
          </p:cNvPicPr>
          <p:nvPr/>
        </p:nvPicPr>
        <p:blipFill>
          <a:blip r:embed="rId4"/>
          <a:stretch>
            <a:fillRect/>
          </a:stretch>
        </p:blipFill>
        <p:spPr>
          <a:xfrm>
            <a:off x="649224" y="4517136"/>
            <a:ext cx="256032" cy="256032"/>
          </a:xfrm>
          <a:prstGeom prst="rect">
            <a:avLst/>
          </a:prstGeom>
        </p:spPr>
      </p:pic>
      <p:sp>
        <p:nvSpPr>
          <p:cNvPr id="18" name="Text 12"/>
          <p:cNvSpPr txBox="1"/>
          <p:nvPr/>
        </p:nvSpPr>
        <p:spPr>
          <a:xfrm>
            <a:off x="1188720" y="4379976"/>
            <a:ext cx="3566160" cy="320040"/>
          </a:xfrm>
          <a:prstGeom prst="rect">
            <a:avLst/>
          </a:prstGeom>
          <a:noFill/>
          <a:ln/>
        </p:spPr>
        <p:txBody>
          <a:bodyPr wrap="square" lIns="0" tIns="0" rIns="0" bIns="0" rtlCol="0" anchor="t"/>
          <a:lstStyle/>
          <a:p>
            <a:pPr indent="0" marL="0">
              <a:buNone/>
            </a:pPr>
            <a:r>
              <a:rPr lang="en-US" sz="1500" b="1" dirty="0">
                <a:solidFill>
                  <a:schemeClr val="tx1"/>
                </a:solidFill>
              </a:rPr>
              <a:t>Restricted access</a:t>
            </a:r>
            <a:endParaRPr lang="en-US" sz="1500" dirty="0"/>
          </a:p>
        </p:txBody>
      </p:sp>
      <p:sp>
        <p:nvSpPr>
          <p:cNvPr id="19" name="Text 13"/>
          <p:cNvSpPr txBox="1"/>
          <p:nvPr/>
        </p:nvSpPr>
        <p:spPr>
          <a:xfrm>
            <a:off x="1188720" y="4700016"/>
            <a:ext cx="3566160" cy="502920"/>
          </a:xfrm>
          <a:prstGeom prst="rect">
            <a:avLst/>
          </a:prstGeom>
          <a:noFill/>
          <a:ln/>
        </p:spPr>
        <p:txBody>
          <a:bodyPr wrap="square" lIns="0" tIns="0" rIns="0" bIns="0" rtlCol="0" anchor="t"/>
          <a:lstStyle/>
          <a:p>
            <a:pPr indent="0" marL="0">
              <a:buNone/>
            </a:pPr>
            <a:r>
              <a:rPr lang="en-US" sz="1300" dirty="0">
                <a:solidFill>
                  <a:schemeClr val="tx2"/>
                </a:solidFill>
              </a:rPr>
              <a:t>Password-protected dashboard, group-level reporting only</a:t>
            </a:r>
            <a:endParaRPr lang="en-US" sz="1300" dirty="0"/>
          </a:p>
        </p:txBody>
      </p:sp>
      <p:sp>
        <p:nvSpPr>
          <p:cNvPr id="20" name="icon-bg-info"/>
          <p:cNvSpPr/>
          <p:nvPr/>
        </p:nvSpPr>
        <p:spPr>
          <a:xfrm>
            <a:off x="548640" y="5285232"/>
            <a:ext cx="457200" cy="457200"/>
          </a:xfrm>
          <a:prstGeom prst="ellipse">
            <a:avLst/>
          </a:prstGeom>
          <a:solidFill>
            <a:schemeClr val="accent2">
              <a:alpha val="18000"/>
            </a:schemeClr>
          </a:solidFill>
          <a:ln/>
        </p:spPr>
      </p:sp>
      <p:pic>
        <p:nvPicPr>
          <p:cNvPr id="21" name="icon-info" descr="preencoded.png">    </p:cNvPr>
          <p:cNvPicPr>
            <a:picLocks noChangeAspect="1"/>
          </p:cNvPicPr>
          <p:nvPr/>
        </p:nvPicPr>
        <p:blipFill>
          <a:blip r:embed="rId5"/>
          <a:stretch>
            <a:fillRect/>
          </a:stretch>
        </p:blipFill>
        <p:spPr>
          <a:xfrm>
            <a:off x="649224" y="5385816"/>
            <a:ext cx="256032" cy="256032"/>
          </a:xfrm>
          <a:prstGeom prst="rect">
            <a:avLst/>
          </a:prstGeom>
        </p:spPr>
      </p:pic>
      <p:sp>
        <p:nvSpPr>
          <p:cNvPr id="22" name="Text 15"/>
          <p:cNvSpPr txBox="1"/>
          <p:nvPr/>
        </p:nvSpPr>
        <p:spPr>
          <a:xfrm>
            <a:off x="1188720" y="5248656"/>
            <a:ext cx="3566160" cy="320040"/>
          </a:xfrm>
          <a:prstGeom prst="rect">
            <a:avLst/>
          </a:prstGeom>
          <a:noFill/>
          <a:ln/>
        </p:spPr>
        <p:txBody>
          <a:bodyPr wrap="square" lIns="0" tIns="0" rIns="0" bIns="0" rtlCol="0" anchor="t"/>
          <a:lstStyle/>
          <a:p>
            <a:pPr indent="0" marL="0">
              <a:buNone/>
            </a:pPr>
            <a:r>
              <a:rPr lang="en-US" sz="1500" b="1" dirty="0">
                <a:solidFill>
                  <a:schemeClr val="tx1"/>
                </a:solidFill>
              </a:rPr>
              <a:t>No answers shown</a:t>
            </a:r>
            <a:endParaRPr lang="en-US" sz="1500" dirty="0"/>
          </a:p>
        </p:txBody>
      </p:sp>
      <p:sp>
        <p:nvSpPr>
          <p:cNvPr id="23" name="Text 16"/>
          <p:cNvSpPr txBox="1"/>
          <p:nvPr/>
        </p:nvSpPr>
        <p:spPr>
          <a:xfrm>
            <a:off x="1188720" y="5568696"/>
            <a:ext cx="3566160" cy="502920"/>
          </a:xfrm>
          <a:prstGeom prst="rect">
            <a:avLst/>
          </a:prstGeom>
          <a:noFill/>
          <a:ln/>
        </p:spPr>
        <p:txBody>
          <a:bodyPr wrap="square" lIns="0" tIns="0" rIns="0" bIns="0" rtlCol="0" anchor="t"/>
          <a:lstStyle/>
          <a:p>
            <a:pPr indent="0" marL="0">
              <a:buNone/>
            </a:pPr>
            <a:r>
              <a:rPr lang="en-US" sz="1300" dirty="0">
                <a:solidFill>
                  <a:schemeClr val="tx2"/>
                </a:solidFill>
              </a:rPr>
              <a:t>So the PRE survey doesn't teach the answers</a:t>
            </a:r>
            <a:endParaRPr lang="en-US" sz="1300" dirty="0"/>
          </a:p>
        </p:txBody>
      </p:sp>
      <p:sp>
        <p:nvSpPr>
          <p:cNvPr id="24" name="Text 17"/>
          <p:cNvSpPr txBox="1"/>
          <p:nvPr/>
        </p:nvSpPr>
        <p:spPr>
          <a:xfrm>
            <a:off x="5074920" y="1325880"/>
            <a:ext cx="3657600" cy="365760"/>
          </a:xfrm>
          <a:prstGeom prst="rect">
            <a:avLst/>
          </a:prstGeom>
          <a:noFill/>
          <a:ln/>
        </p:spPr>
        <p:txBody>
          <a:bodyPr wrap="square" lIns="0" tIns="0" rIns="0" bIns="0" rtlCol="0" anchor="t"/>
          <a:lstStyle/>
          <a:p>
            <a:pPr indent="0" marL="0">
              <a:buNone/>
            </a:pPr>
            <a:r>
              <a:rPr lang="en-US" sz="1800" b="1" dirty="0">
                <a:solidFill>
                  <a:schemeClr val="accent3"/>
                </a:solidFill>
              </a:rPr>
              <a:t>Accessibility</a:t>
            </a:r>
            <a:endParaRPr lang="en-US" sz="1800" dirty="0"/>
          </a:p>
        </p:txBody>
      </p:sp>
      <p:sp>
        <p:nvSpPr>
          <p:cNvPr id="25" name="icon-bg-check"/>
          <p:cNvSpPr/>
          <p:nvPr/>
        </p:nvSpPr>
        <p:spPr>
          <a:xfrm>
            <a:off x="5074920" y="1810512"/>
            <a:ext cx="457200" cy="457200"/>
          </a:xfrm>
          <a:prstGeom prst="ellipse">
            <a:avLst/>
          </a:prstGeom>
          <a:solidFill>
            <a:schemeClr val="accent3">
              <a:alpha val="18000"/>
            </a:schemeClr>
          </a:solidFill>
          <a:ln/>
        </p:spPr>
      </p:sp>
      <p:pic>
        <p:nvPicPr>
          <p:cNvPr id="26" name="icon-check" descr="preencoded.png">    </p:cNvPr>
          <p:cNvPicPr>
            <a:picLocks noChangeAspect="1"/>
          </p:cNvPicPr>
          <p:nvPr/>
        </p:nvPicPr>
        <p:blipFill>
          <a:blip r:embed="rId6"/>
          <a:stretch>
            <a:fillRect/>
          </a:stretch>
        </p:blipFill>
        <p:spPr>
          <a:xfrm>
            <a:off x="5175504" y="1911096"/>
            <a:ext cx="256032" cy="256032"/>
          </a:xfrm>
          <a:prstGeom prst="rect">
            <a:avLst/>
          </a:prstGeom>
        </p:spPr>
      </p:pic>
      <p:sp>
        <p:nvSpPr>
          <p:cNvPr id="27" name="Text 19"/>
          <p:cNvSpPr txBox="1"/>
          <p:nvPr/>
        </p:nvSpPr>
        <p:spPr>
          <a:xfrm>
            <a:off x="5715000" y="1773936"/>
            <a:ext cx="3108960" cy="320040"/>
          </a:xfrm>
          <a:prstGeom prst="rect">
            <a:avLst/>
          </a:prstGeom>
          <a:noFill/>
          <a:ln/>
        </p:spPr>
        <p:txBody>
          <a:bodyPr wrap="square" lIns="0" tIns="0" rIns="0" bIns="0" rtlCol="0" anchor="t"/>
          <a:lstStyle/>
          <a:p>
            <a:pPr indent="0" marL="0">
              <a:buNone/>
            </a:pPr>
            <a:r>
              <a:rPr lang="en-US" sz="1500" b="1" dirty="0">
                <a:solidFill>
                  <a:schemeClr val="tx1"/>
                </a:solidFill>
              </a:rPr>
              <a:t>Keyboard and screen reader</a:t>
            </a:r>
            <a:endParaRPr lang="en-US" sz="1500" dirty="0"/>
          </a:p>
        </p:txBody>
      </p:sp>
      <p:sp>
        <p:nvSpPr>
          <p:cNvPr id="28" name="Text 20"/>
          <p:cNvSpPr txBox="1"/>
          <p:nvPr/>
        </p:nvSpPr>
        <p:spPr>
          <a:xfrm>
            <a:off x="5715000" y="2093976"/>
            <a:ext cx="3108960" cy="502920"/>
          </a:xfrm>
          <a:prstGeom prst="rect">
            <a:avLst/>
          </a:prstGeom>
          <a:noFill/>
          <a:ln/>
        </p:spPr>
        <p:txBody>
          <a:bodyPr wrap="square" lIns="0" tIns="0" rIns="0" bIns="0" rtlCol="0" anchor="t"/>
          <a:lstStyle/>
          <a:p>
            <a:pPr indent="0" marL="0">
              <a:buNone/>
            </a:pPr>
            <a:r>
              <a:rPr lang="en-US" sz="1300" dirty="0">
                <a:solidFill>
                  <a:schemeClr val="tx2"/>
                </a:solidFill>
              </a:rPr>
              <a:t>Every control reachable and labelled</a:t>
            </a:r>
            <a:endParaRPr lang="en-US" sz="1300" dirty="0"/>
          </a:p>
        </p:txBody>
      </p:sp>
      <p:sp>
        <p:nvSpPr>
          <p:cNvPr id="29" name="icon-bg-check"/>
          <p:cNvSpPr/>
          <p:nvPr/>
        </p:nvSpPr>
        <p:spPr>
          <a:xfrm>
            <a:off x="5074920" y="2889504"/>
            <a:ext cx="457200" cy="457200"/>
          </a:xfrm>
          <a:prstGeom prst="ellipse">
            <a:avLst/>
          </a:prstGeom>
          <a:solidFill>
            <a:schemeClr val="accent3">
              <a:alpha val="18000"/>
            </a:schemeClr>
          </a:solidFill>
          <a:ln/>
        </p:spPr>
      </p:sp>
      <p:pic>
        <p:nvPicPr>
          <p:cNvPr id="30" name="icon-check" descr="preencoded.png">    </p:cNvPr>
          <p:cNvPicPr>
            <a:picLocks noChangeAspect="1"/>
          </p:cNvPicPr>
          <p:nvPr/>
        </p:nvPicPr>
        <p:blipFill>
          <a:blip r:embed="rId7"/>
          <a:stretch>
            <a:fillRect/>
          </a:stretch>
        </p:blipFill>
        <p:spPr>
          <a:xfrm>
            <a:off x="5175504" y="2990088"/>
            <a:ext cx="256032" cy="256032"/>
          </a:xfrm>
          <a:prstGeom prst="rect">
            <a:avLst/>
          </a:prstGeom>
        </p:spPr>
      </p:pic>
      <p:sp>
        <p:nvSpPr>
          <p:cNvPr id="31" name="Text 22"/>
          <p:cNvSpPr txBox="1"/>
          <p:nvPr/>
        </p:nvSpPr>
        <p:spPr>
          <a:xfrm>
            <a:off x="5715000" y="2852928"/>
            <a:ext cx="3108960" cy="320040"/>
          </a:xfrm>
          <a:prstGeom prst="rect">
            <a:avLst/>
          </a:prstGeom>
          <a:noFill/>
          <a:ln/>
        </p:spPr>
        <p:txBody>
          <a:bodyPr wrap="square" lIns="0" tIns="0" rIns="0" bIns="0" rtlCol="0" anchor="t"/>
          <a:lstStyle/>
          <a:p>
            <a:pPr indent="0" marL="0">
              <a:buNone/>
            </a:pPr>
            <a:r>
              <a:rPr lang="en-US" sz="1500" b="1" dirty="0">
                <a:solidFill>
                  <a:schemeClr val="tx1"/>
                </a:solidFill>
              </a:rPr>
              <a:t>High contrast</a:t>
            </a:r>
            <a:endParaRPr lang="en-US" sz="1500" dirty="0"/>
          </a:p>
        </p:txBody>
      </p:sp>
      <p:sp>
        <p:nvSpPr>
          <p:cNvPr id="32" name="Text 23"/>
          <p:cNvSpPr txBox="1"/>
          <p:nvPr/>
        </p:nvSpPr>
        <p:spPr>
          <a:xfrm>
            <a:off x="5715000" y="3172968"/>
            <a:ext cx="3108960" cy="502920"/>
          </a:xfrm>
          <a:prstGeom prst="rect">
            <a:avLst/>
          </a:prstGeom>
          <a:noFill/>
          <a:ln/>
        </p:spPr>
        <p:txBody>
          <a:bodyPr wrap="square" lIns="0" tIns="0" rIns="0" bIns="0" rtlCol="0" anchor="t"/>
          <a:lstStyle/>
          <a:p>
            <a:pPr indent="0" marL="0">
              <a:buNone/>
            </a:pPr>
            <a:r>
              <a:rPr lang="en-US" sz="1300" dirty="0">
                <a:solidFill>
                  <a:schemeClr val="tx2"/>
                </a:solidFill>
              </a:rPr>
              <a:t>WCAG AA colours, light and dark mode</a:t>
            </a:r>
            <a:endParaRPr lang="en-US" sz="1300" dirty="0"/>
          </a:p>
        </p:txBody>
      </p:sp>
      <p:sp>
        <p:nvSpPr>
          <p:cNvPr id="33" name="icon-bg-check"/>
          <p:cNvSpPr/>
          <p:nvPr/>
        </p:nvSpPr>
        <p:spPr>
          <a:xfrm>
            <a:off x="5074920" y="3968496"/>
            <a:ext cx="457200" cy="457200"/>
          </a:xfrm>
          <a:prstGeom prst="ellipse">
            <a:avLst/>
          </a:prstGeom>
          <a:solidFill>
            <a:schemeClr val="accent3">
              <a:alpha val="18000"/>
            </a:schemeClr>
          </a:solidFill>
          <a:ln/>
        </p:spPr>
      </p:sp>
      <p:pic>
        <p:nvPicPr>
          <p:cNvPr id="34" name="icon-check" descr="preencoded.png">    </p:cNvPr>
          <p:cNvPicPr>
            <a:picLocks noChangeAspect="1"/>
          </p:cNvPicPr>
          <p:nvPr/>
        </p:nvPicPr>
        <p:blipFill>
          <a:blip r:embed="rId8"/>
          <a:stretch>
            <a:fillRect/>
          </a:stretch>
        </p:blipFill>
        <p:spPr>
          <a:xfrm>
            <a:off x="5175504" y="4069080"/>
            <a:ext cx="256032" cy="256032"/>
          </a:xfrm>
          <a:prstGeom prst="rect">
            <a:avLst/>
          </a:prstGeom>
        </p:spPr>
      </p:pic>
      <p:sp>
        <p:nvSpPr>
          <p:cNvPr id="35" name="Text 25"/>
          <p:cNvSpPr txBox="1"/>
          <p:nvPr/>
        </p:nvSpPr>
        <p:spPr>
          <a:xfrm>
            <a:off x="5715000" y="3931920"/>
            <a:ext cx="3108960" cy="320040"/>
          </a:xfrm>
          <a:prstGeom prst="rect">
            <a:avLst/>
          </a:prstGeom>
          <a:noFill/>
          <a:ln/>
        </p:spPr>
        <p:txBody>
          <a:bodyPr wrap="square" lIns="0" tIns="0" rIns="0" bIns="0" rtlCol="0" anchor="t"/>
          <a:lstStyle/>
          <a:p>
            <a:pPr indent="0" marL="0">
              <a:buNone/>
            </a:pPr>
            <a:r>
              <a:rPr lang="en-US" sz="1500" b="1" dirty="0">
                <a:solidFill>
                  <a:schemeClr val="tx1"/>
                </a:solidFill>
              </a:rPr>
              <a:t>Mobile-first</a:t>
            </a:r>
            <a:endParaRPr lang="en-US" sz="1500" dirty="0"/>
          </a:p>
        </p:txBody>
      </p:sp>
      <p:sp>
        <p:nvSpPr>
          <p:cNvPr id="36" name="Text 26"/>
          <p:cNvSpPr txBox="1"/>
          <p:nvPr/>
        </p:nvSpPr>
        <p:spPr>
          <a:xfrm>
            <a:off x="5715000" y="4251960"/>
            <a:ext cx="3108960" cy="502920"/>
          </a:xfrm>
          <a:prstGeom prst="rect">
            <a:avLst/>
          </a:prstGeom>
          <a:noFill/>
          <a:ln/>
        </p:spPr>
        <p:txBody>
          <a:bodyPr wrap="square" lIns="0" tIns="0" rIns="0" bIns="0" rtlCol="0" anchor="t"/>
          <a:lstStyle/>
          <a:p>
            <a:pPr indent="0" marL="0">
              <a:buNone/>
            </a:pPr>
            <a:r>
              <a:rPr lang="en-US" sz="1300" dirty="0">
                <a:solidFill>
                  <a:schemeClr val="tx2"/>
                </a:solidFill>
              </a:rPr>
              <a:t>Large touch targets for students on phones</a:t>
            </a:r>
            <a:endParaRPr lang="en-US" sz="1300" dirty="0"/>
          </a:p>
        </p:txBody>
      </p:sp>
      <p:sp>
        <p:nvSpPr>
          <p:cNvPr id="37" name="icon-bg-check"/>
          <p:cNvSpPr/>
          <p:nvPr/>
        </p:nvSpPr>
        <p:spPr>
          <a:xfrm>
            <a:off x="5074920" y="5047488"/>
            <a:ext cx="457200" cy="457200"/>
          </a:xfrm>
          <a:prstGeom prst="ellipse">
            <a:avLst/>
          </a:prstGeom>
          <a:solidFill>
            <a:schemeClr val="accent3">
              <a:alpha val="18000"/>
            </a:schemeClr>
          </a:solidFill>
          <a:ln/>
        </p:spPr>
      </p:sp>
      <p:pic>
        <p:nvPicPr>
          <p:cNvPr id="38" name="icon-check" descr="preencoded.png">    </p:cNvPr>
          <p:cNvPicPr>
            <a:picLocks noChangeAspect="1"/>
          </p:cNvPicPr>
          <p:nvPr/>
        </p:nvPicPr>
        <p:blipFill>
          <a:blip r:embed="rId9"/>
          <a:stretch>
            <a:fillRect/>
          </a:stretch>
        </p:blipFill>
        <p:spPr>
          <a:xfrm>
            <a:off x="5175504" y="5148072"/>
            <a:ext cx="256032" cy="256032"/>
          </a:xfrm>
          <a:prstGeom prst="rect">
            <a:avLst/>
          </a:prstGeom>
        </p:spPr>
      </p:pic>
      <p:sp>
        <p:nvSpPr>
          <p:cNvPr id="39" name="Text 28"/>
          <p:cNvSpPr txBox="1"/>
          <p:nvPr/>
        </p:nvSpPr>
        <p:spPr>
          <a:xfrm>
            <a:off x="5715000" y="5010912"/>
            <a:ext cx="3108960" cy="320040"/>
          </a:xfrm>
          <a:prstGeom prst="rect">
            <a:avLst/>
          </a:prstGeom>
          <a:noFill/>
          <a:ln/>
        </p:spPr>
        <p:txBody>
          <a:bodyPr wrap="square" lIns="0" tIns="0" rIns="0" bIns="0" rtlCol="0" anchor="t"/>
          <a:lstStyle/>
          <a:p>
            <a:pPr indent="0" marL="0">
              <a:buNone/>
            </a:pPr>
            <a:r>
              <a:rPr lang="en-US" sz="1500" b="1" dirty="0">
                <a:solidFill>
                  <a:schemeClr val="tx1"/>
                </a:solidFill>
              </a:rPr>
              <a:t>Reduced motion and plain words</a:t>
            </a:r>
            <a:endParaRPr lang="en-US" sz="1500" dirty="0"/>
          </a:p>
        </p:txBody>
      </p:sp>
      <p:sp>
        <p:nvSpPr>
          <p:cNvPr id="40" name="Text 29"/>
          <p:cNvSpPr txBox="1"/>
          <p:nvPr/>
        </p:nvSpPr>
        <p:spPr>
          <a:xfrm>
            <a:off x="5715000" y="5330952"/>
            <a:ext cx="3108960" cy="502920"/>
          </a:xfrm>
          <a:prstGeom prst="rect">
            <a:avLst/>
          </a:prstGeom>
          <a:noFill/>
          <a:ln/>
        </p:spPr>
        <p:txBody>
          <a:bodyPr wrap="square" lIns="0" tIns="0" rIns="0" bIns="0" rtlCol="0" anchor="t"/>
          <a:lstStyle/>
          <a:p>
            <a:pPr indent="0" marL="0">
              <a:buNone/>
            </a:pPr>
            <a:r>
              <a:rPr lang="en-US" sz="1300" dirty="0">
                <a:solidFill>
                  <a:schemeClr val="tx2"/>
                </a:solidFill>
              </a:rPr>
              <a:t>Animations can be turned off; short sentences</a:t>
            </a:r>
            <a:endParaRPr lang="en-US" sz="1300" dirty="0"/>
          </a:p>
        </p:txBody>
      </p:sp>
      <p:sp>
        <p:nvSpPr>
          <p:cNvPr id="41" name="print"/>
          <p:cNvSpPr/>
          <p:nvPr/>
        </p:nvSpPr>
        <p:spPr>
          <a:xfrm>
            <a:off x="9235097" y="1243584"/>
            <a:ext cx="2423847" cy="5056632"/>
          </a:xfrm>
          <a:prstGeom prst="rect">
            <a:avLst/>
          </a:prstGeom>
          <a:solidFill>
            <a:schemeClr val="bg1"/>
          </a:solidFill>
          <a:ln w="9525">
            <a:solidFill>
              <a:schemeClr val="accent6"/>
            </a:solidFill>
            <a:prstDash val="solid"/>
          </a:ln>
          <a:effectLst>
            <a:outerShdw sx="100000" sy="100000" kx="0" ky="0" algn="bl" rotWithShape="0" blurRad="127000" dist="38100" dir="5400000">
              <a:srgbClr val="14213D">
                <a:alpha val="18000"/>
              </a:srgbClr>
            </a:outerShdw>
          </a:effectLst>
        </p:spPr>
      </p:sp>
      <p:pic>
        <p:nvPicPr>
          <p:cNvPr id="42" name="image" descr="HumanFactor consent screen on a phone, with checkboxes for consent and age confirmation.">    </p:cNvPr>
          <p:cNvPicPr>
            <a:picLocks noChangeAspect="1"/>
          </p:cNvPicPr>
          <p:nvPr/>
        </p:nvPicPr>
        <p:blipFill>
          <a:blip r:embed="rId10"/>
          <a:stretch>
            <a:fillRect/>
          </a:stretch>
        </p:blipFill>
        <p:spPr>
          <a:xfrm>
            <a:off x="9317393" y="1325880"/>
            <a:ext cx="2259255" cy="4892040"/>
          </a:xfrm>
          <a:prstGeom prst="rect">
            <a:avLst/>
          </a:prstGeom>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Each poster is a nudge</a:t>
            </a:r>
            <a:endParaRPr lang="en-US" sz="3400" dirty="0"/>
          </a:p>
        </p:txBody>
      </p:sp>
      <p:sp>
        <p:nvSpPr>
          <p:cNvPr id="3" name="card"/>
          <p:cNvSpPr/>
          <p:nvPr/>
        </p:nvSpPr>
        <p:spPr>
          <a:xfrm>
            <a:off x="548640" y="1325880"/>
            <a:ext cx="2633472" cy="4846320"/>
          </a:xfrm>
          <a:prstGeom prst="roundRect">
            <a:avLst>
              <a:gd name="adj" fmla="val 3472"/>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pic>
        <p:nvPicPr>
          <p:cNvPr id="4" name="image" descr="Poster: It looks real. But is it? A fake university email with four warning signs.">    </p:cNvPr>
          <p:cNvPicPr>
            <a:picLocks noChangeAspect="1"/>
          </p:cNvPicPr>
          <p:nvPr/>
        </p:nvPicPr>
        <p:blipFill>
          <a:blip r:embed="rId1"/>
          <a:stretch>
            <a:fillRect/>
          </a:stretch>
        </p:blipFill>
        <p:spPr>
          <a:xfrm>
            <a:off x="1095788" y="1481328"/>
            <a:ext cx="1539176" cy="2011680"/>
          </a:xfrm>
          <a:prstGeom prst="rect">
            <a:avLst/>
          </a:prstGeom>
        </p:spPr>
      </p:pic>
      <p:sp>
        <p:nvSpPr>
          <p:cNvPr id="5" name="chip"/>
          <p:cNvSpPr txBox="1"/>
          <p:nvPr/>
        </p:nvSpPr>
        <p:spPr>
          <a:xfrm>
            <a:off x="713232" y="3657600"/>
            <a:ext cx="2304288" cy="384048"/>
          </a:xfrm>
          <a:prstGeom prst="roundRect">
            <a:avLst>
              <a:gd name="adj" fmla="val 119048"/>
            </a:avLst>
          </a:prstGeom>
          <a:solidFill>
            <a:schemeClr val="accent5"/>
          </a:solidFill>
          <a:ln/>
        </p:spPr>
        <p:txBody>
          <a:bodyPr wrap="square" lIns="0" tIns="101600" rIns="101600" bIns="0" rtlCol="0" anchor="ctr"/>
          <a:lstStyle/>
          <a:p>
            <a:pPr algn="ctr" indent="0" marL="0">
              <a:buNone/>
            </a:pPr>
            <a:r>
              <a:rPr lang="en-US" sz="1200" b="1" dirty="0">
                <a:solidFill>
                  <a:schemeClr val="tx1"/>
                </a:solidFill>
              </a:rPr>
              <a:t>Salience + rule of thumb</a:t>
            </a:r>
            <a:endParaRPr lang="en-US" sz="1200" dirty="0"/>
          </a:p>
        </p:txBody>
      </p:sp>
      <p:sp>
        <p:nvSpPr>
          <p:cNvPr id="6" name="Text 3"/>
          <p:cNvSpPr txBox="1"/>
          <p:nvPr/>
        </p:nvSpPr>
        <p:spPr>
          <a:xfrm>
            <a:off x="731520" y="4160520"/>
            <a:ext cx="2286000" cy="502920"/>
          </a:xfrm>
          <a:prstGeom prst="rect">
            <a:avLst/>
          </a:prstGeom>
          <a:noFill/>
          <a:ln/>
        </p:spPr>
        <p:txBody>
          <a:bodyPr wrap="square" lIns="0" tIns="0" rIns="0" bIns="0" rtlCol="0" anchor="t"/>
          <a:lstStyle/>
          <a:p>
            <a:pPr indent="0" marL="0">
              <a:buNone/>
            </a:pPr>
            <a:r>
              <a:rPr lang="en-US" sz="1400" b="1" dirty="0">
                <a:solidFill>
                  <a:schemeClr val="tx1"/>
                </a:solidFill>
              </a:rPr>
              <a:t>It looks real. But is it?</a:t>
            </a:r>
            <a:endParaRPr lang="en-US" sz="1400" dirty="0"/>
          </a:p>
        </p:txBody>
      </p:sp>
      <p:sp>
        <p:nvSpPr>
          <p:cNvPr id="7" name="Text 4"/>
          <p:cNvSpPr txBox="1"/>
          <p:nvPr/>
        </p:nvSpPr>
        <p:spPr>
          <a:xfrm>
            <a:off x="731520" y="4663440"/>
            <a:ext cx="2286000" cy="960120"/>
          </a:xfrm>
          <a:prstGeom prst="rect">
            <a:avLst/>
          </a:prstGeom>
          <a:noFill/>
          <a:ln/>
        </p:spPr>
        <p:txBody>
          <a:bodyPr wrap="square" lIns="0" tIns="0" rIns="0" bIns="0" rtlCol="0" anchor="t"/>
          <a:lstStyle/>
          <a:p>
            <a:pPr indent="0" marL="0">
              <a:buNone/>
            </a:pPr>
            <a:r>
              <a:rPr lang="en-US" sz="1200" dirty="0">
                <a:solidFill>
                  <a:schemeClr val="tx2"/>
                </a:solidFill>
              </a:rPr>
              <a:t>Puts the four clues where the eye lands, then gives one rule: "When in doubt, don't click. Verify."</a:t>
            </a:r>
            <a:endParaRPr lang="en-US" sz="1200" dirty="0"/>
          </a:p>
        </p:txBody>
      </p:sp>
      <p:sp>
        <p:nvSpPr>
          <p:cNvPr id="8" name="Text 5"/>
          <p:cNvSpPr txBox="1"/>
          <p:nvPr/>
        </p:nvSpPr>
        <p:spPr>
          <a:xfrm>
            <a:off x="731520" y="5715000"/>
            <a:ext cx="2286000" cy="365760"/>
          </a:xfrm>
          <a:prstGeom prst="rect">
            <a:avLst/>
          </a:prstGeom>
          <a:noFill/>
          <a:ln/>
        </p:spPr>
        <p:txBody>
          <a:bodyPr wrap="square" lIns="0" tIns="0" rIns="0" bIns="0" rtlCol="0" anchor="t"/>
          <a:lstStyle/>
          <a:p>
            <a:pPr indent="0" marL="0">
              <a:buNone/>
            </a:pPr>
            <a:r>
              <a:rPr lang="en-US" sz="1200" b="1" dirty="0">
                <a:solidFill>
                  <a:schemeClr val="accent3"/>
                </a:solidFill>
              </a:rPr>
              <a:t>Counters: attention &amp; habit, urgency</a:t>
            </a:r>
            <a:endParaRPr lang="en-US" sz="1200" dirty="0"/>
          </a:p>
        </p:txBody>
      </p:sp>
      <p:sp>
        <p:nvSpPr>
          <p:cNvPr id="9" name="card"/>
          <p:cNvSpPr/>
          <p:nvPr/>
        </p:nvSpPr>
        <p:spPr>
          <a:xfrm>
            <a:off x="3383280" y="1325880"/>
            <a:ext cx="2633472" cy="4846320"/>
          </a:xfrm>
          <a:prstGeom prst="roundRect">
            <a:avLst>
              <a:gd name="adj" fmla="val 3472"/>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pic>
        <p:nvPicPr>
          <p:cNvPr id="10" name="image" descr="Poster: A stronger password, a stronger you, comparing weak and strong passwords.">    </p:cNvPr>
          <p:cNvPicPr>
            <a:picLocks noChangeAspect="1"/>
          </p:cNvPicPr>
          <p:nvPr/>
        </p:nvPicPr>
        <p:blipFill>
          <a:blip r:embed="rId2"/>
          <a:stretch>
            <a:fillRect/>
          </a:stretch>
        </p:blipFill>
        <p:spPr>
          <a:xfrm>
            <a:off x="3547872" y="1512793"/>
            <a:ext cx="2304288" cy="1948750"/>
          </a:xfrm>
          <a:prstGeom prst="rect">
            <a:avLst/>
          </a:prstGeom>
        </p:spPr>
      </p:pic>
      <p:sp>
        <p:nvSpPr>
          <p:cNvPr id="11" name="chip"/>
          <p:cNvSpPr txBox="1"/>
          <p:nvPr/>
        </p:nvSpPr>
        <p:spPr>
          <a:xfrm>
            <a:off x="3547872" y="3657600"/>
            <a:ext cx="2304288" cy="384048"/>
          </a:xfrm>
          <a:prstGeom prst="roundRect">
            <a:avLst>
              <a:gd name="adj" fmla="val 119048"/>
            </a:avLst>
          </a:prstGeom>
          <a:solidFill>
            <a:schemeClr val="accent5"/>
          </a:solidFill>
          <a:ln/>
        </p:spPr>
        <p:txBody>
          <a:bodyPr wrap="square" lIns="0" tIns="101600" rIns="101600" bIns="0" rtlCol="0" anchor="ctr"/>
          <a:lstStyle/>
          <a:p>
            <a:pPr algn="ctr" indent="0" marL="0">
              <a:buNone/>
            </a:pPr>
            <a:r>
              <a:rPr lang="en-US" sz="1200" b="1" dirty="0">
                <a:solidFill>
                  <a:schemeClr val="tx1"/>
                </a:solidFill>
              </a:rPr>
              <a:t>Identity + easy defaults</a:t>
            </a:r>
            <a:endParaRPr lang="en-US" sz="1200" dirty="0"/>
          </a:p>
        </p:txBody>
      </p:sp>
      <p:sp>
        <p:nvSpPr>
          <p:cNvPr id="12" name="Text 8"/>
          <p:cNvSpPr txBox="1"/>
          <p:nvPr/>
        </p:nvSpPr>
        <p:spPr>
          <a:xfrm>
            <a:off x="3566160" y="4160520"/>
            <a:ext cx="2286000" cy="502920"/>
          </a:xfrm>
          <a:prstGeom prst="rect">
            <a:avLst/>
          </a:prstGeom>
          <a:noFill/>
          <a:ln/>
        </p:spPr>
        <p:txBody>
          <a:bodyPr wrap="square" lIns="0" tIns="0" rIns="0" bIns="0" rtlCol="0" anchor="t"/>
          <a:lstStyle/>
          <a:p>
            <a:pPr indent="0" marL="0">
              <a:buNone/>
            </a:pPr>
            <a:r>
              <a:rPr lang="en-US" sz="1400" b="1" dirty="0">
                <a:solidFill>
                  <a:schemeClr val="tx1"/>
                </a:solidFill>
              </a:rPr>
              <a:t>A stronger password, a stronger you</a:t>
            </a:r>
            <a:endParaRPr lang="en-US" sz="1400" dirty="0"/>
          </a:p>
        </p:txBody>
      </p:sp>
      <p:sp>
        <p:nvSpPr>
          <p:cNvPr id="13" name="Text 9"/>
          <p:cNvSpPr txBox="1"/>
          <p:nvPr/>
        </p:nvSpPr>
        <p:spPr>
          <a:xfrm>
            <a:off x="3566160" y="4663440"/>
            <a:ext cx="2286000" cy="960120"/>
          </a:xfrm>
          <a:prstGeom prst="rect">
            <a:avLst/>
          </a:prstGeom>
          <a:noFill/>
          <a:ln/>
        </p:spPr>
        <p:txBody>
          <a:bodyPr wrap="square" lIns="0" tIns="0" rIns="0" bIns="0" rtlCol="0" anchor="t"/>
          <a:lstStyle/>
          <a:p>
            <a:pPr indent="0" marL="0">
              <a:buNone/>
            </a:pPr>
            <a:r>
              <a:rPr lang="en-US" sz="1200" dirty="0">
                <a:solidFill>
                  <a:schemeClr val="tx2"/>
                </a:solidFill>
              </a:rPr>
              <a:t>Makes security personal ("a stronger you") and makes the safe choice easy: four tips, a password manager, MFA.</a:t>
            </a:r>
            <a:endParaRPr lang="en-US" sz="1200" dirty="0"/>
          </a:p>
        </p:txBody>
      </p:sp>
      <p:sp>
        <p:nvSpPr>
          <p:cNvPr id="14" name="Text 10"/>
          <p:cNvSpPr txBox="1"/>
          <p:nvPr/>
        </p:nvSpPr>
        <p:spPr>
          <a:xfrm>
            <a:off x="3566160" y="5715000"/>
            <a:ext cx="2286000" cy="365760"/>
          </a:xfrm>
          <a:prstGeom prst="rect">
            <a:avLst/>
          </a:prstGeom>
          <a:noFill/>
          <a:ln/>
        </p:spPr>
        <p:txBody>
          <a:bodyPr wrap="square" lIns="0" tIns="0" rIns="0" bIns="0" rtlCol="0" anchor="t"/>
          <a:lstStyle/>
          <a:p>
            <a:pPr indent="0" marL="0">
              <a:buNone/>
            </a:pPr>
            <a:r>
              <a:rPr lang="en-US" sz="1200" b="1" dirty="0">
                <a:solidFill>
                  <a:schemeClr val="accent3"/>
                </a:solidFill>
              </a:rPr>
              <a:t>Counters: optimism &amp; inaction</a:t>
            </a:r>
            <a:endParaRPr lang="en-US" sz="1200" dirty="0"/>
          </a:p>
        </p:txBody>
      </p:sp>
      <p:sp>
        <p:nvSpPr>
          <p:cNvPr id="15" name="card"/>
          <p:cNvSpPr/>
          <p:nvPr/>
        </p:nvSpPr>
        <p:spPr>
          <a:xfrm>
            <a:off x="6217920" y="1325880"/>
            <a:ext cx="2633472" cy="4846320"/>
          </a:xfrm>
          <a:prstGeom prst="roundRect">
            <a:avLst>
              <a:gd name="adj" fmla="val 3472"/>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pic>
        <p:nvPicPr>
          <p:cNvPr id="16" name="image" descr="Poster 3 of 4: They only need the OTP. Banks will never ask for your OTP.">    </p:cNvPr>
          <p:cNvPicPr>
            <a:picLocks noChangeAspect="1"/>
          </p:cNvPicPr>
          <p:nvPr/>
        </p:nvPicPr>
        <p:blipFill>
          <a:blip r:embed="rId3"/>
          <a:stretch>
            <a:fillRect/>
          </a:stretch>
        </p:blipFill>
        <p:spPr>
          <a:xfrm>
            <a:off x="6382512" y="1736231"/>
            <a:ext cx="2304288" cy="1501875"/>
          </a:xfrm>
          <a:prstGeom prst="rect">
            <a:avLst/>
          </a:prstGeom>
        </p:spPr>
      </p:pic>
      <p:sp>
        <p:nvSpPr>
          <p:cNvPr id="17" name="chip"/>
          <p:cNvSpPr txBox="1"/>
          <p:nvPr/>
        </p:nvSpPr>
        <p:spPr>
          <a:xfrm>
            <a:off x="6382512" y="3657600"/>
            <a:ext cx="2304288" cy="384048"/>
          </a:xfrm>
          <a:prstGeom prst="roundRect">
            <a:avLst>
              <a:gd name="adj" fmla="val 119048"/>
            </a:avLst>
          </a:prstGeom>
          <a:solidFill>
            <a:schemeClr val="accent5"/>
          </a:solidFill>
          <a:ln/>
        </p:spPr>
        <p:txBody>
          <a:bodyPr wrap="square" lIns="0" tIns="101600" rIns="101600" bIns="0" rtlCol="0" anchor="ctr"/>
          <a:lstStyle/>
          <a:p>
            <a:pPr algn="ctr" indent="0" marL="0">
              <a:buNone/>
            </a:pPr>
            <a:r>
              <a:rPr lang="en-US" sz="1200" b="1" dirty="0">
                <a:solidFill>
                  <a:schemeClr val="tx1"/>
                </a:solidFill>
              </a:rPr>
              <a:t>Pre-bunking</a:t>
            </a:r>
            <a:endParaRPr lang="en-US" sz="1200" dirty="0"/>
          </a:p>
        </p:txBody>
      </p:sp>
      <p:sp>
        <p:nvSpPr>
          <p:cNvPr id="18" name="Text 13"/>
          <p:cNvSpPr txBox="1"/>
          <p:nvPr/>
        </p:nvSpPr>
        <p:spPr>
          <a:xfrm>
            <a:off x="6400800" y="4160520"/>
            <a:ext cx="2286000" cy="502920"/>
          </a:xfrm>
          <a:prstGeom prst="rect">
            <a:avLst/>
          </a:prstGeom>
          <a:noFill/>
          <a:ln/>
        </p:spPr>
        <p:txBody>
          <a:bodyPr wrap="square" lIns="0" tIns="0" rIns="0" bIns="0" rtlCol="0" anchor="t"/>
          <a:lstStyle/>
          <a:p>
            <a:pPr indent="0" marL="0">
              <a:buNone/>
            </a:pPr>
            <a:r>
              <a:rPr lang="en-US" sz="1400" b="1" dirty="0">
                <a:solidFill>
                  <a:schemeClr val="tx1"/>
                </a:solidFill>
              </a:rPr>
              <a:t>They only need the OTP</a:t>
            </a:r>
            <a:endParaRPr lang="en-US" sz="1400" dirty="0"/>
          </a:p>
        </p:txBody>
      </p:sp>
      <p:sp>
        <p:nvSpPr>
          <p:cNvPr id="19" name="Text 14"/>
          <p:cNvSpPr txBox="1"/>
          <p:nvPr/>
        </p:nvSpPr>
        <p:spPr>
          <a:xfrm>
            <a:off x="6400800" y="4663440"/>
            <a:ext cx="2286000" cy="960120"/>
          </a:xfrm>
          <a:prstGeom prst="rect">
            <a:avLst/>
          </a:prstGeom>
          <a:noFill/>
          <a:ln/>
        </p:spPr>
        <p:txBody>
          <a:bodyPr wrap="square" lIns="0" tIns="0" rIns="0" bIns="0" rtlCol="0" anchor="t"/>
          <a:lstStyle/>
          <a:p>
            <a:pPr indent="0" marL="0">
              <a:buNone/>
            </a:pPr>
            <a:r>
              <a:rPr lang="en-US" sz="1200" dirty="0">
                <a:solidFill>
                  <a:schemeClr val="tx2"/>
                </a:solidFill>
              </a:rPr>
              <a:t>Shows the scam before it arrives ("banks will never ask for your OTP"), so the real request feels wrong.</a:t>
            </a:r>
            <a:endParaRPr lang="en-US" sz="1200" dirty="0"/>
          </a:p>
        </p:txBody>
      </p:sp>
      <p:sp>
        <p:nvSpPr>
          <p:cNvPr id="20" name="Text 15"/>
          <p:cNvSpPr txBox="1"/>
          <p:nvPr/>
        </p:nvSpPr>
        <p:spPr>
          <a:xfrm>
            <a:off x="6400800" y="5715000"/>
            <a:ext cx="2286000" cy="365760"/>
          </a:xfrm>
          <a:prstGeom prst="rect">
            <a:avLst/>
          </a:prstGeom>
          <a:noFill/>
          <a:ln/>
        </p:spPr>
        <p:txBody>
          <a:bodyPr wrap="square" lIns="0" tIns="0" rIns="0" bIns="0" rtlCol="0" anchor="t"/>
          <a:lstStyle/>
          <a:p>
            <a:pPr indent="0" marL="0">
              <a:buNone/>
            </a:pPr>
            <a:r>
              <a:rPr lang="en-US" sz="1200" b="1" dirty="0">
                <a:solidFill>
                  <a:schemeClr val="accent3"/>
                </a:solidFill>
              </a:rPr>
              <a:t>Counters: authority, social trust</a:t>
            </a:r>
            <a:endParaRPr lang="en-US" sz="1200" dirty="0"/>
          </a:p>
        </p:txBody>
      </p:sp>
      <p:sp>
        <p:nvSpPr>
          <p:cNvPr id="21" name="card"/>
          <p:cNvSpPr/>
          <p:nvPr/>
        </p:nvSpPr>
        <p:spPr>
          <a:xfrm>
            <a:off x="9052560" y="1325880"/>
            <a:ext cx="2633472" cy="4846320"/>
          </a:xfrm>
          <a:prstGeom prst="roundRect">
            <a:avLst>
              <a:gd name="adj" fmla="val 3472"/>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pic>
        <p:nvPicPr>
          <p:cNvPr id="22" name="image" descr="Poster 4 of 4: Spotted something suspicious? Stop, Secure, Report, Stay alert.">    </p:cNvPr>
          <p:cNvPicPr>
            <a:picLocks noChangeAspect="1"/>
          </p:cNvPicPr>
          <p:nvPr/>
        </p:nvPicPr>
        <p:blipFill>
          <a:blip r:embed="rId4"/>
          <a:stretch>
            <a:fillRect/>
          </a:stretch>
        </p:blipFill>
        <p:spPr>
          <a:xfrm>
            <a:off x="9217152" y="1738078"/>
            <a:ext cx="2304288" cy="1498180"/>
          </a:xfrm>
          <a:prstGeom prst="rect">
            <a:avLst/>
          </a:prstGeom>
        </p:spPr>
      </p:pic>
      <p:sp>
        <p:nvSpPr>
          <p:cNvPr id="23" name="chip"/>
          <p:cNvSpPr txBox="1"/>
          <p:nvPr/>
        </p:nvSpPr>
        <p:spPr>
          <a:xfrm>
            <a:off x="9217152" y="3657600"/>
            <a:ext cx="2304288" cy="384048"/>
          </a:xfrm>
          <a:prstGeom prst="roundRect">
            <a:avLst>
              <a:gd name="adj" fmla="val 119048"/>
            </a:avLst>
          </a:prstGeom>
          <a:solidFill>
            <a:schemeClr val="accent5"/>
          </a:solidFill>
          <a:ln/>
        </p:spPr>
        <p:txBody>
          <a:bodyPr wrap="square" lIns="0" tIns="101600" rIns="101600" bIns="0" rtlCol="0" anchor="ctr"/>
          <a:lstStyle/>
          <a:p>
            <a:pPr algn="ctr" indent="0" marL="0">
              <a:buNone/>
            </a:pPr>
            <a:r>
              <a:rPr lang="en-US" sz="1200" b="1" dirty="0">
                <a:solidFill>
                  <a:schemeClr val="tx1"/>
                </a:solidFill>
              </a:rPr>
              <a:t>Ready-made plan</a:t>
            </a:r>
            <a:endParaRPr lang="en-US" sz="1200" dirty="0"/>
          </a:p>
        </p:txBody>
      </p:sp>
      <p:sp>
        <p:nvSpPr>
          <p:cNvPr id="24" name="Text 18"/>
          <p:cNvSpPr txBox="1"/>
          <p:nvPr/>
        </p:nvSpPr>
        <p:spPr>
          <a:xfrm>
            <a:off x="9235440" y="4160520"/>
            <a:ext cx="2286000" cy="502920"/>
          </a:xfrm>
          <a:prstGeom prst="rect">
            <a:avLst/>
          </a:prstGeom>
          <a:noFill/>
          <a:ln/>
        </p:spPr>
        <p:txBody>
          <a:bodyPr wrap="square" lIns="0" tIns="0" rIns="0" bIns="0" rtlCol="0" anchor="t"/>
          <a:lstStyle/>
          <a:p>
            <a:pPr indent="0" marL="0">
              <a:buNone/>
            </a:pPr>
            <a:r>
              <a:rPr lang="en-US" sz="1400" b="1" dirty="0">
                <a:solidFill>
                  <a:schemeClr val="tx1"/>
                </a:solidFill>
              </a:rPr>
              <a:t>Spotted something suspicious?</a:t>
            </a:r>
            <a:endParaRPr lang="en-US" sz="1400" dirty="0"/>
          </a:p>
        </p:txBody>
      </p:sp>
      <p:sp>
        <p:nvSpPr>
          <p:cNvPr id="25" name="Text 19"/>
          <p:cNvSpPr txBox="1"/>
          <p:nvPr/>
        </p:nvSpPr>
        <p:spPr>
          <a:xfrm>
            <a:off x="9235440" y="4663440"/>
            <a:ext cx="2286000" cy="960120"/>
          </a:xfrm>
          <a:prstGeom prst="rect">
            <a:avLst/>
          </a:prstGeom>
          <a:noFill/>
          <a:ln/>
        </p:spPr>
        <p:txBody>
          <a:bodyPr wrap="square" lIns="0" tIns="0" rIns="0" bIns="0" rtlCol="0" anchor="t"/>
          <a:lstStyle/>
          <a:p>
            <a:pPr indent="0" marL="0">
              <a:buNone/>
            </a:pPr>
            <a:r>
              <a:rPr lang="en-US" sz="1200" dirty="0">
                <a:solidFill>
                  <a:schemeClr val="tx2"/>
                </a:solidFill>
              </a:rPr>
              <a:t>An if-then plan (Stop → Secure → Report → Stay alert), so people act instead of freezing.</a:t>
            </a:r>
            <a:endParaRPr lang="en-US" sz="1200" dirty="0"/>
          </a:p>
        </p:txBody>
      </p:sp>
      <p:sp>
        <p:nvSpPr>
          <p:cNvPr id="26" name="Text 20"/>
          <p:cNvSpPr txBox="1"/>
          <p:nvPr/>
        </p:nvSpPr>
        <p:spPr>
          <a:xfrm>
            <a:off x="9235440" y="5715000"/>
            <a:ext cx="2286000" cy="365760"/>
          </a:xfrm>
          <a:prstGeom prst="rect">
            <a:avLst/>
          </a:prstGeom>
          <a:noFill/>
          <a:ln/>
        </p:spPr>
        <p:txBody>
          <a:bodyPr wrap="square" lIns="0" tIns="0" rIns="0" bIns="0" rtlCol="0" anchor="t"/>
          <a:lstStyle/>
          <a:p>
            <a:pPr indent="0" marL="0">
              <a:buNone/>
            </a:pPr>
            <a:r>
              <a:rPr lang="en-US" sz="1200" b="1" dirty="0">
                <a:solidFill>
                  <a:schemeClr val="accent3"/>
                </a:solidFill>
              </a:rPr>
              <a:t>Counters: optimism &amp; inaction</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@cyber.decoded_: nudges in the feed</a:t>
            </a:r>
            <a:endParaRPr lang="en-US" sz="3400" dirty="0"/>
          </a:p>
        </p:txBody>
      </p:sp>
      <p:sp>
        <p:nvSpPr>
          <p:cNvPr id="3" name="print"/>
          <p:cNvSpPr/>
          <p:nvPr/>
        </p:nvSpPr>
        <p:spPr>
          <a:xfrm>
            <a:off x="554697" y="1243584"/>
            <a:ext cx="2822525" cy="5056632"/>
          </a:xfrm>
          <a:prstGeom prst="rect">
            <a:avLst/>
          </a:prstGeom>
          <a:solidFill>
            <a:schemeClr val="bg1"/>
          </a:solidFill>
          <a:ln w="9525">
            <a:solidFill>
              <a:schemeClr val="accent6"/>
            </a:solidFill>
            <a:prstDash val="solid"/>
          </a:ln>
          <a:effectLst>
            <a:outerShdw sx="100000" sy="100000" kx="0" ky="0" algn="bl" rotWithShape="0" blurRad="127000" dist="38100" dir="5400000">
              <a:srgbClr val="14213D">
                <a:alpha val="18000"/>
              </a:srgbClr>
            </a:outerShdw>
          </a:effectLst>
        </p:spPr>
      </p:sp>
      <p:pic>
        <p:nvPicPr>
          <p:cNvPr id="4" name="image" descr="Instagram profile cyber.decoded_ with 5 posts, bio: Think. Check. Stay safe. Student-led awareness campaign.">    </p:cNvPr>
          <p:cNvPicPr>
            <a:picLocks noChangeAspect="1"/>
          </p:cNvPicPr>
          <p:nvPr/>
        </p:nvPicPr>
        <p:blipFill>
          <a:blip r:embed="rId1"/>
          <a:stretch>
            <a:fillRect/>
          </a:stretch>
        </p:blipFill>
        <p:spPr>
          <a:xfrm>
            <a:off x="636993" y="1325880"/>
            <a:ext cx="2657933" cy="4892040"/>
          </a:xfrm>
          <a:prstGeom prst="rect">
            <a:avLst/>
          </a:prstGeom>
        </p:spPr>
      </p:pic>
      <p:sp>
        <p:nvSpPr>
          <p:cNvPr id="5" name="print"/>
          <p:cNvSpPr/>
          <p:nvPr/>
        </p:nvSpPr>
        <p:spPr>
          <a:xfrm>
            <a:off x="3712464" y="1292794"/>
            <a:ext cx="2496312" cy="3083692"/>
          </a:xfrm>
          <a:prstGeom prst="rect">
            <a:avLst/>
          </a:prstGeom>
          <a:solidFill>
            <a:schemeClr val="bg1"/>
          </a:solidFill>
          <a:ln w="9525">
            <a:solidFill>
              <a:schemeClr val="accent6"/>
            </a:solidFill>
            <a:prstDash val="solid"/>
          </a:ln>
          <a:effectLst>
            <a:outerShdw sx="100000" sy="100000" kx="0" ky="0" algn="bl" rotWithShape="0" blurRad="127000" dist="38100" dir="5400000">
              <a:srgbClr val="14213D">
                <a:alpha val="18000"/>
              </a:srgbClr>
            </a:outerShdw>
          </a:effectLst>
        </p:spPr>
      </p:sp>
      <p:pic>
        <p:nvPicPr>
          <p:cNvPr id="6" name="image" descr="Carousel slide 1: Your password isn't as safe as you think.">    </p:cNvPr>
          <p:cNvPicPr>
            <a:picLocks noChangeAspect="1"/>
          </p:cNvPicPr>
          <p:nvPr/>
        </p:nvPicPr>
        <p:blipFill>
          <a:blip r:embed="rId2"/>
          <a:stretch>
            <a:fillRect/>
          </a:stretch>
        </p:blipFill>
        <p:spPr>
          <a:xfrm>
            <a:off x="3794760" y="1375090"/>
            <a:ext cx="2331720" cy="2919100"/>
          </a:xfrm>
          <a:prstGeom prst="rect">
            <a:avLst/>
          </a:prstGeom>
        </p:spPr>
      </p:pic>
      <p:sp>
        <p:nvSpPr>
          <p:cNvPr id="7" name="print"/>
          <p:cNvSpPr/>
          <p:nvPr/>
        </p:nvSpPr>
        <p:spPr>
          <a:xfrm>
            <a:off x="6272784" y="1292794"/>
            <a:ext cx="2496312" cy="3083692"/>
          </a:xfrm>
          <a:prstGeom prst="rect">
            <a:avLst/>
          </a:prstGeom>
          <a:solidFill>
            <a:schemeClr val="bg1"/>
          </a:solidFill>
          <a:ln w="9525">
            <a:solidFill>
              <a:schemeClr val="accent6"/>
            </a:solidFill>
            <a:prstDash val="solid"/>
          </a:ln>
          <a:effectLst>
            <a:outerShdw sx="100000" sy="100000" kx="0" ky="0" algn="bl" rotWithShape="0" blurRad="127000" dist="38100" dir="5400000">
              <a:srgbClr val="14213D">
                <a:alpha val="18000"/>
              </a:srgbClr>
            </a:outerShdw>
          </a:effectLst>
        </p:spPr>
      </p:sp>
      <p:pic>
        <p:nvPicPr>
          <p:cNvPr id="8" name="image" descr="Carousel slide 2: One password. All your accounts. One big risk.">    </p:cNvPr>
          <p:cNvPicPr>
            <a:picLocks noChangeAspect="1"/>
          </p:cNvPicPr>
          <p:nvPr/>
        </p:nvPicPr>
        <p:blipFill>
          <a:blip r:embed="rId3"/>
          <a:stretch>
            <a:fillRect/>
          </a:stretch>
        </p:blipFill>
        <p:spPr>
          <a:xfrm>
            <a:off x="6355080" y="1375090"/>
            <a:ext cx="2331720" cy="2919100"/>
          </a:xfrm>
          <a:prstGeom prst="rect">
            <a:avLst/>
          </a:prstGeom>
        </p:spPr>
      </p:pic>
      <p:sp>
        <p:nvSpPr>
          <p:cNvPr id="9" name="Text 4"/>
          <p:cNvSpPr txBox="1"/>
          <p:nvPr/>
        </p:nvSpPr>
        <p:spPr>
          <a:xfrm>
            <a:off x="3794760" y="4434840"/>
            <a:ext cx="4892040" cy="457200"/>
          </a:xfrm>
          <a:prstGeom prst="rect">
            <a:avLst/>
          </a:prstGeom>
          <a:noFill/>
          <a:ln/>
        </p:spPr>
        <p:txBody>
          <a:bodyPr wrap="square" lIns="0" tIns="0" rIns="0" bIns="0" rtlCol="0" anchor="t"/>
          <a:lstStyle/>
          <a:p>
            <a:pPr indent="0" marL="0">
              <a:buNone/>
            </a:pPr>
            <a:r>
              <a:rPr lang="en-US" sz="1300" dirty="0">
                <a:solidFill>
                  <a:schemeClr val="tx2"/>
                </a:solidFill>
              </a:rPr>
              <a:t>8-slide carousel "Cyber Aware Vol. 02": one reused password, four accounts at risk</a:t>
            </a:r>
            <a:endParaRPr lang="en-US" sz="1300" dirty="0"/>
          </a:p>
        </p:txBody>
      </p:sp>
      <p:sp>
        <p:nvSpPr>
          <p:cNvPr id="10" name="card"/>
          <p:cNvSpPr/>
          <p:nvPr/>
        </p:nvSpPr>
        <p:spPr>
          <a:xfrm>
            <a:off x="3794760" y="5074920"/>
            <a:ext cx="4892040" cy="1097280"/>
          </a:xfrm>
          <a:prstGeom prst="roundRect">
            <a:avLst>
              <a:gd name="adj" fmla="val 8333"/>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11" name="Text 6"/>
          <p:cNvSpPr txBox="1"/>
          <p:nvPr/>
        </p:nvSpPr>
        <p:spPr>
          <a:xfrm>
            <a:off x="4023360" y="5212080"/>
            <a:ext cx="4480560" cy="822960"/>
          </a:xfrm>
          <a:prstGeom prst="rect">
            <a:avLst/>
          </a:prstGeom>
          <a:noFill/>
          <a:ln/>
        </p:spPr>
        <p:txBody>
          <a:bodyPr wrap="square" lIns="0" tIns="0" rIns="0" bIns="0" rtlCol="0" anchor="t"/>
          <a:lstStyle/>
          <a:p>
            <a:pPr indent="0" marL="0">
              <a:buNone/>
            </a:pPr>
            <a:r>
              <a:rPr lang="en-US" sz="1400" b="1" dirty="0">
                <a:solidFill>
                  <a:schemeClr val="accent2"/>
                </a:solidFill>
              </a:rPr>
              <a:t>Early reach, honestly: </a:t>
            </a:r>
            <a:pPr indent="0" marL="0">
              <a:buNone/>
            </a:pPr>
            <a:r>
              <a:rPr lang="en-US" sz="1400" dirty="0">
                <a:solidFill>
                  <a:schemeClr val="tx1"/>
                </a:solidFill>
              </a:rPr>
              <a:t>5 posts · 2 followers · about 1 like per post, measured 9–11 hours after posting.</a:t>
            </a:r>
            <a:endParaRPr lang="en-US" sz="1400" dirty="0"/>
          </a:p>
        </p:txBody>
      </p:sp>
      <p:sp>
        <p:nvSpPr>
          <p:cNvPr id="12" name="Text 7"/>
          <p:cNvSpPr txBox="1"/>
          <p:nvPr/>
        </p:nvSpPr>
        <p:spPr>
          <a:xfrm>
            <a:off x="9098280" y="1325880"/>
            <a:ext cx="2560320" cy="365760"/>
          </a:xfrm>
          <a:prstGeom prst="rect">
            <a:avLst/>
          </a:prstGeom>
          <a:noFill/>
          <a:ln/>
        </p:spPr>
        <p:txBody>
          <a:bodyPr wrap="square" lIns="0" tIns="0" rIns="0" bIns="0" rtlCol="0" anchor="t"/>
          <a:lstStyle/>
          <a:p>
            <a:pPr indent="0" marL="0">
              <a:buNone/>
            </a:pPr>
            <a:r>
              <a:rPr lang="en-US" sz="1600" b="1" dirty="0">
                <a:solidFill>
                  <a:schemeClr val="accent3"/>
                </a:solidFill>
              </a:rPr>
              <a:t>The nudge in each post</a:t>
            </a:r>
            <a:endParaRPr lang="en-US" sz="1600" dirty="0"/>
          </a:p>
        </p:txBody>
      </p:sp>
      <p:sp>
        <p:nvSpPr>
          <p:cNvPr id="13" name="icon-bg-check"/>
          <p:cNvSpPr/>
          <p:nvPr/>
        </p:nvSpPr>
        <p:spPr>
          <a:xfrm>
            <a:off x="9098280" y="1783080"/>
            <a:ext cx="384048" cy="384048"/>
          </a:xfrm>
          <a:prstGeom prst="ellipse">
            <a:avLst/>
          </a:prstGeom>
          <a:solidFill>
            <a:schemeClr val="accent3">
              <a:alpha val="18000"/>
            </a:schemeClr>
          </a:solidFill>
          <a:ln/>
        </p:spPr>
      </p:sp>
      <p:pic>
        <p:nvPicPr>
          <p:cNvPr id="14" name="icon-check" descr="preencoded.png">    </p:cNvPr>
          <p:cNvPicPr>
            <a:picLocks noChangeAspect="1"/>
          </p:cNvPicPr>
          <p:nvPr/>
        </p:nvPicPr>
        <p:blipFill>
          <a:blip r:embed="rId4"/>
          <a:stretch>
            <a:fillRect/>
          </a:stretch>
        </p:blipFill>
        <p:spPr>
          <a:xfrm>
            <a:off x="9182771" y="1867571"/>
            <a:ext cx="215067" cy="215067"/>
          </a:xfrm>
          <a:prstGeom prst="rect">
            <a:avLst/>
          </a:prstGeom>
        </p:spPr>
      </p:pic>
      <p:sp>
        <p:nvSpPr>
          <p:cNvPr id="15" name="Text 9"/>
          <p:cNvSpPr txBox="1"/>
          <p:nvPr/>
        </p:nvSpPr>
        <p:spPr>
          <a:xfrm>
            <a:off x="9601200" y="1746504"/>
            <a:ext cx="2057400" cy="310896"/>
          </a:xfrm>
          <a:prstGeom prst="rect">
            <a:avLst/>
          </a:prstGeom>
          <a:noFill/>
          <a:ln/>
        </p:spPr>
        <p:txBody>
          <a:bodyPr wrap="square" lIns="0" tIns="0" rIns="0" bIns="0" rtlCol="0" anchor="t"/>
          <a:lstStyle/>
          <a:p>
            <a:pPr indent="0" marL="0">
              <a:buNone/>
            </a:pPr>
            <a:r>
              <a:rPr lang="en-US" sz="1400" b="1" dirty="0">
                <a:solidFill>
                  <a:schemeClr val="tx1"/>
                </a:solidFill>
              </a:rPr>
              <a:t>Password carousel</a:t>
            </a:r>
            <a:endParaRPr lang="en-US" sz="1400" dirty="0"/>
          </a:p>
        </p:txBody>
      </p:sp>
      <p:sp>
        <p:nvSpPr>
          <p:cNvPr id="16" name="Text 10"/>
          <p:cNvSpPr txBox="1"/>
          <p:nvPr/>
        </p:nvSpPr>
        <p:spPr>
          <a:xfrm>
            <a:off x="9601200" y="2057400"/>
            <a:ext cx="2057400" cy="502920"/>
          </a:xfrm>
          <a:prstGeom prst="rect">
            <a:avLst/>
          </a:prstGeom>
          <a:noFill/>
          <a:ln/>
        </p:spPr>
        <p:txBody>
          <a:bodyPr wrap="square" lIns="0" tIns="0" rIns="0" bIns="0" rtlCol="0" anchor="t"/>
          <a:lstStyle/>
          <a:p>
            <a:pPr indent="0" marL="0">
              <a:buNone/>
            </a:pPr>
            <a:r>
              <a:rPr lang="en-US" sz="1200" dirty="0">
                <a:solidFill>
                  <a:schemeClr val="tx2"/>
                </a:solidFill>
              </a:rPr>
              <a:t>Mental model: one key, many doors</a:t>
            </a:r>
            <a:endParaRPr lang="en-US" sz="1200" dirty="0"/>
          </a:p>
        </p:txBody>
      </p:sp>
      <p:sp>
        <p:nvSpPr>
          <p:cNvPr id="17" name="icon-bg-check"/>
          <p:cNvSpPr/>
          <p:nvPr/>
        </p:nvSpPr>
        <p:spPr>
          <a:xfrm>
            <a:off x="9098280" y="2670048"/>
            <a:ext cx="384048" cy="384048"/>
          </a:xfrm>
          <a:prstGeom prst="ellipse">
            <a:avLst/>
          </a:prstGeom>
          <a:solidFill>
            <a:schemeClr val="accent3">
              <a:alpha val="18000"/>
            </a:schemeClr>
          </a:solidFill>
          <a:ln/>
        </p:spPr>
      </p:sp>
      <p:pic>
        <p:nvPicPr>
          <p:cNvPr id="18" name="icon-check" descr="preencoded.png">    </p:cNvPr>
          <p:cNvPicPr>
            <a:picLocks noChangeAspect="1"/>
          </p:cNvPicPr>
          <p:nvPr/>
        </p:nvPicPr>
        <p:blipFill>
          <a:blip r:embed="rId5"/>
          <a:stretch>
            <a:fillRect/>
          </a:stretch>
        </p:blipFill>
        <p:spPr>
          <a:xfrm>
            <a:off x="9182771" y="2754539"/>
            <a:ext cx="215067" cy="215067"/>
          </a:xfrm>
          <a:prstGeom prst="rect">
            <a:avLst/>
          </a:prstGeom>
        </p:spPr>
      </p:pic>
      <p:sp>
        <p:nvSpPr>
          <p:cNvPr id="19" name="Text 12"/>
          <p:cNvSpPr txBox="1"/>
          <p:nvPr/>
        </p:nvSpPr>
        <p:spPr>
          <a:xfrm>
            <a:off x="9601200" y="2633472"/>
            <a:ext cx="2057400" cy="310896"/>
          </a:xfrm>
          <a:prstGeom prst="rect">
            <a:avLst/>
          </a:prstGeom>
          <a:noFill/>
          <a:ln/>
        </p:spPr>
        <p:txBody>
          <a:bodyPr wrap="square" lIns="0" tIns="0" rIns="0" bIns="0" rtlCol="0" anchor="t"/>
          <a:lstStyle/>
          <a:p>
            <a:pPr indent="0" marL="0">
              <a:buNone/>
            </a:pPr>
            <a:r>
              <a:rPr lang="en-US" sz="1400" b="1" dirty="0">
                <a:solidFill>
                  <a:schemeClr val="tx1"/>
                </a:solidFill>
              </a:rPr>
              <a:t>Don't get hooked</a:t>
            </a:r>
            <a:endParaRPr lang="en-US" sz="1400" dirty="0"/>
          </a:p>
        </p:txBody>
      </p:sp>
      <p:sp>
        <p:nvSpPr>
          <p:cNvPr id="20" name="Text 13"/>
          <p:cNvSpPr txBox="1"/>
          <p:nvPr/>
        </p:nvSpPr>
        <p:spPr>
          <a:xfrm>
            <a:off x="9601200" y="2944368"/>
            <a:ext cx="2057400" cy="502920"/>
          </a:xfrm>
          <a:prstGeom prst="rect">
            <a:avLst/>
          </a:prstGeom>
          <a:noFill/>
          <a:ln/>
        </p:spPr>
        <p:txBody>
          <a:bodyPr wrap="square" lIns="0" tIns="0" rIns="0" bIns="0" rtlCol="0" anchor="t"/>
          <a:lstStyle/>
          <a:p>
            <a:pPr indent="0" marL="0">
              <a:buNone/>
            </a:pPr>
            <a:r>
              <a:rPr lang="en-US" sz="1200" dirty="0">
                <a:solidFill>
                  <a:schemeClr val="tx2"/>
                </a:solidFill>
              </a:rPr>
              <a:t>A memorable metaphor</a:t>
            </a:r>
            <a:endParaRPr lang="en-US" sz="1200" dirty="0"/>
          </a:p>
        </p:txBody>
      </p:sp>
      <p:sp>
        <p:nvSpPr>
          <p:cNvPr id="21" name="icon-bg-check"/>
          <p:cNvSpPr/>
          <p:nvPr/>
        </p:nvSpPr>
        <p:spPr>
          <a:xfrm>
            <a:off x="9098280" y="3557016"/>
            <a:ext cx="384048" cy="384048"/>
          </a:xfrm>
          <a:prstGeom prst="ellipse">
            <a:avLst/>
          </a:prstGeom>
          <a:solidFill>
            <a:schemeClr val="accent3">
              <a:alpha val="18000"/>
            </a:schemeClr>
          </a:solidFill>
          <a:ln/>
        </p:spPr>
      </p:sp>
      <p:pic>
        <p:nvPicPr>
          <p:cNvPr id="22" name="icon-check" descr="preencoded.png">    </p:cNvPr>
          <p:cNvPicPr>
            <a:picLocks noChangeAspect="1"/>
          </p:cNvPicPr>
          <p:nvPr/>
        </p:nvPicPr>
        <p:blipFill>
          <a:blip r:embed="rId6"/>
          <a:stretch>
            <a:fillRect/>
          </a:stretch>
        </p:blipFill>
        <p:spPr>
          <a:xfrm>
            <a:off x="9182771" y="3641507"/>
            <a:ext cx="215067" cy="215067"/>
          </a:xfrm>
          <a:prstGeom prst="rect">
            <a:avLst/>
          </a:prstGeom>
        </p:spPr>
      </p:pic>
      <p:sp>
        <p:nvSpPr>
          <p:cNvPr id="23" name="Text 15"/>
          <p:cNvSpPr txBox="1"/>
          <p:nvPr/>
        </p:nvSpPr>
        <p:spPr>
          <a:xfrm>
            <a:off x="9601200" y="3520440"/>
            <a:ext cx="2057400" cy="310896"/>
          </a:xfrm>
          <a:prstGeom prst="rect">
            <a:avLst/>
          </a:prstGeom>
          <a:noFill/>
          <a:ln/>
        </p:spPr>
        <p:txBody>
          <a:bodyPr wrap="square" lIns="0" tIns="0" rIns="0" bIns="0" rtlCol="0" anchor="t"/>
          <a:lstStyle/>
          <a:p>
            <a:pPr indent="0" marL="0">
              <a:buNone/>
            </a:pPr>
            <a:r>
              <a:rPr lang="en-US" sz="1400" b="1" dirty="0">
                <a:solidFill>
                  <a:schemeClr val="tx1"/>
                </a:solidFill>
              </a:rPr>
              <a:t>Verify before you click</a:t>
            </a:r>
            <a:endParaRPr lang="en-US" sz="1400" dirty="0"/>
          </a:p>
        </p:txBody>
      </p:sp>
      <p:sp>
        <p:nvSpPr>
          <p:cNvPr id="24" name="Text 16"/>
          <p:cNvSpPr txBox="1"/>
          <p:nvPr/>
        </p:nvSpPr>
        <p:spPr>
          <a:xfrm>
            <a:off x="9601200" y="3831336"/>
            <a:ext cx="2057400" cy="502920"/>
          </a:xfrm>
          <a:prstGeom prst="rect">
            <a:avLst/>
          </a:prstGeom>
          <a:noFill/>
          <a:ln/>
        </p:spPr>
        <p:txBody>
          <a:bodyPr wrap="square" lIns="0" tIns="0" rIns="0" bIns="0" rtlCol="0" anchor="t"/>
          <a:lstStyle/>
          <a:p>
            <a:pPr indent="0" marL="0">
              <a:buNone/>
            </a:pPr>
            <a:r>
              <a:rPr lang="en-US" sz="1200" dirty="0">
                <a:solidFill>
                  <a:schemeClr val="tx2"/>
                </a:solidFill>
              </a:rPr>
              <a:t>A decision flowchart</a:t>
            </a:r>
            <a:endParaRPr lang="en-US" sz="1200" dirty="0"/>
          </a:p>
        </p:txBody>
      </p:sp>
      <p:sp>
        <p:nvSpPr>
          <p:cNvPr id="25" name="icon-bg-check"/>
          <p:cNvSpPr/>
          <p:nvPr/>
        </p:nvSpPr>
        <p:spPr>
          <a:xfrm>
            <a:off x="9098280" y="4443984"/>
            <a:ext cx="384048" cy="384048"/>
          </a:xfrm>
          <a:prstGeom prst="ellipse">
            <a:avLst/>
          </a:prstGeom>
          <a:solidFill>
            <a:schemeClr val="accent3">
              <a:alpha val="18000"/>
            </a:schemeClr>
          </a:solidFill>
          <a:ln/>
        </p:spPr>
      </p:sp>
      <p:pic>
        <p:nvPicPr>
          <p:cNvPr id="26" name="icon-check" descr="preencoded.png">    </p:cNvPr>
          <p:cNvPicPr>
            <a:picLocks noChangeAspect="1"/>
          </p:cNvPicPr>
          <p:nvPr/>
        </p:nvPicPr>
        <p:blipFill>
          <a:blip r:embed="rId7"/>
          <a:stretch>
            <a:fillRect/>
          </a:stretch>
        </p:blipFill>
        <p:spPr>
          <a:xfrm>
            <a:off x="9182771" y="4528475"/>
            <a:ext cx="215067" cy="215067"/>
          </a:xfrm>
          <a:prstGeom prst="rect">
            <a:avLst/>
          </a:prstGeom>
        </p:spPr>
      </p:pic>
      <p:sp>
        <p:nvSpPr>
          <p:cNvPr id="27" name="Text 18"/>
          <p:cNvSpPr txBox="1"/>
          <p:nvPr/>
        </p:nvSpPr>
        <p:spPr>
          <a:xfrm>
            <a:off x="9601200" y="4407408"/>
            <a:ext cx="2057400" cy="310896"/>
          </a:xfrm>
          <a:prstGeom prst="rect">
            <a:avLst/>
          </a:prstGeom>
          <a:noFill/>
          <a:ln/>
        </p:spPr>
        <p:txBody>
          <a:bodyPr wrap="square" lIns="0" tIns="0" rIns="0" bIns="0" rtlCol="0" anchor="t"/>
          <a:lstStyle/>
          <a:p>
            <a:pPr indent="0" marL="0">
              <a:buNone/>
            </a:pPr>
            <a:r>
              <a:rPr lang="en-US" sz="1400" b="1" dirty="0">
                <a:solidFill>
                  <a:schemeClr val="tx1"/>
                </a:solidFill>
              </a:rPr>
              <a:t>16 billion exposed</a:t>
            </a:r>
            <a:endParaRPr lang="en-US" sz="1400" dirty="0"/>
          </a:p>
        </p:txBody>
      </p:sp>
      <p:sp>
        <p:nvSpPr>
          <p:cNvPr id="28" name="Text 19"/>
          <p:cNvSpPr txBox="1"/>
          <p:nvPr/>
        </p:nvSpPr>
        <p:spPr>
          <a:xfrm>
            <a:off x="9601200" y="4718304"/>
            <a:ext cx="2057400" cy="502920"/>
          </a:xfrm>
          <a:prstGeom prst="rect">
            <a:avLst/>
          </a:prstGeom>
          <a:noFill/>
          <a:ln/>
        </p:spPr>
        <p:txBody>
          <a:bodyPr wrap="square" lIns="0" tIns="0" rIns="0" bIns="0" rtlCol="0" anchor="t"/>
          <a:lstStyle/>
          <a:p>
            <a:pPr indent="0" marL="0">
              <a:buNone/>
            </a:pPr>
            <a:r>
              <a:rPr lang="en-US" sz="1200" dirty="0">
                <a:solidFill>
                  <a:schemeClr val="tx2"/>
                </a:solidFill>
              </a:rPr>
              <a:t>Makes the risk feel real</a:t>
            </a:r>
            <a:endParaRPr lang="en-US" sz="1200" dirty="0"/>
          </a:p>
        </p:txBody>
      </p:sp>
      <p:sp>
        <p:nvSpPr>
          <p:cNvPr id="29" name="icon-bg-check"/>
          <p:cNvSpPr/>
          <p:nvPr/>
        </p:nvSpPr>
        <p:spPr>
          <a:xfrm>
            <a:off x="9098280" y="5330952"/>
            <a:ext cx="384048" cy="384048"/>
          </a:xfrm>
          <a:prstGeom prst="ellipse">
            <a:avLst/>
          </a:prstGeom>
          <a:solidFill>
            <a:schemeClr val="accent3">
              <a:alpha val="18000"/>
            </a:schemeClr>
          </a:solidFill>
          <a:ln/>
        </p:spPr>
      </p:sp>
      <p:pic>
        <p:nvPicPr>
          <p:cNvPr id="30" name="icon-check" descr="preencoded.png">    </p:cNvPr>
          <p:cNvPicPr>
            <a:picLocks noChangeAspect="1"/>
          </p:cNvPicPr>
          <p:nvPr/>
        </p:nvPicPr>
        <p:blipFill>
          <a:blip r:embed="rId8"/>
          <a:stretch>
            <a:fillRect/>
          </a:stretch>
        </p:blipFill>
        <p:spPr>
          <a:xfrm>
            <a:off x="9182771" y="5415443"/>
            <a:ext cx="215067" cy="215067"/>
          </a:xfrm>
          <a:prstGeom prst="rect">
            <a:avLst/>
          </a:prstGeom>
        </p:spPr>
      </p:pic>
      <p:sp>
        <p:nvSpPr>
          <p:cNvPr id="31" name="Text 21"/>
          <p:cNvSpPr txBox="1"/>
          <p:nvPr/>
        </p:nvSpPr>
        <p:spPr>
          <a:xfrm>
            <a:off x="9601200" y="5294376"/>
            <a:ext cx="2057400" cy="310896"/>
          </a:xfrm>
          <a:prstGeom prst="rect">
            <a:avLst/>
          </a:prstGeom>
          <a:noFill/>
          <a:ln/>
        </p:spPr>
        <p:txBody>
          <a:bodyPr wrap="square" lIns="0" tIns="0" rIns="0" bIns="0" rtlCol="0" anchor="t"/>
          <a:lstStyle/>
          <a:p>
            <a:pPr indent="0" marL="0">
              <a:buNone/>
            </a:pPr>
            <a:r>
              <a:rPr lang="en-US" sz="1400" b="1" dirty="0">
                <a:solidFill>
                  <a:schemeClr val="tx1"/>
                </a:solidFill>
              </a:rPr>
              <a:t>Think before you click</a:t>
            </a:r>
            <a:endParaRPr lang="en-US" sz="1400" dirty="0"/>
          </a:p>
        </p:txBody>
      </p:sp>
      <p:sp>
        <p:nvSpPr>
          <p:cNvPr id="32" name="Text 22"/>
          <p:cNvSpPr txBox="1"/>
          <p:nvPr/>
        </p:nvSpPr>
        <p:spPr>
          <a:xfrm>
            <a:off x="9601200" y="5605272"/>
            <a:ext cx="2057400" cy="502920"/>
          </a:xfrm>
          <a:prstGeom prst="rect">
            <a:avLst/>
          </a:prstGeom>
          <a:noFill/>
          <a:ln/>
        </p:spPr>
        <p:txBody>
          <a:bodyPr wrap="square" lIns="0" tIns="0" rIns="0" bIns="0" rtlCol="0" anchor="t"/>
          <a:lstStyle/>
          <a:p>
            <a:pPr indent="0" marL="0">
              <a:buNone/>
            </a:pPr>
            <a:r>
              <a:rPr lang="en-US" sz="1200" dirty="0">
                <a:solidFill>
                  <a:schemeClr val="tx2"/>
                </a:solidFill>
              </a:rPr>
              <a:t>A pause prompt</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Scores rose after the campaign</a:t>
            </a:r>
            <a:endParaRPr lang="en-US" sz="3400" dirty="0"/>
          </a:p>
        </p:txBody>
      </p:sp>
      <p:sp>
        <p:nvSpPr>
          <p:cNvPr id="3" name="tag"/>
          <p:cNvSpPr txBox="1"/>
          <p:nvPr/>
        </p:nvSpPr>
        <p:spPr>
          <a:xfrm rot="90000">
            <a:off x="7452360" y="457200"/>
            <a:ext cx="4206240" cy="457200"/>
          </a:xfrm>
          <a:prstGeom prst="rect">
            <a:avLst/>
          </a:prstGeom>
          <a:solidFill>
            <a:schemeClr val="accent1"/>
          </a:solidFill>
          <a:ln/>
          <a:effectLst>
            <a:outerShdw sx="100000" sy="100000" kx="0" ky="0" algn="bl" rotWithShape="0" blurRad="76200" dist="25400" dir="5400000">
              <a:srgbClr val="14213D">
                <a:alpha val="18000"/>
              </a:srgbClr>
            </a:outerShdw>
          </a:effectLst>
        </p:spPr>
        <p:txBody>
          <a:bodyPr wrap="square" lIns="50800" tIns="127000" rIns="127000" bIns="50800" rtlCol="0" anchor="ctr"/>
          <a:lstStyle/>
          <a:p>
            <a:pPr algn="l" indent="0" marL="0">
              <a:buNone/>
            </a:pPr>
            <a:r>
              <a:rPr lang="en-US" sz="1200" b="1" dirty="0">
                <a:solidFill>
                  <a:schemeClr val="tx1"/>
                </a:solidFill>
              </a:rPr>
              <a:t>Demonstration of our analysis pipeline · live results to follow</a:t>
            </a:r>
            <a:endParaRPr lang="en-US" sz="1200" dirty="0"/>
          </a:p>
        </p:txBody>
      </p:sp>
      <p:sp>
        <p:nvSpPr>
          <p:cNvPr id="4" name="Text 2"/>
          <p:cNvSpPr txBox="1"/>
          <p:nvPr/>
        </p:nvSpPr>
        <p:spPr>
          <a:xfrm>
            <a:off x="548640" y="1325880"/>
            <a:ext cx="3931920" cy="320040"/>
          </a:xfrm>
          <a:prstGeom prst="rect">
            <a:avLst/>
          </a:prstGeom>
          <a:noFill/>
          <a:ln/>
        </p:spPr>
        <p:txBody>
          <a:bodyPr wrap="square" lIns="0" tIns="0" rIns="0" bIns="0" rtlCol="0" anchor="t"/>
          <a:lstStyle/>
          <a:p>
            <a:pPr indent="0" marL="0">
              <a:buNone/>
            </a:pPr>
            <a:r>
              <a:rPr lang="en-US" sz="1300" dirty="0">
                <a:solidFill>
                  <a:schemeClr val="tx2"/>
                </a:solidFill>
              </a:rPr>
              <a:t>Matched participants (n = 42), score out of 10</a:t>
            </a:r>
            <a:endParaRPr lang="en-US" sz="1300" dirty="0"/>
          </a:p>
        </p:txBody>
      </p:sp>
      <p:sp>
        <p:nvSpPr>
          <p:cNvPr id="5" name="Text 3"/>
          <p:cNvSpPr txBox="1"/>
          <p:nvPr/>
        </p:nvSpPr>
        <p:spPr>
          <a:xfrm>
            <a:off x="548640" y="1691640"/>
            <a:ext cx="4023360" cy="914400"/>
          </a:xfrm>
          <a:prstGeom prst="rect">
            <a:avLst/>
          </a:prstGeom>
          <a:noFill/>
          <a:ln/>
        </p:spPr>
        <p:txBody>
          <a:bodyPr wrap="square" lIns="0" tIns="0" rIns="0" bIns="0" rtlCol="0" anchor="t"/>
          <a:lstStyle/>
          <a:p>
            <a:pPr indent="0" marL="0">
              <a:buNone/>
            </a:pPr>
            <a:r>
              <a:rPr lang="en-US" sz="5400" b="1" dirty="0">
                <a:solidFill>
                  <a:schemeClr val="tx2"/>
                </a:solidFill>
                <a:latin typeface="Arial" pitchFamily="34" charset="0"/>
                <a:ea typeface="Arial" pitchFamily="34" charset="-122"/>
                <a:cs typeface="Arial" pitchFamily="34" charset="-120"/>
              </a:rPr>
              <a:t>6.30</a:t>
            </a:r>
            <a:pPr indent="0" marL="0">
              <a:buNone/>
            </a:pPr>
            <a:r>
              <a:rPr lang="en-US" sz="5400" b="1" dirty="0">
                <a:solidFill>
                  <a:schemeClr val="tx2"/>
                </a:solidFill>
                <a:latin typeface="Arial" pitchFamily="34" charset="0"/>
                <a:ea typeface="Arial" pitchFamily="34" charset="-122"/>
                <a:cs typeface="Arial" pitchFamily="34" charset="-120"/>
              </a:rPr>
              <a:t> → </a:t>
            </a:r>
            <a:pPr indent="0" marL="0">
              <a:buNone/>
            </a:pPr>
            <a:r>
              <a:rPr lang="en-US" sz="5400" b="1" dirty="0">
                <a:solidFill>
                  <a:schemeClr val="accent3"/>
                </a:solidFill>
                <a:latin typeface="Arial" pitchFamily="34" charset="0"/>
                <a:ea typeface="Arial" pitchFamily="34" charset="-122"/>
                <a:cs typeface="Arial" pitchFamily="34" charset="-120"/>
              </a:rPr>
              <a:t>7.48</a:t>
            </a:r>
            <a:endParaRPr lang="en-US" sz="5400" dirty="0"/>
          </a:p>
        </p:txBody>
      </p:sp>
      <p:sp>
        <p:nvSpPr>
          <p:cNvPr id="6" name="Text 4"/>
          <p:cNvSpPr txBox="1"/>
          <p:nvPr/>
        </p:nvSpPr>
        <p:spPr>
          <a:xfrm>
            <a:off x="548640" y="2788920"/>
            <a:ext cx="1508760" cy="45720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+1.18</a:t>
            </a:r>
            <a:endParaRPr lang="en-US" sz="2200" dirty="0"/>
          </a:p>
        </p:txBody>
      </p:sp>
      <p:sp>
        <p:nvSpPr>
          <p:cNvPr id="7" name="Text 5"/>
          <p:cNvSpPr txBox="1"/>
          <p:nvPr/>
        </p:nvSpPr>
        <p:spPr>
          <a:xfrm>
            <a:off x="2103120" y="2843784"/>
            <a:ext cx="2468880" cy="548640"/>
          </a:xfrm>
          <a:prstGeom prst="rect">
            <a:avLst/>
          </a:prstGeom>
          <a:noFill/>
          <a:ln/>
        </p:spPr>
        <p:txBody>
          <a:bodyPr wrap="square" lIns="0" tIns="0" rIns="0" bIns="0" rtlCol="0" anchor="t"/>
          <a:lstStyle/>
          <a:p>
            <a:pPr indent="0" marL="0">
              <a:buNone/>
            </a:pPr>
            <a:r>
              <a:rPr lang="en-US" sz="1400" dirty="0">
                <a:solidFill>
                  <a:schemeClr val="tx2"/>
                </a:solidFill>
              </a:rPr>
              <a:t>mean change (95% CI +0.61 to +1.75)</a:t>
            </a:r>
            <a:endParaRPr lang="en-US" sz="1400" dirty="0"/>
          </a:p>
        </p:txBody>
      </p:sp>
      <p:sp>
        <p:nvSpPr>
          <p:cNvPr id="8" name="Text 6"/>
          <p:cNvSpPr txBox="1"/>
          <p:nvPr/>
        </p:nvSpPr>
        <p:spPr>
          <a:xfrm>
            <a:off x="548640" y="3502152"/>
            <a:ext cx="1508760" cy="45720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p &lt; .001</a:t>
            </a:r>
            <a:endParaRPr lang="en-US" sz="2200" dirty="0"/>
          </a:p>
        </p:txBody>
      </p:sp>
      <p:sp>
        <p:nvSpPr>
          <p:cNvPr id="9" name="Text 7"/>
          <p:cNvSpPr txBox="1"/>
          <p:nvPr/>
        </p:nvSpPr>
        <p:spPr>
          <a:xfrm>
            <a:off x="2103120" y="3557016"/>
            <a:ext cx="2468880" cy="548640"/>
          </a:xfrm>
          <a:prstGeom prst="rect">
            <a:avLst/>
          </a:prstGeom>
          <a:noFill/>
          <a:ln/>
        </p:spPr>
        <p:txBody>
          <a:bodyPr wrap="square" lIns="0" tIns="0" rIns="0" bIns="0" rtlCol="0" anchor="t"/>
          <a:lstStyle/>
          <a:p>
            <a:pPr indent="0" marL="0">
              <a:buNone/>
            </a:pPr>
            <a:r>
              <a:rPr lang="en-US" sz="1400" dirty="0">
                <a:solidFill>
                  <a:schemeClr val="tx2"/>
                </a:solidFill>
              </a:rPr>
              <a:t>paired t(41) = 4.19; Wilcoxon agrees</a:t>
            </a:r>
            <a:endParaRPr lang="en-US" sz="1400" dirty="0"/>
          </a:p>
        </p:txBody>
      </p:sp>
      <p:sp>
        <p:nvSpPr>
          <p:cNvPr id="10" name="Text 8"/>
          <p:cNvSpPr txBox="1"/>
          <p:nvPr/>
        </p:nvSpPr>
        <p:spPr>
          <a:xfrm>
            <a:off x="548640" y="4215384"/>
            <a:ext cx="1508760" cy="45720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d = 0.65</a:t>
            </a:r>
            <a:endParaRPr lang="en-US" sz="2200" dirty="0"/>
          </a:p>
        </p:txBody>
      </p:sp>
      <p:sp>
        <p:nvSpPr>
          <p:cNvPr id="11" name="Text 9"/>
          <p:cNvSpPr txBox="1"/>
          <p:nvPr/>
        </p:nvSpPr>
        <p:spPr>
          <a:xfrm>
            <a:off x="2103120" y="4270248"/>
            <a:ext cx="2468880" cy="548640"/>
          </a:xfrm>
          <a:prstGeom prst="rect">
            <a:avLst/>
          </a:prstGeom>
          <a:noFill/>
          <a:ln/>
        </p:spPr>
        <p:txBody>
          <a:bodyPr wrap="square" lIns="0" tIns="0" rIns="0" bIns="0" rtlCol="0" anchor="t"/>
          <a:lstStyle/>
          <a:p>
            <a:pPr indent="0" marL="0">
              <a:buNone/>
            </a:pPr>
            <a:r>
              <a:rPr lang="en-US" sz="1400" dirty="0">
                <a:solidFill>
                  <a:schemeClr val="tx2"/>
                </a:solidFill>
              </a:rPr>
              <a:t>a moderate effect size</a:t>
            </a:r>
            <a:endParaRPr lang="en-US" sz="1400" dirty="0"/>
          </a:p>
        </p:txBody>
      </p:sp>
      <p:sp>
        <p:nvSpPr>
          <p:cNvPr id="12" name="card"/>
          <p:cNvSpPr/>
          <p:nvPr/>
        </p:nvSpPr>
        <p:spPr>
          <a:xfrm>
            <a:off x="548640" y="4983480"/>
            <a:ext cx="4023360" cy="1143000"/>
          </a:xfrm>
          <a:prstGeom prst="roundRect">
            <a:avLst>
              <a:gd name="adj" fmla="val 8000"/>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13" name="Text 11"/>
          <p:cNvSpPr txBox="1"/>
          <p:nvPr/>
        </p:nvSpPr>
        <p:spPr>
          <a:xfrm>
            <a:off x="777240" y="5120640"/>
            <a:ext cx="3657600" cy="411480"/>
          </a:xfrm>
          <a:prstGeom prst="rect">
            <a:avLst/>
          </a:prstGeom>
          <a:noFill/>
          <a:ln/>
        </p:spPr>
        <p:txBody>
          <a:bodyPr wrap="square" lIns="0" tIns="0" rIns="0" bIns="0" rtlCol="0" anchor="t"/>
          <a:lstStyle/>
          <a:p>
            <a:pPr indent="0" marL="0">
              <a:buNone/>
            </a:pPr>
            <a:r>
              <a:rPr lang="en-US" sz="1700" b="1" dirty="0">
                <a:solidFill>
                  <a:schemeClr val="accent3"/>
                </a:solidFill>
              </a:rPr>
              <a:t>31</a:t>
            </a:r>
            <a:pPr indent="0" marL="0">
              <a:buNone/>
            </a:pPr>
            <a:r>
              <a:rPr lang="en-US" sz="1700" dirty="0">
                <a:solidFill>
                  <a:schemeClr val="tx1"/>
                </a:solidFill>
              </a:rPr>
              <a:t> improved   </a:t>
            </a:r>
            <a:pPr indent="0" marL="0">
              <a:buNone/>
            </a:pPr>
            <a:r>
              <a:rPr lang="en-US" sz="1700" b="1" dirty="0">
                <a:solidFill>
                  <a:schemeClr val="tx1"/>
                </a:solidFill>
              </a:rPr>
              <a:t>5</a:t>
            </a:r>
            <a:pPr indent="0" marL="0">
              <a:buNone/>
            </a:pPr>
            <a:r>
              <a:rPr lang="en-US" sz="1700" dirty="0">
                <a:solidFill>
                  <a:schemeClr val="tx1"/>
                </a:solidFill>
              </a:rPr>
              <a:t> unchanged   </a:t>
            </a:r>
            <a:pPr indent="0" marL="0">
              <a:buNone/>
            </a:pPr>
            <a:r>
              <a:rPr lang="en-US" sz="1700" b="1" dirty="0">
                <a:solidFill>
                  <a:schemeClr val="accent2"/>
                </a:solidFill>
              </a:rPr>
              <a:t>6</a:t>
            </a:r>
            <a:pPr indent="0" marL="0">
              <a:buNone/>
            </a:pPr>
            <a:r>
              <a:rPr lang="en-US" sz="1700" dirty="0">
                <a:solidFill>
                  <a:schemeClr val="tx1"/>
                </a:solidFill>
              </a:rPr>
              <a:t> declined</a:t>
            </a:r>
            <a:endParaRPr lang="en-US" sz="1700" dirty="0"/>
          </a:p>
        </p:txBody>
      </p:sp>
      <p:sp>
        <p:nvSpPr>
          <p:cNvPr id="14" name="Text 12"/>
          <p:cNvSpPr txBox="1"/>
          <p:nvPr/>
        </p:nvSpPr>
        <p:spPr>
          <a:xfrm>
            <a:off x="777240" y="5532120"/>
            <a:ext cx="3657600" cy="548640"/>
          </a:xfrm>
          <a:prstGeom prst="rect">
            <a:avLst/>
          </a:prstGeom>
          <a:noFill/>
          <a:ln/>
        </p:spPr>
        <p:txBody>
          <a:bodyPr wrap="square" lIns="0" tIns="0" rIns="0" bIns="0" rtlCol="0" anchor="t"/>
          <a:lstStyle/>
          <a:p>
            <a:pPr indent="0" marL="0">
              <a:buNone/>
            </a:pPr>
            <a:r>
              <a:rPr lang="en-US" sz="1200" i="1" dirty="0">
                <a:solidFill>
                  <a:schemeClr val="tx2"/>
                </a:solidFill>
              </a:rPr>
              <a:t>Observed change, not proof of cause: no control group, repeated questions, self-selection.</a:t>
            </a:r>
            <a:endParaRPr lang="en-US" sz="1200" dirty="0"/>
          </a:p>
        </p:txBody>
      </p:sp>
      <p:sp>
        <p:nvSpPr>
          <p:cNvPr id="15" name="Text 13"/>
          <p:cNvSpPr txBox="1"/>
          <p:nvPr/>
        </p:nvSpPr>
        <p:spPr>
          <a:xfrm>
            <a:off x="5029200" y="1280160"/>
            <a:ext cx="3200400" cy="347472"/>
          </a:xfrm>
          <a:prstGeom prst="rect">
            <a:avLst/>
          </a:prstGeom>
          <a:noFill/>
          <a:ln/>
        </p:spPr>
        <p:txBody>
          <a:bodyPr wrap="square" lIns="0" tIns="0" rIns="0" bIns="0" rtlCol="0" anchor="ctr"/>
          <a:lstStyle/>
          <a:p>
            <a:pPr indent="0" marL="0">
              <a:buNone/>
            </a:pPr>
            <a:r>
              <a:rPr lang="en-US" sz="1400" b="1" dirty="0">
                <a:solidFill>
                  <a:schemeClr val="tx1"/>
                </a:solidFill>
              </a:rPr>
              <a:t>% correct per scenario</a:t>
            </a:r>
            <a:endParaRPr lang="en-US" sz="1400" dirty="0"/>
          </a:p>
        </p:txBody>
      </p:sp>
      <p:sp>
        <p:nvSpPr>
          <p:cNvPr id="16" name="legend-key"/>
          <p:cNvSpPr/>
          <p:nvPr/>
        </p:nvSpPr>
        <p:spPr>
          <a:xfrm>
            <a:off x="8778240" y="1353312"/>
            <a:ext cx="201168" cy="201168"/>
          </a:xfrm>
          <a:prstGeom prst="rect">
            <a:avLst/>
          </a:prstGeom>
          <a:solidFill>
            <a:schemeClr val="accent1"/>
          </a:solidFill>
          <a:ln/>
        </p:spPr>
      </p:sp>
      <p:sp>
        <p:nvSpPr>
          <p:cNvPr id="17" name="Text 15"/>
          <p:cNvSpPr txBox="1"/>
          <p:nvPr/>
        </p:nvSpPr>
        <p:spPr>
          <a:xfrm>
            <a:off x="9052560" y="1280160"/>
            <a:ext cx="1737360" cy="347472"/>
          </a:xfrm>
          <a:prstGeom prst="rect">
            <a:avLst/>
          </a:prstGeom>
          <a:noFill/>
          <a:ln/>
        </p:spPr>
        <p:txBody>
          <a:bodyPr wrap="square" lIns="0" tIns="0" rIns="0" bIns="0" rtlCol="0" anchor="ctr"/>
          <a:lstStyle/>
          <a:p>
            <a:pPr indent="0" marL="0">
              <a:buNone/>
            </a:pPr>
            <a:r>
              <a:rPr lang="en-US" sz="1300" dirty="0">
                <a:solidFill>
                  <a:schemeClr val="tx1"/>
                </a:solidFill>
              </a:rPr>
              <a:t>PRE</a:t>
            </a:r>
            <a:endParaRPr lang="en-US" sz="1300" dirty="0"/>
          </a:p>
        </p:txBody>
      </p:sp>
      <p:sp>
        <p:nvSpPr>
          <p:cNvPr id="18" name="legend-key"/>
          <p:cNvSpPr/>
          <p:nvPr/>
        </p:nvSpPr>
        <p:spPr>
          <a:xfrm>
            <a:off x="9665208" y="1353312"/>
            <a:ext cx="201168" cy="201168"/>
          </a:xfrm>
          <a:prstGeom prst="rect">
            <a:avLst/>
          </a:prstGeom>
          <a:solidFill>
            <a:schemeClr val="tx1"/>
          </a:solidFill>
          <a:ln/>
        </p:spPr>
      </p:sp>
      <p:sp>
        <p:nvSpPr>
          <p:cNvPr id="19" name="Text 17"/>
          <p:cNvSpPr txBox="1"/>
          <p:nvPr/>
        </p:nvSpPr>
        <p:spPr>
          <a:xfrm>
            <a:off x="9939528" y="1280160"/>
            <a:ext cx="1737360" cy="347472"/>
          </a:xfrm>
          <a:prstGeom prst="rect">
            <a:avLst/>
          </a:prstGeom>
          <a:noFill/>
          <a:ln/>
        </p:spPr>
        <p:txBody>
          <a:bodyPr wrap="square" lIns="0" tIns="0" rIns="0" bIns="0" rtlCol="0" anchor="ctr"/>
          <a:lstStyle/>
          <a:p>
            <a:pPr indent="0" marL="0">
              <a:buNone/>
            </a:pPr>
            <a:r>
              <a:rPr lang="en-US" sz="1300" dirty="0">
                <a:solidFill>
                  <a:schemeClr val="tx1"/>
                </a:solidFill>
              </a:rPr>
              <a:t>POST</a:t>
            </a:r>
            <a:endParaRPr lang="en-US" sz="1300" dirty="0"/>
          </a:p>
        </p:txBody>
      </p:sp>
      <p:sp>
        <p:nvSpPr>
          <p:cNvPr id="20" name="Text 18"/>
          <p:cNvSpPr txBox="1"/>
          <p:nvPr/>
        </p:nvSpPr>
        <p:spPr>
          <a:xfrm>
            <a:off x="5029200" y="1773936"/>
            <a:ext cx="1554480" cy="457200"/>
          </a:xfrm>
          <a:prstGeom prst="rect">
            <a:avLst/>
          </a:prstGeom>
          <a:noFill/>
          <a:ln/>
        </p:spPr>
        <p:txBody>
          <a:bodyPr wrap="square" lIns="0" tIns="0" rIns="0" bIns="0" rtlCol="0" anchor="ctr"/>
          <a:lstStyle/>
          <a:p>
            <a:pPr indent="0" marL="0">
              <a:buNone/>
            </a:pPr>
            <a:r>
              <a:rPr lang="en-US" sz="1200" dirty="0">
                <a:solidFill>
                  <a:schemeClr val="tx1"/>
                </a:solidFill>
              </a:rPr>
              <a:t>1 Suspension email</a:t>
            </a:r>
            <a:endParaRPr lang="en-US" sz="1200" dirty="0"/>
          </a:p>
        </p:txBody>
      </p:sp>
      <p:sp>
        <p:nvSpPr>
          <p:cNvPr id="21" name="bar-PRE-0"/>
          <p:cNvSpPr/>
          <p:nvPr/>
        </p:nvSpPr>
        <p:spPr>
          <a:xfrm>
            <a:off x="6720840" y="1828800"/>
            <a:ext cx="3237433" cy="155448"/>
          </a:xfrm>
          <a:prstGeom prst="rect">
            <a:avLst/>
          </a:prstGeom>
          <a:solidFill>
            <a:schemeClr val="accent1"/>
          </a:solidFill>
          <a:ln/>
        </p:spPr>
      </p:sp>
      <p:sp>
        <p:nvSpPr>
          <p:cNvPr id="22" name="Text 20"/>
          <p:cNvSpPr txBox="1"/>
          <p:nvPr/>
        </p:nvSpPr>
        <p:spPr>
          <a:xfrm>
            <a:off x="10031425" y="1783080"/>
            <a:ext cx="548640" cy="246888"/>
          </a:xfrm>
          <a:prstGeom prst="rect">
            <a:avLst/>
          </a:prstGeom>
          <a:noFill/>
          <a:ln/>
        </p:spPr>
        <p:txBody>
          <a:bodyPr wrap="square" lIns="0" tIns="0" rIns="0" bIns="0" rtlCol="0" anchor="ctr"/>
          <a:lstStyle/>
          <a:p>
            <a:pPr indent="0" marL="0">
              <a:buNone/>
            </a:pPr>
            <a:r>
              <a:rPr lang="en-US" sz="1000" b="1" dirty="0">
                <a:solidFill>
                  <a:schemeClr val="tx1"/>
                </a:solidFill>
              </a:rPr>
              <a:t>73%</a:t>
            </a:r>
            <a:endParaRPr lang="en-US" sz="1000" dirty="0"/>
          </a:p>
        </p:txBody>
      </p:sp>
      <p:sp>
        <p:nvSpPr>
          <p:cNvPr id="23" name="bar-POST-0"/>
          <p:cNvSpPr/>
          <p:nvPr/>
        </p:nvSpPr>
        <p:spPr>
          <a:xfrm>
            <a:off x="6720840" y="2020824"/>
            <a:ext cx="3326130" cy="155448"/>
          </a:xfrm>
          <a:prstGeom prst="rect">
            <a:avLst/>
          </a:prstGeom>
          <a:solidFill>
            <a:schemeClr val="tx1"/>
          </a:solidFill>
          <a:ln/>
        </p:spPr>
      </p:sp>
      <p:sp>
        <p:nvSpPr>
          <p:cNvPr id="24" name="Text 22"/>
          <p:cNvSpPr txBox="1"/>
          <p:nvPr/>
        </p:nvSpPr>
        <p:spPr>
          <a:xfrm>
            <a:off x="10120122" y="1975104"/>
            <a:ext cx="548640" cy="246888"/>
          </a:xfrm>
          <a:prstGeom prst="rect">
            <a:avLst/>
          </a:prstGeom>
          <a:noFill/>
          <a:ln/>
        </p:spPr>
        <p:txBody>
          <a:bodyPr wrap="square" lIns="0" tIns="0" rIns="0" bIns="0" rtlCol="0" anchor="ctr"/>
          <a:lstStyle/>
          <a:p>
            <a:pPr indent="0" marL="0">
              <a:buNone/>
            </a:pPr>
            <a:r>
              <a:rPr lang="en-US" sz="1000" b="1" dirty="0">
                <a:solidFill>
                  <a:schemeClr val="tx1"/>
                </a:solidFill>
              </a:rPr>
              <a:t>75%</a:t>
            </a:r>
            <a:endParaRPr lang="en-US" sz="1000" dirty="0"/>
          </a:p>
        </p:txBody>
      </p:sp>
      <p:sp>
        <p:nvSpPr>
          <p:cNvPr id="25" name="Text 23"/>
          <p:cNvSpPr txBox="1"/>
          <p:nvPr/>
        </p:nvSpPr>
        <p:spPr>
          <a:xfrm>
            <a:off x="5029200" y="2212848"/>
            <a:ext cx="1554480" cy="457200"/>
          </a:xfrm>
          <a:prstGeom prst="rect">
            <a:avLst/>
          </a:prstGeom>
          <a:noFill/>
          <a:ln/>
        </p:spPr>
        <p:txBody>
          <a:bodyPr wrap="square" lIns="0" tIns="0" rIns="0" bIns="0" rtlCol="0" anchor="ctr"/>
          <a:lstStyle/>
          <a:p>
            <a:pPr indent="0" marL="0">
              <a:buNone/>
            </a:pPr>
            <a:r>
              <a:rPr lang="en-US" sz="1200" dirty="0">
                <a:solidFill>
                  <a:schemeClr val="tx1"/>
                </a:solidFill>
              </a:rPr>
              <a:t>2 Reading a URL</a:t>
            </a:r>
            <a:endParaRPr lang="en-US" sz="1200" dirty="0"/>
          </a:p>
        </p:txBody>
      </p:sp>
      <p:sp>
        <p:nvSpPr>
          <p:cNvPr id="26" name="bar-PRE-1"/>
          <p:cNvSpPr/>
          <p:nvPr/>
        </p:nvSpPr>
        <p:spPr>
          <a:xfrm>
            <a:off x="6720840" y="2267712"/>
            <a:ext cx="1862633" cy="155448"/>
          </a:xfrm>
          <a:prstGeom prst="rect">
            <a:avLst/>
          </a:prstGeom>
          <a:solidFill>
            <a:schemeClr val="accent1"/>
          </a:solidFill>
          <a:ln/>
        </p:spPr>
      </p:sp>
      <p:sp>
        <p:nvSpPr>
          <p:cNvPr id="27" name="Text 25"/>
          <p:cNvSpPr txBox="1"/>
          <p:nvPr/>
        </p:nvSpPr>
        <p:spPr>
          <a:xfrm>
            <a:off x="8656625" y="2221992"/>
            <a:ext cx="548640" cy="246888"/>
          </a:xfrm>
          <a:prstGeom prst="rect">
            <a:avLst/>
          </a:prstGeom>
          <a:noFill/>
          <a:ln/>
        </p:spPr>
        <p:txBody>
          <a:bodyPr wrap="square" lIns="0" tIns="0" rIns="0" bIns="0" rtlCol="0" anchor="ctr"/>
          <a:lstStyle/>
          <a:p>
            <a:pPr indent="0" marL="0">
              <a:buNone/>
            </a:pPr>
            <a:r>
              <a:rPr lang="en-US" sz="1000" b="1" dirty="0">
                <a:solidFill>
                  <a:schemeClr val="tx1"/>
                </a:solidFill>
              </a:rPr>
              <a:t>42%</a:t>
            </a:r>
            <a:endParaRPr lang="en-US" sz="1000" dirty="0"/>
          </a:p>
        </p:txBody>
      </p:sp>
      <p:sp>
        <p:nvSpPr>
          <p:cNvPr id="28" name="bar-POST-1"/>
          <p:cNvSpPr/>
          <p:nvPr/>
        </p:nvSpPr>
        <p:spPr>
          <a:xfrm>
            <a:off x="6720840" y="2459736"/>
            <a:ext cx="2616556" cy="155448"/>
          </a:xfrm>
          <a:prstGeom prst="rect">
            <a:avLst/>
          </a:prstGeom>
          <a:solidFill>
            <a:schemeClr val="tx1"/>
          </a:solidFill>
          <a:ln/>
        </p:spPr>
      </p:sp>
      <p:sp>
        <p:nvSpPr>
          <p:cNvPr id="29" name="Text 27"/>
          <p:cNvSpPr txBox="1"/>
          <p:nvPr/>
        </p:nvSpPr>
        <p:spPr>
          <a:xfrm>
            <a:off x="9410548" y="2414016"/>
            <a:ext cx="548640" cy="246888"/>
          </a:xfrm>
          <a:prstGeom prst="rect">
            <a:avLst/>
          </a:prstGeom>
          <a:noFill/>
          <a:ln/>
        </p:spPr>
        <p:txBody>
          <a:bodyPr wrap="square" lIns="0" tIns="0" rIns="0" bIns="0" rtlCol="0" anchor="ctr"/>
          <a:lstStyle/>
          <a:p>
            <a:pPr indent="0" marL="0">
              <a:buNone/>
            </a:pPr>
            <a:r>
              <a:rPr lang="en-US" sz="1000" b="1" dirty="0">
                <a:solidFill>
                  <a:schemeClr val="tx1"/>
                </a:solidFill>
              </a:rPr>
              <a:t>59%</a:t>
            </a:r>
            <a:endParaRPr lang="en-US" sz="1000" dirty="0"/>
          </a:p>
        </p:txBody>
      </p:sp>
      <p:sp>
        <p:nvSpPr>
          <p:cNvPr id="30" name="Text 28"/>
          <p:cNvSpPr txBox="1"/>
          <p:nvPr/>
        </p:nvSpPr>
        <p:spPr>
          <a:xfrm>
            <a:off x="5029200" y="2651760"/>
            <a:ext cx="1554480" cy="457200"/>
          </a:xfrm>
          <a:prstGeom prst="rect">
            <a:avLst/>
          </a:prstGeom>
          <a:noFill/>
          <a:ln/>
        </p:spPr>
        <p:txBody>
          <a:bodyPr wrap="square" lIns="0" tIns="0" rIns="0" bIns="0" rtlCol="0" anchor="ctr"/>
          <a:lstStyle/>
          <a:p>
            <a:pPr indent="0" marL="0">
              <a:buNone/>
            </a:pPr>
            <a:r>
              <a:rPr lang="en-US" sz="1200" dirty="0">
                <a:solidFill>
                  <a:schemeClr val="tx1"/>
                </a:solidFill>
              </a:rPr>
              <a:t>3 Padlock</a:t>
            </a:r>
            <a:endParaRPr lang="en-US" sz="1200" dirty="0"/>
          </a:p>
        </p:txBody>
      </p:sp>
      <p:sp>
        <p:nvSpPr>
          <p:cNvPr id="31" name="bar-PRE-2"/>
          <p:cNvSpPr/>
          <p:nvPr/>
        </p:nvSpPr>
        <p:spPr>
          <a:xfrm>
            <a:off x="6720840" y="2706624"/>
            <a:ext cx="1951330" cy="155448"/>
          </a:xfrm>
          <a:prstGeom prst="rect">
            <a:avLst/>
          </a:prstGeom>
          <a:solidFill>
            <a:schemeClr val="accent1"/>
          </a:solidFill>
          <a:ln/>
        </p:spPr>
      </p:sp>
      <p:sp>
        <p:nvSpPr>
          <p:cNvPr id="32" name="Text 30"/>
          <p:cNvSpPr txBox="1"/>
          <p:nvPr/>
        </p:nvSpPr>
        <p:spPr>
          <a:xfrm>
            <a:off x="8745322" y="2660904"/>
            <a:ext cx="548640" cy="246888"/>
          </a:xfrm>
          <a:prstGeom prst="rect">
            <a:avLst/>
          </a:prstGeom>
          <a:noFill/>
          <a:ln/>
        </p:spPr>
        <p:txBody>
          <a:bodyPr wrap="square" lIns="0" tIns="0" rIns="0" bIns="0" rtlCol="0" anchor="ctr"/>
          <a:lstStyle/>
          <a:p>
            <a:pPr indent="0" marL="0">
              <a:buNone/>
            </a:pPr>
            <a:r>
              <a:rPr lang="en-US" sz="1000" b="1" dirty="0">
                <a:solidFill>
                  <a:schemeClr val="tx1"/>
                </a:solidFill>
              </a:rPr>
              <a:t>44%</a:t>
            </a:r>
            <a:endParaRPr lang="en-US" sz="1000" dirty="0"/>
          </a:p>
        </p:txBody>
      </p:sp>
      <p:sp>
        <p:nvSpPr>
          <p:cNvPr id="33" name="bar-POST-2"/>
          <p:cNvSpPr/>
          <p:nvPr/>
        </p:nvSpPr>
        <p:spPr>
          <a:xfrm>
            <a:off x="6720840" y="2898648"/>
            <a:ext cx="2971343" cy="155448"/>
          </a:xfrm>
          <a:prstGeom prst="rect">
            <a:avLst/>
          </a:prstGeom>
          <a:solidFill>
            <a:schemeClr val="tx1"/>
          </a:solidFill>
          <a:ln/>
        </p:spPr>
      </p:sp>
      <p:sp>
        <p:nvSpPr>
          <p:cNvPr id="34" name="Text 32"/>
          <p:cNvSpPr txBox="1"/>
          <p:nvPr/>
        </p:nvSpPr>
        <p:spPr>
          <a:xfrm>
            <a:off x="9765335" y="2852928"/>
            <a:ext cx="548640" cy="246888"/>
          </a:xfrm>
          <a:prstGeom prst="rect">
            <a:avLst/>
          </a:prstGeom>
          <a:noFill/>
          <a:ln/>
        </p:spPr>
        <p:txBody>
          <a:bodyPr wrap="square" lIns="0" tIns="0" rIns="0" bIns="0" rtlCol="0" anchor="ctr"/>
          <a:lstStyle/>
          <a:p>
            <a:pPr indent="0" marL="0">
              <a:buNone/>
            </a:pPr>
            <a:r>
              <a:rPr lang="en-US" sz="1000" b="1" dirty="0">
                <a:solidFill>
                  <a:schemeClr val="tx1"/>
                </a:solidFill>
              </a:rPr>
              <a:t>67%</a:t>
            </a:r>
            <a:endParaRPr lang="en-US" sz="1000" dirty="0"/>
          </a:p>
        </p:txBody>
      </p:sp>
      <p:sp>
        <p:nvSpPr>
          <p:cNvPr id="35" name="Text 33"/>
          <p:cNvSpPr txBox="1"/>
          <p:nvPr/>
        </p:nvSpPr>
        <p:spPr>
          <a:xfrm>
            <a:off x="5029200" y="3090672"/>
            <a:ext cx="1554480" cy="457200"/>
          </a:xfrm>
          <a:prstGeom prst="rect">
            <a:avLst/>
          </a:prstGeom>
          <a:noFill/>
          <a:ln/>
        </p:spPr>
        <p:txBody>
          <a:bodyPr wrap="square" lIns="0" tIns="0" rIns="0" bIns="0" rtlCol="0" anchor="ctr"/>
          <a:lstStyle/>
          <a:p>
            <a:pPr indent="0" marL="0">
              <a:buNone/>
            </a:pPr>
            <a:r>
              <a:rPr lang="en-US" sz="1200" dirty="0">
                <a:solidFill>
                  <a:schemeClr val="tx1"/>
                </a:solidFill>
              </a:rPr>
              <a:t>4 Warning signs</a:t>
            </a:r>
            <a:endParaRPr lang="en-US" sz="1200" dirty="0"/>
          </a:p>
        </p:txBody>
      </p:sp>
      <p:sp>
        <p:nvSpPr>
          <p:cNvPr id="36" name="bar-PRE-3"/>
          <p:cNvSpPr/>
          <p:nvPr/>
        </p:nvSpPr>
        <p:spPr>
          <a:xfrm>
            <a:off x="6720840" y="3145536"/>
            <a:ext cx="2971343" cy="155448"/>
          </a:xfrm>
          <a:prstGeom prst="rect">
            <a:avLst/>
          </a:prstGeom>
          <a:solidFill>
            <a:schemeClr val="accent1"/>
          </a:solidFill>
          <a:ln/>
        </p:spPr>
      </p:sp>
      <p:sp>
        <p:nvSpPr>
          <p:cNvPr id="37" name="Text 35"/>
          <p:cNvSpPr txBox="1"/>
          <p:nvPr/>
        </p:nvSpPr>
        <p:spPr>
          <a:xfrm>
            <a:off x="9765335" y="3099816"/>
            <a:ext cx="548640" cy="246888"/>
          </a:xfrm>
          <a:prstGeom prst="rect">
            <a:avLst/>
          </a:prstGeom>
          <a:noFill/>
          <a:ln/>
        </p:spPr>
        <p:txBody>
          <a:bodyPr wrap="square" lIns="0" tIns="0" rIns="0" bIns="0" rtlCol="0" anchor="ctr"/>
          <a:lstStyle/>
          <a:p>
            <a:pPr indent="0" marL="0">
              <a:buNone/>
            </a:pPr>
            <a:r>
              <a:rPr lang="en-US" sz="1000" b="1" dirty="0">
                <a:solidFill>
                  <a:schemeClr val="tx1"/>
                </a:solidFill>
              </a:rPr>
              <a:t>67%</a:t>
            </a:r>
            <a:endParaRPr lang="en-US" sz="1000" dirty="0"/>
          </a:p>
        </p:txBody>
      </p:sp>
      <p:sp>
        <p:nvSpPr>
          <p:cNvPr id="38" name="bar-POST-3"/>
          <p:cNvSpPr/>
          <p:nvPr/>
        </p:nvSpPr>
        <p:spPr>
          <a:xfrm>
            <a:off x="6720840" y="3337560"/>
            <a:ext cx="3459175" cy="155448"/>
          </a:xfrm>
          <a:prstGeom prst="rect">
            <a:avLst/>
          </a:prstGeom>
          <a:solidFill>
            <a:schemeClr val="tx1"/>
          </a:solidFill>
          <a:ln/>
        </p:spPr>
      </p:sp>
      <p:sp>
        <p:nvSpPr>
          <p:cNvPr id="39" name="Text 37"/>
          <p:cNvSpPr txBox="1"/>
          <p:nvPr/>
        </p:nvSpPr>
        <p:spPr>
          <a:xfrm>
            <a:off x="10253167" y="3291840"/>
            <a:ext cx="548640" cy="246888"/>
          </a:xfrm>
          <a:prstGeom prst="rect">
            <a:avLst/>
          </a:prstGeom>
          <a:noFill/>
          <a:ln/>
        </p:spPr>
        <p:txBody>
          <a:bodyPr wrap="square" lIns="0" tIns="0" rIns="0" bIns="0" rtlCol="0" anchor="ctr"/>
          <a:lstStyle/>
          <a:p>
            <a:pPr indent="0" marL="0">
              <a:buNone/>
            </a:pPr>
            <a:r>
              <a:rPr lang="en-US" sz="1000" b="1" dirty="0">
                <a:solidFill>
                  <a:schemeClr val="tx1"/>
                </a:solidFill>
              </a:rPr>
              <a:t>78%</a:t>
            </a:r>
            <a:endParaRPr lang="en-US" sz="1000" dirty="0"/>
          </a:p>
        </p:txBody>
      </p:sp>
      <p:sp>
        <p:nvSpPr>
          <p:cNvPr id="40" name="Text 38"/>
          <p:cNvSpPr txBox="1"/>
          <p:nvPr/>
        </p:nvSpPr>
        <p:spPr>
          <a:xfrm>
            <a:off x="5029200" y="3529584"/>
            <a:ext cx="1554480" cy="457200"/>
          </a:xfrm>
          <a:prstGeom prst="rect">
            <a:avLst/>
          </a:prstGeom>
          <a:noFill/>
          <a:ln/>
        </p:spPr>
        <p:txBody>
          <a:bodyPr wrap="square" lIns="0" tIns="0" rIns="0" bIns="0" rtlCol="0" anchor="ctr"/>
          <a:lstStyle/>
          <a:p>
            <a:pPr indent="0" marL="0">
              <a:buNone/>
            </a:pPr>
            <a:r>
              <a:rPr lang="en-US" sz="1200" dirty="0">
                <a:solidFill>
                  <a:schemeClr val="tx1"/>
                </a:solidFill>
              </a:rPr>
              <a:t>5 Parcel SMS</a:t>
            </a:r>
            <a:endParaRPr lang="en-US" sz="1200" dirty="0"/>
          </a:p>
        </p:txBody>
      </p:sp>
      <p:sp>
        <p:nvSpPr>
          <p:cNvPr id="41" name="bar-PRE-4"/>
          <p:cNvSpPr/>
          <p:nvPr/>
        </p:nvSpPr>
        <p:spPr>
          <a:xfrm>
            <a:off x="6720840" y="3584448"/>
            <a:ext cx="3104388" cy="155448"/>
          </a:xfrm>
          <a:prstGeom prst="rect">
            <a:avLst/>
          </a:prstGeom>
          <a:solidFill>
            <a:schemeClr val="accent1"/>
          </a:solidFill>
          <a:ln/>
        </p:spPr>
      </p:sp>
      <p:sp>
        <p:nvSpPr>
          <p:cNvPr id="42" name="Text 40"/>
          <p:cNvSpPr txBox="1"/>
          <p:nvPr/>
        </p:nvSpPr>
        <p:spPr>
          <a:xfrm>
            <a:off x="9898380" y="3538728"/>
            <a:ext cx="548640" cy="246888"/>
          </a:xfrm>
          <a:prstGeom prst="rect">
            <a:avLst/>
          </a:prstGeom>
          <a:noFill/>
          <a:ln/>
        </p:spPr>
        <p:txBody>
          <a:bodyPr wrap="square" lIns="0" tIns="0" rIns="0" bIns="0" rtlCol="0" anchor="ctr"/>
          <a:lstStyle/>
          <a:p>
            <a:pPr indent="0" marL="0">
              <a:buNone/>
            </a:pPr>
            <a:r>
              <a:rPr lang="en-US" sz="1000" b="1" dirty="0">
                <a:solidFill>
                  <a:schemeClr val="tx1"/>
                </a:solidFill>
              </a:rPr>
              <a:t>70%</a:t>
            </a:r>
            <a:endParaRPr lang="en-US" sz="1000" dirty="0"/>
          </a:p>
        </p:txBody>
      </p:sp>
      <p:sp>
        <p:nvSpPr>
          <p:cNvPr id="43" name="bar-POST-4"/>
          <p:cNvSpPr/>
          <p:nvPr/>
        </p:nvSpPr>
        <p:spPr>
          <a:xfrm>
            <a:off x="6720840" y="3776472"/>
            <a:ext cx="3813962" cy="155448"/>
          </a:xfrm>
          <a:prstGeom prst="rect">
            <a:avLst/>
          </a:prstGeom>
          <a:solidFill>
            <a:schemeClr val="tx1"/>
          </a:solidFill>
          <a:ln/>
        </p:spPr>
      </p:sp>
      <p:sp>
        <p:nvSpPr>
          <p:cNvPr id="44" name="Text 42"/>
          <p:cNvSpPr txBox="1"/>
          <p:nvPr/>
        </p:nvSpPr>
        <p:spPr>
          <a:xfrm>
            <a:off x="10607954" y="3730752"/>
            <a:ext cx="548640" cy="246888"/>
          </a:xfrm>
          <a:prstGeom prst="rect">
            <a:avLst/>
          </a:prstGeom>
          <a:noFill/>
          <a:ln/>
        </p:spPr>
        <p:txBody>
          <a:bodyPr wrap="square" lIns="0" tIns="0" rIns="0" bIns="0" rtlCol="0" anchor="ctr"/>
          <a:lstStyle/>
          <a:p>
            <a:pPr indent="0" marL="0">
              <a:buNone/>
            </a:pPr>
            <a:r>
              <a:rPr lang="en-US" sz="1000" b="1" dirty="0">
                <a:solidFill>
                  <a:schemeClr val="tx1"/>
                </a:solidFill>
              </a:rPr>
              <a:t>86%</a:t>
            </a:r>
            <a:endParaRPr lang="en-US" sz="1000" dirty="0"/>
          </a:p>
        </p:txBody>
      </p:sp>
      <p:sp>
        <p:nvSpPr>
          <p:cNvPr id="45" name="Text 43"/>
          <p:cNvSpPr txBox="1"/>
          <p:nvPr/>
        </p:nvSpPr>
        <p:spPr>
          <a:xfrm>
            <a:off x="5029200" y="3968496"/>
            <a:ext cx="1554480" cy="457200"/>
          </a:xfrm>
          <a:prstGeom prst="rect">
            <a:avLst/>
          </a:prstGeom>
          <a:noFill/>
          <a:ln/>
        </p:spPr>
        <p:txBody>
          <a:bodyPr wrap="square" lIns="0" tIns="0" rIns="0" bIns="0" rtlCol="0" anchor="ctr"/>
          <a:lstStyle/>
          <a:p>
            <a:pPr indent="0" marL="0">
              <a:buNone/>
            </a:pPr>
            <a:r>
              <a:rPr lang="en-US" sz="1200" dirty="0">
                <a:solidFill>
                  <a:schemeClr val="tx1"/>
                </a:solidFill>
              </a:rPr>
              <a:t>6 Sign-in prompts</a:t>
            </a:r>
            <a:endParaRPr lang="en-US" sz="1200" dirty="0"/>
          </a:p>
        </p:txBody>
      </p:sp>
      <p:sp>
        <p:nvSpPr>
          <p:cNvPr id="46" name="bar-PRE-5"/>
          <p:cNvSpPr/>
          <p:nvPr/>
        </p:nvSpPr>
        <p:spPr>
          <a:xfrm>
            <a:off x="6720840" y="4023360"/>
            <a:ext cx="2084375" cy="155448"/>
          </a:xfrm>
          <a:prstGeom prst="rect">
            <a:avLst/>
          </a:prstGeom>
          <a:solidFill>
            <a:schemeClr val="accent1"/>
          </a:solidFill>
          <a:ln/>
        </p:spPr>
      </p:sp>
      <p:sp>
        <p:nvSpPr>
          <p:cNvPr id="47" name="Text 45"/>
          <p:cNvSpPr txBox="1"/>
          <p:nvPr/>
        </p:nvSpPr>
        <p:spPr>
          <a:xfrm>
            <a:off x="8878367" y="3977640"/>
            <a:ext cx="548640" cy="246888"/>
          </a:xfrm>
          <a:prstGeom prst="rect">
            <a:avLst/>
          </a:prstGeom>
          <a:noFill/>
          <a:ln/>
        </p:spPr>
        <p:txBody>
          <a:bodyPr wrap="square" lIns="0" tIns="0" rIns="0" bIns="0" rtlCol="0" anchor="ctr"/>
          <a:lstStyle/>
          <a:p>
            <a:pPr indent="0" marL="0">
              <a:buNone/>
            </a:pPr>
            <a:r>
              <a:rPr lang="en-US" sz="1000" b="1" dirty="0">
                <a:solidFill>
                  <a:schemeClr val="tx1"/>
                </a:solidFill>
              </a:rPr>
              <a:t>47%</a:t>
            </a:r>
            <a:endParaRPr lang="en-US" sz="1000" dirty="0"/>
          </a:p>
        </p:txBody>
      </p:sp>
      <p:sp>
        <p:nvSpPr>
          <p:cNvPr id="48" name="bar-POST-5"/>
          <p:cNvSpPr/>
          <p:nvPr/>
        </p:nvSpPr>
        <p:spPr>
          <a:xfrm>
            <a:off x="6720840" y="4215384"/>
            <a:ext cx="2616556" cy="155448"/>
          </a:xfrm>
          <a:prstGeom prst="rect">
            <a:avLst/>
          </a:prstGeom>
          <a:solidFill>
            <a:schemeClr val="tx1"/>
          </a:solidFill>
          <a:ln/>
        </p:spPr>
      </p:sp>
      <p:sp>
        <p:nvSpPr>
          <p:cNvPr id="49" name="Text 47"/>
          <p:cNvSpPr txBox="1"/>
          <p:nvPr/>
        </p:nvSpPr>
        <p:spPr>
          <a:xfrm>
            <a:off x="9410548" y="4169664"/>
            <a:ext cx="548640" cy="246888"/>
          </a:xfrm>
          <a:prstGeom prst="rect">
            <a:avLst/>
          </a:prstGeom>
          <a:noFill/>
          <a:ln/>
        </p:spPr>
        <p:txBody>
          <a:bodyPr wrap="square" lIns="0" tIns="0" rIns="0" bIns="0" rtlCol="0" anchor="ctr"/>
          <a:lstStyle/>
          <a:p>
            <a:pPr indent="0" marL="0">
              <a:buNone/>
            </a:pPr>
            <a:r>
              <a:rPr lang="en-US" sz="1000" b="1" dirty="0">
                <a:solidFill>
                  <a:schemeClr val="tx1"/>
                </a:solidFill>
              </a:rPr>
              <a:t>59%</a:t>
            </a:r>
            <a:endParaRPr lang="en-US" sz="1000" dirty="0"/>
          </a:p>
        </p:txBody>
      </p:sp>
      <p:sp>
        <p:nvSpPr>
          <p:cNvPr id="50" name="Text 48"/>
          <p:cNvSpPr txBox="1"/>
          <p:nvPr/>
        </p:nvSpPr>
        <p:spPr>
          <a:xfrm>
            <a:off x="5029200" y="4407408"/>
            <a:ext cx="1554480" cy="457200"/>
          </a:xfrm>
          <a:prstGeom prst="rect">
            <a:avLst/>
          </a:prstGeom>
          <a:noFill/>
          <a:ln/>
        </p:spPr>
        <p:txBody>
          <a:bodyPr wrap="square" lIns="0" tIns="0" rIns="0" bIns="0" rtlCol="0" anchor="ctr"/>
          <a:lstStyle/>
          <a:p>
            <a:pPr indent="0" marL="0">
              <a:buNone/>
            </a:pPr>
            <a:r>
              <a:rPr lang="en-US" sz="1200" dirty="0">
                <a:solidFill>
                  <a:schemeClr val="tx1"/>
                </a:solidFill>
              </a:rPr>
              <a:t>7 Friend's code</a:t>
            </a:r>
            <a:endParaRPr lang="en-US" sz="1200" dirty="0"/>
          </a:p>
        </p:txBody>
      </p:sp>
      <p:sp>
        <p:nvSpPr>
          <p:cNvPr id="51" name="bar-PRE-6"/>
          <p:cNvSpPr/>
          <p:nvPr/>
        </p:nvSpPr>
        <p:spPr>
          <a:xfrm>
            <a:off x="6720840" y="4462272"/>
            <a:ext cx="2793949" cy="155448"/>
          </a:xfrm>
          <a:prstGeom prst="rect">
            <a:avLst/>
          </a:prstGeom>
          <a:solidFill>
            <a:schemeClr val="accent1"/>
          </a:solidFill>
          <a:ln/>
        </p:spPr>
      </p:sp>
      <p:sp>
        <p:nvSpPr>
          <p:cNvPr id="52" name="Text 50"/>
          <p:cNvSpPr txBox="1"/>
          <p:nvPr/>
        </p:nvSpPr>
        <p:spPr>
          <a:xfrm>
            <a:off x="9587941" y="4416552"/>
            <a:ext cx="548640" cy="246888"/>
          </a:xfrm>
          <a:prstGeom prst="rect">
            <a:avLst/>
          </a:prstGeom>
          <a:noFill/>
          <a:ln/>
        </p:spPr>
        <p:txBody>
          <a:bodyPr wrap="square" lIns="0" tIns="0" rIns="0" bIns="0" rtlCol="0" anchor="ctr"/>
          <a:lstStyle/>
          <a:p>
            <a:pPr indent="0" marL="0">
              <a:buNone/>
            </a:pPr>
            <a:r>
              <a:rPr lang="en-US" sz="1000" b="1" dirty="0">
                <a:solidFill>
                  <a:schemeClr val="tx1"/>
                </a:solidFill>
              </a:rPr>
              <a:t>63%</a:t>
            </a:r>
            <a:endParaRPr lang="en-US" sz="1000" dirty="0"/>
          </a:p>
        </p:txBody>
      </p:sp>
      <p:sp>
        <p:nvSpPr>
          <p:cNvPr id="53" name="bar-POST-6"/>
          <p:cNvSpPr/>
          <p:nvPr/>
        </p:nvSpPr>
        <p:spPr>
          <a:xfrm>
            <a:off x="6720840" y="4654296"/>
            <a:ext cx="3636569" cy="155448"/>
          </a:xfrm>
          <a:prstGeom prst="rect">
            <a:avLst/>
          </a:prstGeom>
          <a:solidFill>
            <a:schemeClr val="tx1"/>
          </a:solidFill>
          <a:ln/>
        </p:spPr>
      </p:sp>
      <p:sp>
        <p:nvSpPr>
          <p:cNvPr id="54" name="Text 52"/>
          <p:cNvSpPr txBox="1"/>
          <p:nvPr/>
        </p:nvSpPr>
        <p:spPr>
          <a:xfrm>
            <a:off x="10430561" y="4608576"/>
            <a:ext cx="548640" cy="246888"/>
          </a:xfrm>
          <a:prstGeom prst="rect">
            <a:avLst/>
          </a:prstGeom>
          <a:noFill/>
          <a:ln/>
        </p:spPr>
        <p:txBody>
          <a:bodyPr wrap="square" lIns="0" tIns="0" rIns="0" bIns="0" rtlCol="0" anchor="ctr"/>
          <a:lstStyle/>
          <a:p>
            <a:pPr indent="0" marL="0">
              <a:buNone/>
            </a:pPr>
            <a:r>
              <a:rPr lang="en-US" sz="1000" b="1" dirty="0">
                <a:solidFill>
                  <a:schemeClr val="tx1"/>
                </a:solidFill>
              </a:rPr>
              <a:t>82%</a:t>
            </a:r>
            <a:endParaRPr lang="en-US" sz="1000" dirty="0"/>
          </a:p>
        </p:txBody>
      </p:sp>
      <p:sp>
        <p:nvSpPr>
          <p:cNvPr id="55" name="Text 53"/>
          <p:cNvSpPr txBox="1"/>
          <p:nvPr/>
        </p:nvSpPr>
        <p:spPr>
          <a:xfrm>
            <a:off x="5029200" y="4846320"/>
            <a:ext cx="1554480" cy="457200"/>
          </a:xfrm>
          <a:prstGeom prst="rect">
            <a:avLst/>
          </a:prstGeom>
          <a:noFill/>
          <a:ln/>
        </p:spPr>
        <p:txBody>
          <a:bodyPr wrap="square" lIns="0" tIns="0" rIns="0" bIns="0" rtlCol="0" anchor="ctr"/>
          <a:lstStyle/>
          <a:p>
            <a:pPr indent="0" marL="0">
              <a:buNone/>
            </a:pPr>
            <a:r>
              <a:rPr lang="en-US" sz="1200" dirty="0">
                <a:solidFill>
                  <a:schemeClr val="tx1"/>
                </a:solidFill>
              </a:rPr>
              <a:t>8 Gift-card ask</a:t>
            </a:r>
            <a:endParaRPr lang="en-US" sz="1200" dirty="0"/>
          </a:p>
        </p:txBody>
      </p:sp>
      <p:sp>
        <p:nvSpPr>
          <p:cNvPr id="56" name="bar-PRE-7"/>
          <p:cNvSpPr/>
          <p:nvPr/>
        </p:nvSpPr>
        <p:spPr>
          <a:xfrm>
            <a:off x="6720840" y="4901184"/>
            <a:ext cx="3193085" cy="155448"/>
          </a:xfrm>
          <a:prstGeom prst="rect">
            <a:avLst/>
          </a:prstGeom>
          <a:solidFill>
            <a:schemeClr val="accent1"/>
          </a:solidFill>
          <a:ln/>
        </p:spPr>
      </p:sp>
      <p:sp>
        <p:nvSpPr>
          <p:cNvPr id="57" name="Text 55"/>
          <p:cNvSpPr txBox="1"/>
          <p:nvPr/>
        </p:nvSpPr>
        <p:spPr>
          <a:xfrm>
            <a:off x="9987077" y="4855464"/>
            <a:ext cx="548640" cy="246888"/>
          </a:xfrm>
          <a:prstGeom prst="rect">
            <a:avLst/>
          </a:prstGeom>
          <a:noFill/>
          <a:ln/>
        </p:spPr>
        <p:txBody>
          <a:bodyPr wrap="square" lIns="0" tIns="0" rIns="0" bIns="0" rtlCol="0" anchor="ctr"/>
          <a:lstStyle/>
          <a:p>
            <a:pPr indent="0" marL="0">
              <a:buNone/>
            </a:pPr>
            <a:r>
              <a:rPr lang="en-US" sz="1000" b="1" dirty="0">
                <a:solidFill>
                  <a:schemeClr val="tx1"/>
                </a:solidFill>
              </a:rPr>
              <a:t>72%</a:t>
            </a:r>
            <a:endParaRPr lang="en-US" sz="1000" dirty="0"/>
          </a:p>
        </p:txBody>
      </p:sp>
      <p:sp>
        <p:nvSpPr>
          <p:cNvPr id="58" name="bar-POST-7"/>
          <p:cNvSpPr/>
          <p:nvPr/>
        </p:nvSpPr>
        <p:spPr>
          <a:xfrm>
            <a:off x="6720840" y="5093208"/>
            <a:ext cx="3991356" cy="155448"/>
          </a:xfrm>
          <a:prstGeom prst="rect">
            <a:avLst/>
          </a:prstGeom>
          <a:solidFill>
            <a:schemeClr val="tx1"/>
          </a:solidFill>
          <a:ln/>
        </p:spPr>
      </p:sp>
      <p:sp>
        <p:nvSpPr>
          <p:cNvPr id="59" name="Text 57"/>
          <p:cNvSpPr txBox="1"/>
          <p:nvPr/>
        </p:nvSpPr>
        <p:spPr>
          <a:xfrm>
            <a:off x="10785348" y="5047488"/>
            <a:ext cx="548640" cy="246888"/>
          </a:xfrm>
          <a:prstGeom prst="rect">
            <a:avLst/>
          </a:prstGeom>
          <a:noFill/>
          <a:ln/>
        </p:spPr>
        <p:txBody>
          <a:bodyPr wrap="square" lIns="0" tIns="0" rIns="0" bIns="0" rtlCol="0" anchor="ctr"/>
          <a:lstStyle/>
          <a:p>
            <a:pPr indent="0" marL="0">
              <a:buNone/>
            </a:pPr>
            <a:r>
              <a:rPr lang="en-US" sz="1000" b="1" dirty="0">
                <a:solidFill>
                  <a:schemeClr val="tx1"/>
                </a:solidFill>
              </a:rPr>
              <a:t>90%</a:t>
            </a:r>
            <a:endParaRPr lang="en-US" sz="1000" dirty="0"/>
          </a:p>
        </p:txBody>
      </p:sp>
      <p:sp>
        <p:nvSpPr>
          <p:cNvPr id="60" name="Text 58"/>
          <p:cNvSpPr txBox="1"/>
          <p:nvPr/>
        </p:nvSpPr>
        <p:spPr>
          <a:xfrm>
            <a:off x="5029200" y="5285232"/>
            <a:ext cx="1554480" cy="457200"/>
          </a:xfrm>
          <a:prstGeom prst="rect">
            <a:avLst/>
          </a:prstGeom>
          <a:noFill/>
          <a:ln/>
        </p:spPr>
        <p:txBody>
          <a:bodyPr wrap="square" lIns="0" tIns="0" rIns="0" bIns="0" rtlCol="0" anchor="ctr"/>
          <a:lstStyle/>
          <a:p>
            <a:pPr indent="0" marL="0">
              <a:buNone/>
            </a:pPr>
            <a:r>
              <a:rPr lang="en-US" sz="1200" dirty="0">
                <a:solidFill>
                  <a:schemeClr val="tx1"/>
                </a:solidFill>
              </a:rPr>
              <a:t>9 QR sticker</a:t>
            </a:r>
            <a:endParaRPr lang="en-US" sz="1200" dirty="0"/>
          </a:p>
        </p:txBody>
      </p:sp>
      <p:sp>
        <p:nvSpPr>
          <p:cNvPr id="61" name="bar-PRE-8"/>
          <p:cNvSpPr/>
          <p:nvPr/>
        </p:nvSpPr>
        <p:spPr>
          <a:xfrm>
            <a:off x="6720840" y="5340096"/>
            <a:ext cx="2793949" cy="155448"/>
          </a:xfrm>
          <a:prstGeom prst="rect">
            <a:avLst/>
          </a:prstGeom>
          <a:solidFill>
            <a:schemeClr val="accent1"/>
          </a:solidFill>
          <a:ln/>
        </p:spPr>
      </p:sp>
      <p:sp>
        <p:nvSpPr>
          <p:cNvPr id="62" name="Text 60"/>
          <p:cNvSpPr txBox="1"/>
          <p:nvPr/>
        </p:nvSpPr>
        <p:spPr>
          <a:xfrm>
            <a:off x="9587941" y="5294376"/>
            <a:ext cx="548640" cy="246888"/>
          </a:xfrm>
          <a:prstGeom prst="rect">
            <a:avLst/>
          </a:prstGeom>
          <a:noFill/>
          <a:ln/>
        </p:spPr>
        <p:txBody>
          <a:bodyPr wrap="square" lIns="0" tIns="0" rIns="0" bIns="0" rtlCol="0" anchor="ctr"/>
          <a:lstStyle/>
          <a:p>
            <a:pPr indent="0" marL="0">
              <a:buNone/>
            </a:pPr>
            <a:r>
              <a:rPr lang="en-US" sz="1000" b="1" dirty="0">
                <a:solidFill>
                  <a:schemeClr val="tx1"/>
                </a:solidFill>
              </a:rPr>
              <a:t>63%</a:t>
            </a:r>
            <a:endParaRPr lang="en-US" sz="1000" dirty="0"/>
          </a:p>
        </p:txBody>
      </p:sp>
      <p:sp>
        <p:nvSpPr>
          <p:cNvPr id="63" name="bar-POST-8"/>
          <p:cNvSpPr/>
          <p:nvPr/>
        </p:nvSpPr>
        <p:spPr>
          <a:xfrm>
            <a:off x="6720840" y="5532120"/>
            <a:ext cx="3459175" cy="155448"/>
          </a:xfrm>
          <a:prstGeom prst="rect">
            <a:avLst/>
          </a:prstGeom>
          <a:solidFill>
            <a:schemeClr val="tx1"/>
          </a:solidFill>
          <a:ln/>
        </p:spPr>
      </p:sp>
      <p:sp>
        <p:nvSpPr>
          <p:cNvPr id="64" name="Text 62"/>
          <p:cNvSpPr txBox="1"/>
          <p:nvPr/>
        </p:nvSpPr>
        <p:spPr>
          <a:xfrm>
            <a:off x="10253167" y="5486400"/>
            <a:ext cx="548640" cy="246888"/>
          </a:xfrm>
          <a:prstGeom prst="rect">
            <a:avLst/>
          </a:prstGeom>
          <a:noFill/>
          <a:ln/>
        </p:spPr>
        <p:txBody>
          <a:bodyPr wrap="square" lIns="0" tIns="0" rIns="0" bIns="0" rtlCol="0" anchor="ctr"/>
          <a:lstStyle/>
          <a:p>
            <a:pPr indent="0" marL="0">
              <a:buNone/>
            </a:pPr>
            <a:r>
              <a:rPr lang="en-US" sz="1000" b="1" dirty="0">
                <a:solidFill>
                  <a:schemeClr val="tx1"/>
                </a:solidFill>
              </a:rPr>
              <a:t>78%</a:t>
            </a:r>
            <a:endParaRPr lang="en-US" sz="1000" dirty="0"/>
          </a:p>
        </p:txBody>
      </p:sp>
      <p:sp>
        <p:nvSpPr>
          <p:cNvPr id="65" name="Text 63"/>
          <p:cNvSpPr txBox="1"/>
          <p:nvPr/>
        </p:nvSpPr>
        <p:spPr>
          <a:xfrm>
            <a:off x="5029200" y="5724144"/>
            <a:ext cx="1554480" cy="457200"/>
          </a:xfrm>
          <a:prstGeom prst="rect">
            <a:avLst/>
          </a:prstGeom>
          <a:noFill/>
          <a:ln/>
        </p:spPr>
        <p:txBody>
          <a:bodyPr wrap="square" lIns="0" tIns="0" rIns="0" bIns="0" rtlCol="0" anchor="ctr"/>
          <a:lstStyle/>
          <a:p>
            <a:pPr indent="0" marL="0">
              <a:buNone/>
            </a:pPr>
            <a:r>
              <a:rPr lang="en-US" sz="1200" dirty="0">
                <a:solidFill>
                  <a:schemeClr val="tx1"/>
                </a:solidFill>
              </a:rPr>
              <a:t>10 After a leak</a:t>
            </a:r>
            <a:endParaRPr lang="en-US" sz="1200" dirty="0"/>
          </a:p>
        </p:txBody>
      </p:sp>
      <p:sp>
        <p:nvSpPr>
          <p:cNvPr id="66" name="bar-PRE-9"/>
          <p:cNvSpPr/>
          <p:nvPr/>
        </p:nvSpPr>
        <p:spPr>
          <a:xfrm>
            <a:off x="6720840" y="5779008"/>
            <a:ext cx="2926994" cy="155448"/>
          </a:xfrm>
          <a:prstGeom prst="rect">
            <a:avLst/>
          </a:prstGeom>
          <a:solidFill>
            <a:schemeClr val="accent1"/>
          </a:solidFill>
          <a:ln/>
        </p:spPr>
      </p:sp>
      <p:sp>
        <p:nvSpPr>
          <p:cNvPr id="67" name="Text 65"/>
          <p:cNvSpPr txBox="1"/>
          <p:nvPr/>
        </p:nvSpPr>
        <p:spPr>
          <a:xfrm>
            <a:off x="9720986" y="5733288"/>
            <a:ext cx="548640" cy="246888"/>
          </a:xfrm>
          <a:prstGeom prst="rect">
            <a:avLst/>
          </a:prstGeom>
          <a:noFill/>
          <a:ln/>
        </p:spPr>
        <p:txBody>
          <a:bodyPr wrap="square" lIns="0" tIns="0" rIns="0" bIns="0" rtlCol="0" anchor="ctr"/>
          <a:lstStyle/>
          <a:p>
            <a:pPr indent="0" marL="0">
              <a:buNone/>
            </a:pPr>
            <a:r>
              <a:rPr lang="en-US" sz="1000" b="1" dirty="0">
                <a:solidFill>
                  <a:schemeClr val="tx1"/>
                </a:solidFill>
              </a:rPr>
              <a:t>66%</a:t>
            </a:r>
            <a:endParaRPr lang="en-US" sz="1000" dirty="0"/>
          </a:p>
        </p:txBody>
      </p:sp>
      <p:sp>
        <p:nvSpPr>
          <p:cNvPr id="68" name="bar-POST-9"/>
          <p:cNvSpPr/>
          <p:nvPr/>
        </p:nvSpPr>
        <p:spPr>
          <a:xfrm>
            <a:off x="6720840" y="5971032"/>
            <a:ext cx="3237433" cy="155448"/>
          </a:xfrm>
          <a:prstGeom prst="rect">
            <a:avLst/>
          </a:prstGeom>
          <a:solidFill>
            <a:schemeClr val="tx1"/>
          </a:solidFill>
          <a:ln/>
        </p:spPr>
      </p:sp>
      <p:sp>
        <p:nvSpPr>
          <p:cNvPr id="69" name="Text 67"/>
          <p:cNvSpPr txBox="1"/>
          <p:nvPr/>
        </p:nvSpPr>
        <p:spPr>
          <a:xfrm>
            <a:off x="10031425" y="5925312"/>
            <a:ext cx="548640" cy="246888"/>
          </a:xfrm>
          <a:prstGeom prst="rect">
            <a:avLst/>
          </a:prstGeom>
          <a:noFill/>
          <a:ln/>
        </p:spPr>
        <p:txBody>
          <a:bodyPr wrap="square" lIns="0" tIns="0" rIns="0" bIns="0" rtlCol="0" anchor="ctr"/>
          <a:lstStyle/>
          <a:p>
            <a:pPr indent="0" marL="0">
              <a:buNone/>
            </a:pPr>
            <a:r>
              <a:rPr lang="en-US" sz="1000" b="1" dirty="0">
                <a:solidFill>
                  <a:schemeClr val="tx1"/>
                </a:solidFill>
              </a:rPr>
              <a:t>73%</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Findings by human trait</a:t>
            </a:r>
            <a:endParaRPr lang="en-US" sz="3400" dirty="0"/>
          </a:p>
        </p:txBody>
      </p:sp>
      <p:sp>
        <p:nvSpPr>
          <p:cNvPr id="3" name="tag"/>
          <p:cNvSpPr txBox="1"/>
          <p:nvPr/>
        </p:nvSpPr>
        <p:spPr>
          <a:xfrm rot="90000">
            <a:off x="7452360" y="457200"/>
            <a:ext cx="4206240" cy="457200"/>
          </a:xfrm>
          <a:prstGeom prst="rect">
            <a:avLst/>
          </a:prstGeom>
          <a:solidFill>
            <a:schemeClr val="accent1"/>
          </a:solidFill>
          <a:ln/>
          <a:effectLst>
            <a:outerShdw sx="100000" sy="100000" kx="0" ky="0" algn="bl" rotWithShape="0" blurRad="76200" dist="25400" dir="5400000">
              <a:srgbClr val="14213D">
                <a:alpha val="18000"/>
              </a:srgbClr>
            </a:outerShdw>
          </a:effectLst>
        </p:spPr>
        <p:txBody>
          <a:bodyPr wrap="square" lIns="50800" tIns="127000" rIns="127000" bIns="50800" rtlCol="0" anchor="ctr"/>
          <a:lstStyle/>
          <a:p>
            <a:pPr algn="l" indent="0" marL="0">
              <a:buNone/>
            </a:pPr>
            <a:r>
              <a:rPr lang="en-US" sz="1200" b="1" dirty="0">
                <a:solidFill>
                  <a:schemeClr val="tx1"/>
                </a:solidFill>
              </a:rPr>
              <a:t>Demonstration of our analysis pipeline · live results to follow</a:t>
            </a:r>
            <a:endParaRPr lang="en-US" sz="1200" dirty="0"/>
          </a:p>
        </p:txBody>
      </p:sp>
      <p:sp>
        <p:nvSpPr>
          <p:cNvPr id="4" name="Text 2"/>
          <p:cNvSpPr txBox="1"/>
          <p:nvPr/>
        </p:nvSpPr>
        <p:spPr>
          <a:xfrm>
            <a:off x="548640" y="1280160"/>
            <a:ext cx="4206240" cy="347472"/>
          </a:xfrm>
          <a:prstGeom prst="rect">
            <a:avLst/>
          </a:prstGeom>
          <a:noFill/>
          <a:ln/>
        </p:spPr>
        <p:txBody>
          <a:bodyPr wrap="square" lIns="0" tIns="0" rIns="0" bIns="0" rtlCol="0" anchor="ctr"/>
          <a:lstStyle/>
          <a:p>
            <a:pPr indent="0" marL="0">
              <a:buNone/>
            </a:pPr>
            <a:r>
              <a:rPr lang="en-US" sz="1400" b="1" dirty="0">
                <a:solidFill>
                  <a:schemeClr val="tx1"/>
                </a:solidFill>
              </a:rPr>
              <a:t>Accuracy by trait (average of its questions)</a:t>
            </a:r>
            <a:endParaRPr lang="en-US" sz="1400" dirty="0"/>
          </a:p>
        </p:txBody>
      </p:sp>
      <p:sp>
        <p:nvSpPr>
          <p:cNvPr id="5" name="legend-key"/>
          <p:cNvSpPr/>
          <p:nvPr/>
        </p:nvSpPr>
        <p:spPr>
          <a:xfrm>
            <a:off x="4937760" y="1353312"/>
            <a:ext cx="201168" cy="201168"/>
          </a:xfrm>
          <a:prstGeom prst="rect">
            <a:avLst/>
          </a:prstGeom>
          <a:solidFill>
            <a:schemeClr val="accent1"/>
          </a:solidFill>
          <a:ln/>
        </p:spPr>
      </p:sp>
      <p:sp>
        <p:nvSpPr>
          <p:cNvPr id="6" name="Text 4"/>
          <p:cNvSpPr txBox="1"/>
          <p:nvPr/>
        </p:nvSpPr>
        <p:spPr>
          <a:xfrm>
            <a:off x="5212080" y="1280160"/>
            <a:ext cx="1737360" cy="347472"/>
          </a:xfrm>
          <a:prstGeom prst="rect">
            <a:avLst/>
          </a:prstGeom>
          <a:noFill/>
          <a:ln/>
        </p:spPr>
        <p:txBody>
          <a:bodyPr wrap="square" lIns="0" tIns="0" rIns="0" bIns="0" rtlCol="0" anchor="ctr"/>
          <a:lstStyle/>
          <a:p>
            <a:pPr indent="0" marL="0">
              <a:buNone/>
            </a:pPr>
            <a:r>
              <a:rPr lang="en-US" sz="1300" dirty="0">
                <a:solidFill>
                  <a:schemeClr val="tx1"/>
                </a:solidFill>
              </a:rPr>
              <a:t>PRE</a:t>
            </a:r>
            <a:endParaRPr lang="en-US" sz="1300" dirty="0"/>
          </a:p>
        </p:txBody>
      </p:sp>
      <p:sp>
        <p:nvSpPr>
          <p:cNvPr id="7" name="legend-key"/>
          <p:cNvSpPr/>
          <p:nvPr/>
        </p:nvSpPr>
        <p:spPr>
          <a:xfrm>
            <a:off x="5824728" y="1353312"/>
            <a:ext cx="201168" cy="201168"/>
          </a:xfrm>
          <a:prstGeom prst="rect">
            <a:avLst/>
          </a:prstGeom>
          <a:solidFill>
            <a:schemeClr val="tx1"/>
          </a:solidFill>
          <a:ln/>
        </p:spPr>
      </p:sp>
      <p:sp>
        <p:nvSpPr>
          <p:cNvPr id="8" name="Text 6"/>
          <p:cNvSpPr txBox="1"/>
          <p:nvPr/>
        </p:nvSpPr>
        <p:spPr>
          <a:xfrm>
            <a:off x="6099048" y="1280160"/>
            <a:ext cx="1737360" cy="347472"/>
          </a:xfrm>
          <a:prstGeom prst="rect">
            <a:avLst/>
          </a:prstGeom>
          <a:noFill/>
          <a:ln/>
        </p:spPr>
        <p:txBody>
          <a:bodyPr wrap="square" lIns="0" tIns="0" rIns="0" bIns="0" rtlCol="0" anchor="ctr"/>
          <a:lstStyle/>
          <a:p>
            <a:pPr indent="0" marL="0">
              <a:buNone/>
            </a:pPr>
            <a:r>
              <a:rPr lang="en-US" sz="1300" dirty="0">
                <a:solidFill>
                  <a:schemeClr val="tx1"/>
                </a:solidFill>
              </a:rPr>
              <a:t>POST</a:t>
            </a:r>
            <a:endParaRPr lang="en-US" sz="1300" dirty="0"/>
          </a:p>
        </p:txBody>
      </p:sp>
      <p:sp>
        <p:nvSpPr>
          <p:cNvPr id="9" name="Text 7"/>
          <p:cNvSpPr txBox="1"/>
          <p:nvPr/>
        </p:nvSpPr>
        <p:spPr>
          <a:xfrm>
            <a:off x="548640" y="1819656"/>
            <a:ext cx="2011680" cy="640080"/>
          </a:xfrm>
          <a:prstGeom prst="rect">
            <a:avLst/>
          </a:prstGeom>
          <a:noFill/>
          <a:ln/>
        </p:spPr>
        <p:txBody>
          <a:bodyPr wrap="square" lIns="0" tIns="0" rIns="0" bIns="0" rtlCol="0" anchor="ctr"/>
          <a:lstStyle/>
          <a:p>
            <a:pPr indent="0" marL="0">
              <a:buNone/>
            </a:pPr>
            <a:r>
              <a:rPr lang="en-US" sz="1400" dirty="0">
                <a:solidFill>
                  <a:schemeClr val="tx1"/>
                </a:solidFill>
              </a:rPr>
              <a:t>Urgency &amp; fear</a:t>
            </a:r>
            <a:endParaRPr lang="en-US" sz="1400" dirty="0"/>
          </a:p>
        </p:txBody>
      </p:sp>
      <p:sp>
        <p:nvSpPr>
          <p:cNvPr id="10" name="bar-PRE-0"/>
          <p:cNvSpPr/>
          <p:nvPr/>
        </p:nvSpPr>
        <p:spPr>
          <a:xfrm>
            <a:off x="2697480" y="1874520"/>
            <a:ext cx="2830982" cy="246888"/>
          </a:xfrm>
          <a:prstGeom prst="rect">
            <a:avLst/>
          </a:prstGeom>
          <a:solidFill>
            <a:schemeClr val="accent1"/>
          </a:solidFill>
          <a:ln/>
        </p:spPr>
      </p:sp>
      <p:sp>
        <p:nvSpPr>
          <p:cNvPr id="11" name="Text 9"/>
          <p:cNvSpPr txBox="1"/>
          <p:nvPr/>
        </p:nvSpPr>
        <p:spPr>
          <a:xfrm>
            <a:off x="5601614" y="1828800"/>
            <a:ext cx="548640" cy="338328"/>
          </a:xfrm>
          <a:prstGeom prst="rect">
            <a:avLst/>
          </a:prstGeom>
          <a:noFill/>
          <a:ln/>
        </p:spPr>
        <p:txBody>
          <a:bodyPr wrap="square" lIns="0" tIns="0" rIns="0" bIns="0" rtlCol="0" anchor="ctr"/>
          <a:lstStyle/>
          <a:p>
            <a:pPr indent="0" marL="0">
              <a:buNone/>
            </a:pPr>
            <a:r>
              <a:rPr lang="en-US" sz="1200" b="1" dirty="0">
                <a:solidFill>
                  <a:schemeClr val="tx1"/>
                </a:solidFill>
              </a:rPr>
              <a:t>72%</a:t>
            </a:r>
            <a:endParaRPr lang="en-US" sz="1200" dirty="0"/>
          </a:p>
        </p:txBody>
      </p:sp>
      <p:sp>
        <p:nvSpPr>
          <p:cNvPr id="12" name="bar-POST-0"/>
          <p:cNvSpPr/>
          <p:nvPr/>
        </p:nvSpPr>
        <p:spPr>
          <a:xfrm>
            <a:off x="2697480" y="2157984"/>
            <a:ext cx="3184855" cy="246888"/>
          </a:xfrm>
          <a:prstGeom prst="rect">
            <a:avLst/>
          </a:prstGeom>
          <a:solidFill>
            <a:schemeClr val="tx1"/>
          </a:solidFill>
          <a:ln/>
        </p:spPr>
      </p:sp>
      <p:sp>
        <p:nvSpPr>
          <p:cNvPr id="13" name="Text 11"/>
          <p:cNvSpPr txBox="1"/>
          <p:nvPr/>
        </p:nvSpPr>
        <p:spPr>
          <a:xfrm>
            <a:off x="5955487" y="2112264"/>
            <a:ext cx="548640" cy="338328"/>
          </a:xfrm>
          <a:prstGeom prst="rect">
            <a:avLst/>
          </a:prstGeom>
          <a:noFill/>
          <a:ln/>
        </p:spPr>
        <p:txBody>
          <a:bodyPr wrap="square" lIns="0" tIns="0" rIns="0" bIns="0" rtlCol="0" anchor="ctr"/>
          <a:lstStyle/>
          <a:p>
            <a:pPr indent="0" marL="0">
              <a:buNone/>
            </a:pPr>
            <a:r>
              <a:rPr lang="en-US" sz="1200" b="1" dirty="0">
                <a:solidFill>
                  <a:schemeClr val="tx1"/>
                </a:solidFill>
              </a:rPr>
              <a:t>81%</a:t>
            </a:r>
            <a:endParaRPr lang="en-US" sz="1200" dirty="0"/>
          </a:p>
        </p:txBody>
      </p:sp>
      <p:sp>
        <p:nvSpPr>
          <p:cNvPr id="14" name="Text 12"/>
          <p:cNvSpPr txBox="1"/>
          <p:nvPr/>
        </p:nvSpPr>
        <p:spPr>
          <a:xfrm>
            <a:off x="548640" y="2532888"/>
            <a:ext cx="2011680" cy="640080"/>
          </a:xfrm>
          <a:prstGeom prst="rect">
            <a:avLst/>
          </a:prstGeom>
          <a:noFill/>
          <a:ln/>
        </p:spPr>
        <p:txBody>
          <a:bodyPr wrap="square" lIns="0" tIns="0" rIns="0" bIns="0" rtlCol="0" anchor="ctr"/>
          <a:lstStyle/>
          <a:p>
            <a:pPr indent="0" marL="0">
              <a:buNone/>
            </a:pPr>
            <a:r>
              <a:rPr lang="en-US" sz="1400" dirty="0">
                <a:solidFill>
                  <a:schemeClr val="tx1"/>
                </a:solidFill>
              </a:rPr>
              <a:t>Authority</a:t>
            </a:r>
            <a:endParaRPr lang="en-US" sz="1400" dirty="0"/>
          </a:p>
        </p:txBody>
      </p:sp>
      <p:sp>
        <p:nvSpPr>
          <p:cNvPr id="15" name="bar-PRE-1"/>
          <p:cNvSpPr/>
          <p:nvPr/>
        </p:nvSpPr>
        <p:spPr>
          <a:xfrm>
            <a:off x="2697480" y="2587752"/>
            <a:ext cx="2359152" cy="246888"/>
          </a:xfrm>
          <a:prstGeom prst="rect">
            <a:avLst/>
          </a:prstGeom>
          <a:solidFill>
            <a:schemeClr val="accent1"/>
          </a:solidFill>
          <a:ln/>
        </p:spPr>
      </p:sp>
      <p:sp>
        <p:nvSpPr>
          <p:cNvPr id="16" name="Text 14"/>
          <p:cNvSpPr txBox="1"/>
          <p:nvPr/>
        </p:nvSpPr>
        <p:spPr>
          <a:xfrm>
            <a:off x="5129784" y="2542032"/>
            <a:ext cx="548640" cy="338328"/>
          </a:xfrm>
          <a:prstGeom prst="rect">
            <a:avLst/>
          </a:prstGeom>
          <a:noFill/>
          <a:ln/>
        </p:spPr>
        <p:txBody>
          <a:bodyPr wrap="square" lIns="0" tIns="0" rIns="0" bIns="0" rtlCol="0" anchor="ctr"/>
          <a:lstStyle/>
          <a:p>
            <a:pPr indent="0" marL="0">
              <a:buNone/>
            </a:pPr>
            <a:r>
              <a:rPr lang="en-US" sz="1200" b="1" dirty="0">
                <a:solidFill>
                  <a:schemeClr val="tx1"/>
                </a:solidFill>
              </a:rPr>
              <a:t>60%</a:t>
            </a:r>
            <a:endParaRPr lang="en-US" sz="1200" dirty="0"/>
          </a:p>
        </p:txBody>
      </p:sp>
      <p:sp>
        <p:nvSpPr>
          <p:cNvPr id="17" name="bar-POST-1"/>
          <p:cNvSpPr/>
          <p:nvPr/>
        </p:nvSpPr>
        <p:spPr>
          <a:xfrm>
            <a:off x="2697480" y="2871216"/>
            <a:ext cx="2948940" cy="246888"/>
          </a:xfrm>
          <a:prstGeom prst="rect">
            <a:avLst/>
          </a:prstGeom>
          <a:solidFill>
            <a:schemeClr val="tx1"/>
          </a:solidFill>
          <a:ln/>
        </p:spPr>
      </p:sp>
      <p:sp>
        <p:nvSpPr>
          <p:cNvPr id="18" name="Text 16"/>
          <p:cNvSpPr txBox="1"/>
          <p:nvPr/>
        </p:nvSpPr>
        <p:spPr>
          <a:xfrm>
            <a:off x="5719572" y="2825496"/>
            <a:ext cx="548640" cy="338328"/>
          </a:xfrm>
          <a:prstGeom prst="rect">
            <a:avLst/>
          </a:prstGeom>
          <a:noFill/>
          <a:ln/>
        </p:spPr>
        <p:txBody>
          <a:bodyPr wrap="square" lIns="0" tIns="0" rIns="0" bIns="0" rtlCol="0" anchor="ctr"/>
          <a:lstStyle/>
          <a:p>
            <a:pPr indent="0" marL="0">
              <a:buNone/>
            </a:pPr>
            <a:r>
              <a:rPr lang="en-US" sz="1200" b="1" dirty="0">
                <a:solidFill>
                  <a:schemeClr val="tx1"/>
                </a:solidFill>
              </a:rPr>
              <a:t>75%</a:t>
            </a:r>
            <a:endParaRPr lang="en-US" sz="1200" dirty="0"/>
          </a:p>
        </p:txBody>
      </p:sp>
      <p:sp>
        <p:nvSpPr>
          <p:cNvPr id="19" name="Text 17"/>
          <p:cNvSpPr txBox="1"/>
          <p:nvPr/>
        </p:nvSpPr>
        <p:spPr>
          <a:xfrm>
            <a:off x="548640" y="3246120"/>
            <a:ext cx="2011680" cy="640080"/>
          </a:xfrm>
          <a:prstGeom prst="rect">
            <a:avLst/>
          </a:prstGeom>
          <a:noFill/>
          <a:ln/>
        </p:spPr>
        <p:txBody>
          <a:bodyPr wrap="square" lIns="0" tIns="0" rIns="0" bIns="0" rtlCol="0" anchor="ctr"/>
          <a:lstStyle/>
          <a:p>
            <a:pPr indent="0" marL="0">
              <a:buNone/>
            </a:pPr>
            <a:r>
              <a:rPr lang="en-US" sz="1400" dirty="0">
                <a:solidFill>
                  <a:schemeClr val="tx1"/>
                </a:solidFill>
              </a:rPr>
              <a:t>Social trust</a:t>
            </a:r>
            <a:endParaRPr lang="en-US" sz="1400" dirty="0"/>
          </a:p>
        </p:txBody>
      </p:sp>
      <p:sp>
        <p:nvSpPr>
          <p:cNvPr id="20" name="bar-PRE-2"/>
          <p:cNvSpPr/>
          <p:nvPr/>
        </p:nvSpPr>
        <p:spPr>
          <a:xfrm>
            <a:off x="2697480" y="3300984"/>
            <a:ext cx="2477110" cy="246888"/>
          </a:xfrm>
          <a:prstGeom prst="rect">
            <a:avLst/>
          </a:prstGeom>
          <a:solidFill>
            <a:schemeClr val="accent1"/>
          </a:solidFill>
          <a:ln/>
        </p:spPr>
      </p:sp>
      <p:sp>
        <p:nvSpPr>
          <p:cNvPr id="21" name="Text 19"/>
          <p:cNvSpPr txBox="1"/>
          <p:nvPr/>
        </p:nvSpPr>
        <p:spPr>
          <a:xfrm>
            <a:off x="5247742" y="3255264"/>
            <a:ext cx="548640" cy="338328"/>
          </a:xfrm>
          <a:prstGeom prst="rect">
            <a:avLst/>
          </a:prstGeom>
          <a:noFill/>
          <a:ln/>
        </p:spPr>
        <p:txBody>
          <a:bodyPr wrap="square" lIns="0" tIns="0" rIns="0" bIns="0" rtlCol="0" anchor="ctr"/>
          <a:lstStyle/>
          <a:p>
            <a:pPr indent="0" marL="0">
              <a:buNone/>
            </a:pPr>
            <a:r>
              <a:rPr lang="en-US" sz="1200" b="1" dirty="0">
                <a:solidFill>
                  <a:schemeClr val="tx1"/>
                </a:solidFill>
              </a:rPr>
              <a:t>63%</a:t>
            </a:r>
            <a:endParaRPr lang="en-US" sz="1200" dirty="0"/>
          </a:p>
        </p:txBody>
      </p:sp>
      <p:sp>
        <p:nvSpPr>
          <p:cNvPr id="22" name="bar-POST-2"/>
          <p:cNvSpPr/>
          <p:nvPr/>
        </p:nvSpPr>
        <p:spPr>
          <a:xfrm>
            <a:off x="2697480" y="3584448"/>
            <a:ext cx="3224174" cy="246888"/>
          </a:xfrm>
          <a:prstGeom prst="rect">
            <a:avLst/>
          </a:prstGeom>
          <a:solidFill>
            <a:schemeClr val="tx1"/>
          </a:solidFill>
          <a:ln/>
        </p:spPr>
      </p:sp>
      <p:sp>
        <p:nvSpPr>
          <p:cNvPr id="23" name="Text 21"/>
          <p:cNvSpPr txBox="1"/>
          <p:nvPr/>
        </p:nvSpPr>
        <p:spPr>
          <a:xfrm>
            <a:off x="5994806" y="3538728"/>
            <a:ext cx="548640" cy="338328"/>
          </a:xfrm>
          <a:prstGeom prst="rect">
            <a:avLst/>
          </a:prstGeom>
          <a:noFill/>
          <a:ln/>
        </p:spPr>
        <p:txBody>
          <a:bodyPr wrap="square" lIns="0" tIns="0" rIns="0" bIns="0" rtlCol="0" anchor="ctr"/>
          <a:lstStyle/>
          <a:p>
            <a:pPr indent="0" marL="0">
              <a:buNone/>
            </a:pPr>
            <a:r>
              <a:rPr lang="en-US" sz="1200" b="1" dirty="0">
                <a:solidFill>
                  <a:schemeClr val="tx1"/>
                </a:solidFill>
              </a:rPr>
              <a:t>82%</a:t>
            </a:r>
            <a:endParaRPr lang="en-US" sz="1200" dirty="0"/>
          </a:p>
        </p:txBody>
      </p:sp>
      <p:sp>
        <p:nvSpPr>
          <p:cNvPr id="24" name="Text 22"/>
          <p:cNvSpPr txBox="1"/>
          <p:nvPr/>
        </p:nvSpPr>
        <p:spPr>
          <a:xfrm>
            <a:off x="548640" y="3959352"/>
            <a:ext cx="2011680" cy="640080"/>
          </a:xfrm>
          <a:prstGeom prst="rect">
            <a:avLst/>
          </a:prstGeom>
          <a:noFill/>
          <a:ln/>
        </p:spPr>
        <p:txBody>
          <a:bodyPr wrap="square" lIns="0" tIns="0" rIns="0" bIns="0" rtlCol="0" anchor="ctr"/>
          <a:lstStyle/>
          <a:p>
            <a:pPr indent="0" marL="0">
              <a:buNone/>
            </a:pPr>
            <a:r>
              <a:rPr lang="en-US" sz="1400" dirty="0">
                <a:solidFill>
                  <a:schemeClr val="tx1"/>
                </a:solidFill>
              </a:rPr>
              <a:t>Trust in familiar cues</a:t>
            </a:r>
            <a:endParaRPr lang="en-US" sz="1400" dirty="0"/>
          </a:p>
        </p:txBody>
      </p:sp>
      <p:sp>
        <p:nvSpPr>
          <p:cNvPr id="25" name="bar-PRE-3"/>
          <p:cNvSpPr/>
          <p:nvPr/>
        </p:nvSpPr>
        <p:spPr>
          <a:xfrm>
            <a:off x="2697480" y="4014216"/>
            <a:ext cx="2123237" cy="246888"/>
          </a:xfrm>
          <a:prstGeom prst="rect">
            <a:avLst/>
          </a:prstGeom>
          <a:solidFill>
            <a:schemeClr val="accent1"/>
          </a:solidFill>
          <a:ln/>
        </p:spPr>
      </p:sp>
      <p:sp>
        <p:nvSpPr>
          <p:cNvPr id="26" name="Text 24"/>
          <p:cNvSpPr txBox="1"/>
          <p:nvPr/>
        </p:nvSpPr>
        <p:spPr>
          <a:xfrm>
            <a:off x="4893869" y="3968496"/>
            <a:ext cx="548640" cy="338328"/>
          </a:xfrm>
          <a:prstGeom prst="rect">
            <a:avLst/>
          </a:prstGeom>
          <a:noFill/>
          <a:ln/>
        </p:spPr>
        <p:txBody>
          <a:bodyPr wrap="square" lIns="0" tIns="0" rIns="0" bIns="0" rtlCol="0" anchor="ctr"/>
          <a:lstStyle/>
          <a:p>
            <a:pPr indent="0" marL="0">
              <a:buNone/>
            </a:pPr>
            <a:r>
              <a:rPr lang="en-US" sz="1200" b="1" dirty="0">
                <a:solidFill>
                  <a:schemeClr val="tx1"/>
                </a:solidFill>
              </a:rPr>
              <a:t>54%</a:t>
            </a:r>
            <a:endParaRPr lang="en-US" sz="1200" dirty="0"/>
          </a:p>
        </p:txBody>
      </p:sp>
      <p:sp>
        <p:nvSpPr>
          <p:cNvPr id="27" name="bar-POST-3"/>
          <p:cNvSpPr/>
          <p:nvPr/>
        </p:nvSpPr>
        <p:spPr>
          <a:xfrm>
            <a:off x="2697480" y="4297680"/>
            <a:ext cx="2870302" cy="246888"/>
          </a:xfrm>
          <a:prstGeom prst="rect">
            <a:avLst/>
          </a:prstGeom>
          <a:solidFill>
            <a:schemeClr val="tx1"/>
          </a:solidFill>
          <a:ln/>
        </p:spPr>
      </p:sp>
      <p:sp>
        <p:nvSpPr>
          <p:cNvPr id="28" name="Text 26"/>
          <p:cNvSpPr txBox="1"/>
          <p:nvPr/>
        </p:nvSpPr>
        <p:spPr>
          <a:xfrm>
            <a:off x="5640934" y="4251960"/>
            <a:ext cx="548640" cy="338328"/>
          </a:xfrm>
          <a:prstGeom prst="rect">
            <a:avLst/>
          </a:prstGeom>
          <a:noFill/>
          <a:ln/>
        </p:spPr>
        <p:txBody>
          <a:bodyPr wrap="square" lIns="0" tIns="0" rIns="0" bIns="0" rtlCol="0" anchor="ctr"/>
          <a:lstStyle/>
          <a:p>
            <a:pPr indent="0" marL="0">
              <a:buNone/>
            </a:pPr>
            <a:r>
              <a:rPr lang="en-US" sz="1200" b="1" dirty="0">
                <a:solidFill>
                  <a:schemeClr val="tx1"/>
                </a:solidFill>
              </a:rPr>
              <a:t>73%</a:t>
            </a:r>
            <a:endParaRPr lang="en-US" sz="1200" dirty="0"/>
          </a:p>
        </p:txBody>
      </p:sp>
      <p:sp>
        <p:nvSpPr>
          <p:cNvPr id="29" name="Text 27"/>
          <p:cNvSpPr txBox="1"/>
          <p:nvPr/>
        </p:nvSpPr>
        <p:spPr>
          <a:xfrm>
            <a:off x="548640" y="4672584"/>
            <a:ext cx="2011680" cy="640080"/>
          </a:xfrm>
          <a:prstGeom prst="rect">
            <a:avLst/>
          </a:prstGeom>
          <a:noFill/>
          <a:ln/>
        </p:spPr>
        <p:txBody>
          <a:bodyPr wrap="square" lIns="0" tIns="0" rIns="0" bIns="0" rtlCol="0" anchor="ctr"/>
          <a:lstStyle/>
          <a:p>
            <a:pPr indent="0" marL="0">
              <a:buNone/>
            </a:pPr>
            <a:r>
              <a:rPr lang="en-US" sz="1400" dirty="0">
                <a:solidFill>
                  <a:schemeClr val="tx1"/>
                </a:solidFill>
              </a:rPr>
              <a:t>Attention &amp; habit</a:t>
            </a:r>
            <a:endParaRPr lang="en-US" sz="1400" dirty="0"/>
          </a:p>
        </p:txBody>
      </p:sp>
      <p:sp>
        <p:nvSpPr>
          <p:cNvPr id="30" name="bar-PRE-4"/>
          <p:cNvSpPr/>
          <p:nvPr/>
        </p:nvSpPr>
        <p:spPr>
          <a:xfrm>
            <a:off x="2697480" y="4727448"/>
            <a:ext cx="2162556" cy="246888"/>
          </a:xfrm>
          <a:prstGeom prst="rect">
            <a:avLst/>
          </a:prstGeom>
          <a:solidFill>
            <a:schemeClr val="accent1"/>
          </a:solidFill>
          <a:ln/>
        </p:spPr>
      </p:sp>
      <p:sp>
        <p:nvSpPr>
          <p:cNvPr id="31" name="Text 29"/>
          <p:cNvSpPr txBox="1"/>
          <p:nvPr/>
        </p:nvSpPr>
        <p:spPr>
          <a:xfrm>
            <a:off x="4933188" y="4681728"/>
            <a:ext cx="548640" cy="338328"/>
          </a:xfrm>
          <a:prstGeom prst="rect">
            <a:avLst/>
          </a:prstGeom>
          <a:noFill/>
          <a:ln/>
        </p:spPr>
        <p:txBody>
          <a:bodyPr wrap="square" lIns="0" tIns="0" rIns="0" bIns="0" rtlCol="0" anchor="ctr"/>
          <a:lstStyle/>
          <a:p>
            <a:pPr indent="0" marL="0">
              <a:buNone/>
            </a:pPr>
            <a:r>
              <a:rPr lang="en-US" sz="1200" b="1" dirty="0">
                <a:solidFill>
                  <a:schemeClr val="tx1"/>
                </a:solidFill>
              </a:rPr>
              <a:t>55%</a:t>
            </a:r>
            <a:endParaRPr lang="en-US" sz="1200" dirty="0"/>
          </a:p>
        </p:txBody>
      </p:sp>
      <p:sp>
        <p:nvSpPr>
          <p:cNvPr id="32" name="bar-POST-4"/>
          <p:cNvSpPr/>
          <p:nvPr/>
        </p:nvSpPr>
        <p:spPr>
          <a:xfrm>
            <a:off x="2697480" y="5010912"/>
            <a:ext cx="2713025" cy="246888"/>
          </a:xfrm>
          <a:prstGeom prst="rect">
            <a:avLst/>
          </a:prstGeom>
          <a:solidFill>
            <a:schemeClr val="tx1"/>
          </a:solidFill>
          <a:ln/>
        </p:spPr>
      </p:sp>
      <p:sp>
        <p:nvSpPr>
          <p:cNvPr id="33" name="Text 31"/>
          <p:cNvSpPr txBox="1"/>
          <p:nvPr/>
        </p:nvSpPr>
        <p:spPr>
          <a:xfrm>
            <a:off x="5483657" y="4965192"/>
            <a:ext cx="548640" cy="338328"/>
          </a:xfrm>
          <a:prstGeom prst="rect">
            <a:avLst/>
          </a:prstGeom>
          <a:noFill/>
          <a:ln/>
        </p:spPr>
        <p:txBody>
          <a:bodyPr wrap="square" lIns="0" tIns="0" rIns="0" bIns="0" rtlCol="0" anchor="ctr"/>
          <a:lstStyle/>
          <a:p>
            <a:pPr indent="0" marL="0">
              <a:buNone/>
            </a:pPr>
            <a:r>
              <a:rPr lang="en-US" sz="1200" b="1" dirty="0">
                <a:solidFill>
                  <a:schemeClr val="tx1"/>
                </a:solidFill>
              </a:rPr>
              <a:t>69%</a:t>
            </a:r>
            <a:endParaRPr lang="en-US" sz="1200" dirty="0"/>
          </a:p>
        </p:txBody>
      </p:sp>
      <p:sp>
        <p:nvSpPr>
          <p:cNvPr id="34" name="Text 32"/>
          <p:cNvSpPr txBox="1"/>
          <p:nvPr/>
        </p:nvSpPr>
        <p:spPr>
          <a:xfrm>
            <a:off x="548640" y="5385816"/>
            <a:ext cx="2011680" cy="640080"/>
          </a:xfrm>
          <a:prstGeom prst="rect">
            <a:avLst/>
          </a:prstGeom>
          <a:noFill/>
          <a:ln/>
        </p:spPr>
        <p:txBody>
          <a:bodyPr wrap="square" lIns="0" tIns="0" rIns="0" bIns="0" rtlCol="0" anchor="ctr"/>
          <a:lstStyle/>
          <a:p>
            <a:pPr indent="0" marL="0">
              <a:buNone/>
            </a:pPr>
            <a:r>
              <a:rPr lang="en-US" sz="1400" dirty="0">
                <a:solidFill>
                  <a:schemeClr val="tx1"/>
                </a:solidFill>
              </a:rPr>
              <a:t>Optimism &amp; inaction</a:t>
            </a:r>
            <a:endParaRPr lang="en-US" sz="1400" dirty="0"/>
          </a:p>
        </p:txBody>
      </p:sp>
      <p:sp>
        <p:nvSpPr>
          <p:cNvPr id="35" name="bar-PRE-5"/>
          <p:cNvSpPr/>
          <p:nvPr/>
        </p:nvSpPr>
        <p:spPr>
          <a:xfrm>
            <a:off x="2697480" y="5440680"/>
            <a:ext cx="2595067" cy="246888"/>
          </a:xfrm>
          <a:prstGeom prst="rect">
            <a:avLst/>
          </a:prstGeom>
          <a:solidFill>
            <a:schemeClr val="accent1"/>
          </a:solidFill>
          <a:ln/>
        </p:spPr>
      </p:sp>
      <p:sp>
        <p:nvSpPr>
          <p:cNvPr id="36" name="Text 34"/>
          <p:cNvSpPr txBox="1"/>
          <p:nvPr/>
        </p:nvSpPr>
        <p:spPr>
          <a:xfrm>
            <a:off x="5365699" y="5394960"/>
            <a:ext cx="548640" cy="338328"/>
          </a:xfrm>
          <a:prstGeom prst="rect">
            <a:avLst/>
          </a:prstGeom>
          <a:noFill/>
          <a:ln/>
        </p:spPr>
        <p:txBody>
          <a:bodyPr wrap="square" lIns="0" tIns="0" rIns="0" bIns="0" rtlCol="0" anchor="ctr"/>
          <a:lstStyle/>
          <a:p>
            <a:pPr indent="0" marL="0">
              <a:buNone/>
            </a:pPr>
            <a:r>
              <a:rPr lang="en-US" sz="1200" b="1" dirty="0">
                <a:solidFill>
                  <a:schemeClr val="tx1"/>
                </a:solidFill>
              </a:rPr>
              <a:t>66%</a:t>
            </a:r>
            <a:endParaRPr lang="en-US" sz="1200" dirty="0"/>
          </a:p>
        </p:txBody>
      </p:sp>
      <p:sp>
        <p:nvSpPr>
          <p:cNvPr id="37" name="bar-POST-5"/>
          <p:cNvSpPr/>
          <p:nvPr/>
        </p:nvSpPr>
        <p:spPr>
          <a:xfrm>
            <a:off x="2697480" y="5724144"/>
            <a:ext cx="2870302" cy="246888"/>
          </a:xfrm>
          <a:prstGeom prst="rect">
            <a:avLst/>
          </a:prstGeom>
          <a:solidFill>
            <a:schemeClr val="tx1"/>
          </a:solidFill>
          <a:ln/>
        </p:spPr>
      </p:sp>
      <p:sp>
        <p:nvSpPr>
          <p:cNvPr id="38" name="Text 36"/>
          <p:cNvSpPr txBox="1"/>
          <p:nvPr/>
        </p:nvSpPr>
        <p:spPr>
          <a:xfrm>
            <a:off x="5640934" y="5678424"/>
            <a:ext cx="548640" cy="338328"/>
          </a:xfrm>
          <a:prstGeom prst="rect">
            <a:avLst/>
          </a:prstGeom>
          <a:noFill/>
          <a:ln/>
        </p:spPr>
        <p:txBody>
          <a:bodyPr wrap="square" lIns="0" tIns="0" rIns="0" bIns="0" rtlCol="0" anchor="ctr"/>
          <a:lstStyle/>
          <a:p>
            <a:pPr indent="0" marL="0">
              <a:buNone/>
            </a:pPr>
            <a:r>
              <a:rPr lang="en-US" sz="1200" b="1" dirty="0">
                <a:solidFill>
                  <a:schemeClr val="tx1"/>
                </a:solidFill>
              </a:rPr>
              <a:t>73%</a:t>
            </a:r>
            <a:endParaRPr lang="en-US" sz="1200" dirty="0"/>
          </a:p>
        </p:txBody>
      </p:sp>
      <p:sp>
        <p:nvSpPr>
          <p:cNvPr id="39" name="card"/>
          <p:cNvSpPr/>
          <p:nvPr/>
        </p:nvSpPr>
        <p:spPr>
          <a:xfrm>
            <a:off x="7543800" y="1371600"/>
            <a:ext cx="4096512" cy="1417320"/>
          </a:xfrm>
          <a:prstGeom prst="roundRect">
            <a:avLst>
              <a:gd name="adj" fmla="val 6452"/>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40" name="Text 38"/>
          <p:cNvSpPr txBox="1"/>
          <p:nvPr/>
        </p:nvSpPr>
        <p:spPr>
          <a:xfrm>
            <a:off x="7772400" y="1508760"/>
            <a:ext cx="3657600" cy="274320"/>
          </a:xfrm>
          <a:prstGeom prst="rect">
            <a:avLst/>
          </a:prstGeom>
          <a:noFill/>
          <a:ln/>
        </p:spPr>
        <p:txBody>
          <a:bodyPr wrap="square" lIns="0" tIns="0" rIns="0" bIns="0" rtlCol="0" anchor="t"/>
          <a:lstStyle/>
          <a:p>
            <a:pPr indent="0" marL="0">
              <a:buNone/>
            </a:pPr>
            <a:r>
              <a:rPr lang="en-US" sz="1100" b="1" spc="100" kern="0" dirty="0">
                <a:solidFill>
                  <a:schemeClr val="accent2"/>
                </a:solidFill>
              </a:rPr>
              <a:t>WEAKEST AT THE START</a:t>
            </a:r>
            <a:endParaRPr lang="en-US" sz="1100" dirty="0"/>
          </a:p>
        </p:txBody>
      </p:sp>
      <p:sp>
        <p:nvSpPr>
          <p:cNvPr id="41" name="Text 39"/>
          <p:cNvSpPr txBox="1"/>
          <p:nvPr/>
        </p:nvSpPr>
        <p:spPr>
          <a:xfrm>
            <a:off x="7772400" y="1783080"/>
            <a:ext cx="3657600" cy="502920"/>
          </a:xfrm>
          <a:prstGeom prst="rect">
            <a:avLst/>
          </a:prstGeom>
          <a:noFill/>
          <a:ln/>
        </p:spPr>
        <p:txBody>
          <a:bodyPr wrap="square" lIns="0" tIns="0" rIns="0" bIns="0" rtlCol="0" anchor="t"/>
          <a:lstStyle/>
          <a:p>
            <a:pPr indent="0" marL="0">
              <a:buNone/>
            </a:pPr>
            <a:r>
              <a:rPr lang="en-US" sz="1500" b="1" dirty="0">
                <a:solidFill>
                  <a:schemeClr val="tx1"/>
                </a:solidFill>
              </a:rPr>
              <a:t>Trust in familiar cues (54%) and attention &amp; habit (55%)</a:t>
            </a:r>
            <a:endParaRPr lang="en-US" sz="1500" dirty="0"/>
          </a:p>
        </p:txBody>
      </p:sp>
      <p:sp>
        <p:nvSpPr>
          <p:cNvPr id="42" name="Text 40"/>
          <p:cNvSpPr txBox="1"/>
          <p:nvPr/>
        </p:nvSpPr>
        <p:spPr>
          <a:xfrm>
            <a:off x="7772400" y="2286000"/>
            <a:ext cx="3657600" cy="411480"/>
          </a:xfrm>
          <a:prstGeom prst="rect">
            <a:avLst/>
          </a:prstGeom>
          <a:noFill/>
          <a:ln/>
        </p:spPr>
        <p:txBody>
          <a:bodyPr wrap="square" lIns="0" tIns="0" rIns="0" bIns="0" rtlCol="0" anchor="t"/>
          <a:lstStyle/>
          <a:p>
            <a:pPr indent="0" marL="0">
              <a:buNone/>
            </a:pPr>
            <a:r>
              <a:rPr lang="en-US" sz="1300" dirty="0">
                <a:solidFill>
                  <a:schemeClr val="tx2"/>
                </a:solidFill>
              </a:rPr>
              <a:t>Students trust padlocks, logos and placement, and skim URLs</a:t>
            </a:r>
            <a:endParaRPr lang="en-US" sz="1300" dirty="0"/>
          </a:p>
        </p:txBody>
      </p:sp>
      <p:sp>
        <p:nvSpPr>
          <p:cNvPr id="43" name="card"/>
          <p:cNvSpPr/>
          <p:nvPr/>
        </p:nvSpPr>
        <p:spPr>
          <a:xfrm>
            <a:off x="7543800" y="2971800"/>
            <a:ext cx="4096512" cy="1417320"/>
          </a:xfrm>
          <a:prstGeom prst="roundRect">
            <a:avLst>
              <a:gd name="adj" fmla="val 6452"/>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44" name="Text 42"/>
          <p:cNvSpPr txBox="1"/>
          <p:nvPr/>
        </p:nvSpPr>
        <p:spPr>
          <a:xfrm>
            <a:off x="7772400" y="3108960"/>
            <a:ext cx="3657600"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BIGGEST GAINS</a:t>
            </a:r>
            <a:endParaRPr lang="en-US" sz="1100" dirty="0"/>
          </a:p>
        </p:txBody>
      </p:sp>
      <p:sp>
        <p:nvSpPr>
          <p:cNvPr id="45" name="Text 43"/>
          <p:cNvSpPr txBox="1"/>
          <p:nvPr/>
        </p:nvSpPr>
        <p:spPr>
          <a:xfrm>
            <a:off x="7772400" y="3383280"/>
            <a:ext cx="3657600" cy="502920"/>
          </a:xfrm>
          <a:prstGeom prst="rect">
            <a:avLst/>
          </a:prstGeom>
          <a:noFill/>
          <a:ln/>
        </p:spPr>
        <p:txBody>
          <a:bodyPr wrap="square" lIns="0" tIns="0" rIns="0" bIns="0" rtlCol="0" anchor="t"/>
          <a:lstStyle/>
          <a:p>
            <a:pPr indent="0" marL="0">
              <a:buNone/>
            </a:pPr>
            <a:r>
              <a:rPr lang="en-US" sz="1500" b="1" dirty="0">
                <a:solidFill>
                  <a:schemeClr val="tx1"/>
                </a:solidFill>
              </a:rPr>
              <a:t>Social trust and familiar cues, +19 points each</a:t>
            </a:r>
            <a:endParaRPr lang="en-US" sz="1500" dirty="0"/>
          </a:p>
        </p:txBody>
      </p:sp>
      <p:sp>
        <p:nvSpPr>
          <p:cNvPr id="46" name="Text 44"/>
          <p:cNvSpPr txBox="1"/>
          <p:nvPr/>
        </p:nvSpPr>
        <p:spPr>
          <a:xfrm>
            <a:off x="7772400" y="3886200"/>
            <a:ext cx="3657600" cy="411480"/>
          </a:xfrm>
          <a:prstGeom prst="rect">
            <a:avLst/>
          </a:prstGeom>
          <a:noFill/>
          <a:ln/>
        </p:spPr>
        <p:txBody>
          <a:bodyPr wrap="square" lIns="0" tIns="0" rIns="0" bIns="0" rtlCol="0" anchor="t"/>
          <a:lstStyle/>
          <a:p>
            <a:pPr indent="0" marL="0">
              <a:buNone/>
            </a:pPr>
            <a:r>
              <a:rPr lang="en-US" sz="1300" dirty="0">
                <a:solidFill>
                  <a:schemeClr val="tx2"/>
                </a:solidFill>
              </a:rPr>
              <a:t>Where a poster or post targeted the trait directly</a:t>
            </a:r>
            <a:endParaRPr lang="en-US" sz="1300" dirty="0"/>
          </a:p>
        </p:txBody>
      </p:sp>
      <p:sp>
        <p:nvSpPr>
          <p:cNvPr id="47" name="card"/>
          <p:cNvSpPr/>
          <p:nvPr/>
        </p:nvSpPr>
        <p:spPr>
          <a:xfrm>
            <a:off x="7543800" y="4572000"/>
            <a:ext cx="4096512" cy="1417320"/>
          </a:xfrm>
          <a:prstGeom prst="roundRect">
            <a:avLst>
              <a:gd name="adj" fmla="val 6452"/>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48" name="Text 46"/>
          <p:cNvSpPr txBox="1"/>
          <p:nvPr/>
        </p:nvSpPr>
        <p:spPr>
          <a:xfrm>
            <a:off x="7772400" y="4709160"/>
            <a:ext cx="3657600" cy="274320"/>
          </a:xfrm>
          <a:prstGeom prst="rect">
            <a:avLst/>
          </a:prstGeom>
          <a:noFill/>
          <a:ln/>
        </p:spPr>
        <p:txBody>
          <a:bodyPr wrap="square" lIns="0" tIns="0" rIns="0" bIns="0" rtlCol="0" anchor="t"/>
          <a:lstStyle/>
          <a:p>
            <a:pPr indent="0" marL="0">
              <a:buNone/>
            </a:pPr>
            <a:r>
              <a:rPr lang="en-US" sz="1100" b="1" spc="100" kern="0" dirty="0">
                <a:solidFill>
                  <a:schemeClr val="accent4"/>
                </a:solidFill>
              </a:rPr>
              <a:t>SMALLEST GAINS</a:t>
            </a:r>
            <a:endParaRPr lang="en-US" sz="1100" dirty="0"/>
          </a:p>
        </p:txBody>
      </p:sp>
      <p:sp>
        <p:nvSpPr>
          <p:cNvPr id="49" name="Text 47"/>
          <p:cNvSpPr txBox="1"/>
          <p:nvPr/>
        </p:nvSpPr>
        <p:spPr>
          <a:xfrm>
            <a:off x="7772400" y="4983480"/>
            <a:ext cx="3657600" cy="502920"/>
          </a:xfrm>
          <a:prstGeom prst="rect">
            <a:avLst/>
          </a:prstGeom>
          <a:noFill/>
          <a:ln/>
        </p:spPr>
        <p:txBody>
          <a:bodyPr wrap="square" lIns="0" tIns="0" rIns="0" bIns="0" rtlCol="0" anchor="t"/>
          <a:lstStyle/>
          <a:p>
            <a:pPr indent="0" marL="0">
              <a:buNone/>
            </a:pPr>
            <a:r>
              <a:rPr lang="en-US" sz="1500" b="1" dirty="0">
                <a:solidFill>
                  <a:schemeClr val="tx1"/>
                </a:solidFill>
              </a:rPr>
              <a:t>Optimism &amp; inaction +7, urgency &amp; fear +9</a:t>
            </a:r>
            <a:endParaRPr lang="en-US" sz="1500" dirty="0"/>
          </a:p>
        </p:txBody>
      </p:sp>
      <p:sp>
        <p:nvSpPr>
          <p:cNvPr id="50" name="Text 48"/>
          <p:cNvSpPr txBox="1"/>
          <p:nvPr/>
        </p:nvSpPr>
        <p:spPr>
          <a:xfrm>
            <a:off x="7772400" y="5486400"/>
            <a:ext cx="3657600" cy="411480"/>
          </a:xfrm>
          <a:prstGeom prst="rect">
            <a:avLst/>
          </a:prstGeom>
          <a:noFill/>
          <a:ln/>
        </p:spPr>
        <p:txBody>
          <a:bodyPr wrap="square" lIns="0" tIns="0" rIns="0" bIns="0" rtlCol="0" anchor="t"/>
          <a:lstStyle/>
          <a:p>
            <a:pPr indent="0" marL="0">
              <a:buNone/>
            </a:pPr>
            <a:r>
              <a:rPr lang="en-US" sz="1300" dirty="0">
                <a:solidFill>
                  <a:schemeClr val="tx2"/>
                </a:solidFill>
              </a:rPr>
              <a:t>Knowing what to do after a mistake barely moved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What students get wrong</a:t>
            </a:r>
            <a:endParaRPr lang="en-US" sz="3400" dirty="0"/>
          </a:p>
        </p:txBody>
      </p:sp>
      <p:sp>
        <p:nvSpPr>
          <p:cNvPr id="3" name="tag"/>
          <p:cNvSpPr txBox="1"/>
          <p:nvPr/>
        </p:nvSpPr>
        <p:spPr>
          <a:xfrm rot="90000">
            <a:off x="7452360" y="457200"/>
            <a:ext cx="4206240" cy="457200"/>
          </a:xfrm>
          <a:prstGeom prst="rect">
            <a:avLst/>
          </a:prstGeom>
          <a:solidFill>
            <a:schemeClr val="accent1"/>
          </a:solidFill>
          <a:ln/>
          <a:effectLst>
            <a:outerShdw sx="100000" sy="100000" kx="0" ky="0" algn="bl" rotWithShape="0" blurRad="76200" dist="25400" dir="5400000">
              <a:srgbClr val="14213D">
                <a:alpha val="18000"/>
              </a:srgbClr>
            </a:outerShdw>
          </a:effectLst>
        </p:spPr>
        <p:txBody>
          <a:bodyPr wrap="square" lIns="50800" tIns="127000" rIns="127000" bIns="50800" rtlCol="0" anchor="ctr"/>
          <a:lstStyle/>
          <a:p>
            <a:pPr algn="l" indent="0" marL="0">
              <a:buNone/>
            </a:pPr>
            <a:r>
              <a:rPr lang="en-US" sz="1200" b="1" dirty="0">
                <a:solidFill>
                  <a:schemeClr val="tx1"/>
                </a:solidFill>
              </a:rPr>
              <a:t>Demonstration of our analysis pipeline · live results to follow</a:t>
            </a:r>
            <a:endParaRPr lang="en-US" sz="1200" dirty="0"/>
          </a:p>
        </p:txBody>
      </p:sp>
      <p:sp>
        <p:nvSpPr>
          <p:cNvPr id="4" name="Text 2"/>
          <p:cNvSpPr txBox="1"/>
          <p:nvPr/>
        </p:nvSpPr>
        <p:spPr>
          <a:xfrm>
            <a:off x="548640" y="1280160"/>
            <a:ext cx="5394960" cy="347472"/>
          </a:xfrm>
          <a:prstGeom prst="rect">
            <a:avLst/>
          </a:prstGeom>
          <a:noFill/>
          <a:ln/>
        </p:spPr>
        <p:txBody>
          <a:bodyPr wrap="square" lIns="0" tIns="0" rIns="0" bIns="0" rtlCol="0" anchor="ctr"/>
          <a:lstStyle/>
          <a:p>
            <a:pPr indent="0" marL="0">
              <a:buNone/>
            </a:pPr>
            <a:r>
              <a:rPr lang="en-US" sz="1400" b="1" dirty="0">
                <a:solidFill>
                  <a:schemeClr val="tx1"/>
                </a:solidFill>
              </a:rPr>
              <a:t>% of PRE respondents holding each misconception</a:t>
            </a:r>
            <a:endParaRPr lang="en-US" sz="1400" dirty="0"/>
          </a:p>
        </p:txBody>
      </p:sp>
      <p:sp>
        <p:nvSpPr>
          <p:cNvPr id="5" name="Text 3"/>
          <p:cNvSpPr txBox="1"/>
          <p:nvPr/>
        </p:nvSpPr>
        <p:spPr>
          <a:xfrm>
            <a:off x="548640" y="1783080"/>
            <a:ext cx="5394960" cy="320040"/>
          </a:xfrm>
          <a:prstGeom prst="rect">
            <a:avLst/>
          </a:prstGeom>
          <a:noFill/>
          <a:ln/>
        </p:spPr>
        <p:txBody>
          <a:bodyPr wrap="square" lIns="0" tIns="0" rIns="0" bIns="0" rtlCol="0" anchor="t"/>
          <a:lstStyle/>
          <a:p>
            <a:pPr indent="0" marL="0">
              <a:buNone/>
            </a:pPr>
            <a:r>
              <a:rPr lang="en-US" sz="1500" b="1" dirty="0">
                <a:solidFill>
                  <a:schemeClr val="tx1"/>
                </a:solidFill>
              </a:rPr>
              <a:t>"The padlock means the site is safe"</a:t>
            </a:r>
            <a:endParaRPr lang="en-US" sz="1500" dirty="0"/>
          </a:p>
        </p:txBody>
      </p:sp>
      <p:sp>
        <p:nvSpPr>
          <p:cNvPr id="6" name="bar-PRE-0"/>
          <p:cNvSpPr/>
          <p:nvPr/>
        </p:nvSpPr>
        <p:spPr>
          <a:xfrm>
            <a:off x="548640" y="2148840"/>
            <a:ext cx="3685032" cy="384048"/>
          </a:xfrm>
          <a:prstGeom prst="rect">
            <a:avLst/>
          </a:prstGeom>
          <a:solidFill>
            <a:schemeClr val="accent2"/>
          </a:solidFill>
          <a:ln/>
        </p:spPr>
      </p:sp>
      <p:sp>
        <p:nvSpPr>
          <p:cNvPr id="7" name="Text 5"/>
          <p:cNvSpPr txBox="1"/>
          <p:nvPr/>
        </p:nvSpPr>
        <p:spPr>
          <a:xfrm>
            <a:off x="4306824" y="2103120"/>
            <a:ext cx="548640" cy="475488"/>
          </a:xfrm>
          <a:prstGeom prst="rect">
            <a:avLst/>
          </a:prstGeom>
          <a:noFill/>
          <a:ln/>
        </p:spPr>
        <p:txBody>
          <a:bodyPr wrap="square" lIns="0" tIns="0" rIns="0" bIns="0" rtlCol="0" anchor="ctr"/>
          <a:lstStyle/>
          <a:p>
            <a:pPr indent="0" marL="0">
              <a:buNone/>
            </a:pPr>
            <a:r>
              <a:rPr lang="en-US" sz="1600" b="1" dirty="0">
                <a:solidFill>
                  <a:schemeClr val="tx1"/>
                </a:solidFill>
              </a:rPr>
              <a:t>31%</a:t>
            </a:r>
            <a:endParaRPr lang="en-US" sz="1600" dirty="0"/>
          </a:p>
        </p:txBody>
      </p:sp>
      <p:sp>
        <p:nvSpPr>
          <p:cNvPr id="8" name="Text 6"/>
          <p:cNvSpPr txBox="1"/>
          <p:nvPr/>
        </p:nvSpPr>
        <p:spPr>
          <a:xfrm>
            <a:off x="548640" y="2697480"/>
            <a:ext cx="5394960" cy="320040"/>
          </a:xfrm>
          <a:prstGeom prst="rect">
            <a:avLst/>
          </a:prstGeom>
          <a:noFill/>
          <a:ln/>
        </p:spPr>
        <p:txBody>
          <a:bodyPr wrap="square" lIns="0" tIns="0" rIns="0" bIns="0" rtlCol="0" anchor="t"/>
          <a:lstStyle/>
          <a:p>
            <a:pPr indent="0" marL="0">
              <a:buNone/>
            </a:pPr>
            <a:r>
              <a:rPr lang="en-US" sz="1500" b="1" dirty="0">
                <a:solidFill>
                  <a:schemeClr val="tx1"/>
                </a:solidFill>
              </a:rPr>
              <a:t>Unexpected sign-in prompts ignored</a:t>
            </a:r>
            <a:endParaRPr lang="en-US" sz="1500" dirty="0"/>
          </a:p>
        </p:txBody>
      </p:sp>
      <p:sp>
        <p:nvSpPr>
          <p:cNvPr id="9" name="bar-PRE-1"/>
          <p:cNvSpPr/>
          <p:nvPr/>
        </p:nvSpPr>
        <p:spPr>
          <a:xfrm>
            <a:off x="548640" y="3063240"/>
            <a:ext cx="2971800" cy="384048"/>
          </a:xfrm>
          <a:prstGeom prst="rect">
            <a:avLst/>
          </a:prstGeom>
          <a:solidFill>
            <a:schemeClr val="accent2"/>
          </a:solidFill>
          <a:ln/>
        </p:spPr>
      </p:sp>
      <p:sp>
        <p:nvSpPr>
          <p:cNvPr id="10" name="Text 8"/>
          <p:cNvSpPr txBox="1"/>
          <p:nvPr/>
        </p:nvSpPr>
        <p:spPr>
          <a:xfrm>
            <a:off x="3593592" y="3017520"/>
            <a:ext cx="548640" cy="475488"/>
          </a:xfrm>
          <a:prstGeom prst="rect">
            <a:avLst/>
          </a:prstGeom>
          <a:noFill/>
          <a:ln/>
        </p:spPr>
        <p:txBody>
          <a:bodyPr wrap="square" lIns="0" tIns="0" rIns="0" bIns="0" rtlCol="0" anchor="ctr"/>
          <a:lstStyle/>
          <a:p>
            <a:pPr indent="0" marL="0">
              <a:buNone/>
            </a:pPr>
            <a:r>
              <a:rPr lang="en-US" sz="1600" b="1" dirty="0">
                <a:solidFill>
                  <a:schemeClr val="tx1"/>
                </a:solidFill>
              </a:rPr>
              <a:t>25%</a:t>
            </a:r>
            <a:endParaRPr lang="en-US" sz="1600" dirty="0"/>
          </a:p>
        </p:txBody>
      </p:sp>
      <p:sp>
        <p:nvSpPr>
          <p:cNvPr id="11" name="Text 9"/>
          <p:cNvSpPr txBox="1"/>
          <p:nvPr/>
        </p:nvSpPr>
        <p:spPr>
          <a:xfrm>
            <a:off x="548640" y="3611880"/>
            <a:ext cx="5394960" cy="320040"/>
          </a:xfrm>
          <a:prstGeom prst="rect">
            <a:avLst/>
          </a:prstGeom>
          <a:noFill/>
          <a:ln/>
        </p:spPr>
        <p:txBody>
          <a:bodyPr wrap="square" lIns="0" tIns="0" rIns="0" bIns="0" rtlCol="0" anchor="t"/>
          <a:lstStyle/>
          <a:p>
            <a:pPr indent="0" marL="0">
              <a:buNone/>
            </a:pPr>
            <a:r>
              <a:rPr lang="en-US" sz="1500" b="1" dirty="0">
                <a:solidFill>
                  <a:schemeClr val="tx1"/>
                </a:solidFill>
              </a:rPr>
              <a:t>Irrelevant details seen as warning signs</a:t>
            </a:r>
            <a:endParaRPr lang="en-US" sz="1500" dirty="0"/>
          </a:p>
        </p:txBody>
      </p:sp>
      <p:sp>
        <p:nvSpPr>
          <p:cNvPr id="12" name="bar-PRE-2"/>
          <p:cNvSpPr/>
          <p:nvPr/>
        </p:nvSpPr>
        <p:spPr>
          <a:xfrm>
            <a:off x="548640" y="3977640"/>
            <a:ext cx="2734056" cy="384048"/>
          </a:xfrm>
          <a:prstGeom prst="rect">
            <a:avLst/>
          </a:prstGeom>
          <a:solidFill>
            <a:schemeClr val="accent2"/>
          </a:solidFill>
          <a:ln/>
        </p:spPr>
      </p:sp>
      <p:sp>
        <p:nvSpPr>
          <p:cNvPr id="13" name="Text 11"/>
          <p:cNvSpPr txBox="1"/>
          <p:nvPr/>
        </p:nvSpPr>
        <p:spPr>
          <a:xfrm>
            <a:off x="3355848" y="3931920"/>
            <a:ext cx="548640" cy="475488"/>
          </a:xfrm>
          <a:prstGeom prst="rect">
            <a:avLst/>
          </a:prstGeom>
          <a:noFill/>
          <a:ln/>
        </p:spPr>
        <p:txBody>
          <a:bodyPr wrap="square" lIns="0" tIns="0" rIns="0" bIns="0" rtlCol="0" anchor="ctr"/>
          <a:lstStyle/>
          <a:p>
            <a:pPr indent="0" marL="0">
              <a:buNone/>
            </a:pPr>
            <a:r>
              <a:rPr lang="en-US" sz="1600" b="1" dirty="0">
                <a:solidFill>
                  <a:schemeClr val="tx1"/>
                </a:solidFill>
              </a:rPr>
              <a:t>23%</a:t>
            </a:r>
            <a:endParaRPr lang="en-US" sz="1600" dirty="0"/>
          </a:p>
        </p:txBody>
      </p:sp>
      <p:sp>
        <p:nvSpPr>
          <p:cNvPr id="14" name="Text 12"/>
          <p:cNvSpPr txBox="1"/>
          <p:nvPr/>
        </p:nvSpPr>
        <p:spPr>
          <a:xfrm>
            <a:off x="548640" y="4526280"/>
            <a:ext cx="5394960" cy="320040"/>
          </a:xfrm>
          <a:prstGeom prst="rect">
            <a:avLst/>
          </a:prstGeom>
          <a:noFill/>
          <a:ln/>
        </p:spPr>
        <p:txBody>
          <a:bodyPr wrap="square" lIns="0" tIns="0" rIns="0" bIns="0" rtlCol="0" anchor="t"/>
          <a:lstStyle/>
          <a:p>
            <a:pPr indent="0" marL="0">
              <a:buNone/>
            </a:pPr>
            <a:r>
              <a:rPr lang="en-US" sz="1500" b="1" dirty="0">
                <a:solidFill>
                  <a:schemeClr val="tx1"/>
                </a:solidFill>
              </a:rPr>
              <a:t>Brand at the start of a URL = real site</a:t>
            </a:r>
            <a:endParaRPr lang="en-US" sz="1500" dirty="0"/>
          </a:p>
        </p:txBody>
      </p:sp>
      <p:sp>
        <p:nvSpPr>
          <p:cNvPr id="15" name="bar-PRE-3"/>
          <p:cNvSpPr/>
          <p:nvPr/>
        </p:nvSpPr>
        <p:spPr>
          <a:xfrm>
            <a:off x="548640" y="4892040"/>
            <a:ext cx="2020824" cy="384048"/>
          </a:xfrm>
          <a:prstGeom prst="rect">
            <a:avLst/>
          </a:prstGeom>
          <a:solidFill>
            <a:schemeClr val="accent2"/>
          </a:solidFill>
          <a:ln/>
        </p:spPr>
      </p:sp>
      <p:sp>
        <p:nvSpPr>
          <p:cNvPr id="16" name="Text 14"/>
          <p:cNvSpPr txBox="1"/>
          <p:nvPr/>
        </p:nvSpPr>
        <p:spPr>
          <a:xfrm>
            <a:off x="2642616" y="4846320"/>
            <a:ext cx="548640" cy="475488"/>
          </a:xfrm>
          <a:prstGeom prst="rect">
            <a:avLst/>
          </a:prstGeom>
          <a:noFill/>
          <a:ln/>
        </p:spPr>
        <p:txBody>
          <a:bodyPr wrap="square" lIns="0" tIns="0" rIns="0" bIns="0" rtlCol="0" anchor="ctr"/>
          <a:lstStyle/>
          <a:p>
            <a:pPr indent="0" marL="0">
              <a:buNone/>
            </a:pPr>
            <a:r>
              <a:rPr lang="en-US" sz="1600" b="1" dirty="0">
                <a:solidFill>
                  <a:schemeClr val="tx1"/>
                </a:solidFill>
              </a:rPr>
              <a:t>17%</a:t>
            </a:r>
            <a:endParaRPr lang="en-US" sz="1600" dirty="0"/>
          </a:p>
        </p:txBody>
      </p:sp>
      <p:sp>
        <p:nvSpPr>
          <p:cNvPr id="17" name="card"/>
          <p:cNvSpPr/>
          <p:nvPr/>
        </p:nvSpPr>
        <p:spPr>
          <a:xfrm>
            <a:off x="548640" y="5532120"/>
            <a:ext cx="5394960" cy="640080"/>
          </a:xfrm>
          <a:prstGeom prst="roundRect">
            <a:avLst>
              <a:gd name="adj" fmla="val 14286"/>
            </a:avLst>
          </a:prstGeom>
          <a:solidFill>
            <a:schemeClr val="accent5"/>
          </a:solidFill>
          <a:ln/>
          <a:effectLst>
            <a:outerShdw sx="100000" sy="100000" kx="0" ky="0" algn="bl" rotWithShape="0" blurRad="101600" dist="25400" dir="5400000">
              <a:srgbClr val="14213D">
                <a:alpha val="8000"/>
              </a:srgbClr>
            </a:outerShdw>
          </a:effectLst>
        </p:spPr>
      </p:sp>
      <p:sp>
        <p:nvSpPr>
          <p:cNvPr id="18" name="Text 16"/>
          <p:cNvSpPr txBox="1"/>
          <p:nvPr/>
        </p:nvSpPr>
        <p:spPr>
          <a:xfrm>
            <a:off x="777240" y="5669280"/>
            <a:ext cx="5029200" cy="365760"/>
          </a:xfrm>
          <a:prstGeom prst="rect">
            <a:avLst/>
          </a:prstGeom>
          <a:noFill/>
          <a:ln/>
        </p:spPr>
        <p:txBody>
          <a:bodyPr wrap="square" lIns="0" tIns="0" rIns="0" bIns="0" rtlCol="0" anchor="t"/>
          <a:lstStyle/>
          <a:p>
            <a:pPr indent="0" marL="0">
              <a:buNone/>
            </a:pPr>
            <a:r>
              <a:rPr lang="en-US" sz="1400" b="1" dirty="0">
                <a:solidFill>
                  <a:schemeClr val="tx1"/>
                </a:solidFill>
              </a:rPr>
              <a:t>Biggest topic gains: </a:t>
            </a:r>
            <a:pPr indent="0" marL="0">
              <a:buNone/>
            </a:pPr>
            <a:r>
              <a:rPr lang="en-US" sz="1400" dirty="0">
                <a:solidFill>
                  <a:schemeClr val="tx1"/>
                </a:solidFill>
              </a:rPr>
              <a:t>links and websites 43% → 63% · impersonation 67% → 86%</a:t>
            </a:r>
            <a:endParaRPr lang="en-US" sz="1400" dirty="0"/>
          </a:p>
        </p:txBody>
      </p:sp>
      <p:sp>
        <p:nvSpPr>
          <p:cNvPr id="19" name="Text 17"/>
          <p:cNvSpPr txBox="1"/>
          <p:nvPr/>
        </p:nvSpPr>
        <p:spPr>
          <a:xfrm>
            <a:off x="6355080" y="1280160"/>
            <a:ext cx="5285232" cy="347472"/>
          </a:xfrm>
          <a:prstGeom prst="rect">
            <a:avLst/>
          </a:prstGeom>
          <a:noFill/>
          <a:ln/>
        </p:spPr>
        <p:txBody>
          <a:bodyPr wrap="square" lIns="0" tIns="0" rIns="0" bIns="0" rtlCol="0" anchor="ctr"/>
          <a:lstStyle/>
          <a:p>
            <a:pPr indent="0" marL="0">
              <a:buNone/>
            </a:pPr>
            <a:r>
              <a:rPr lang="en-US" sz="1400" b="1" dirty="0">
                <a:solidFill>
                  <a:schemeClr val="accent3"/>
                </a:solidFill>
              </a:rPr>
              <a:t>Trait and our response</a:t>
            </a:r>
            <a:endParaRPr lang="en-US" sz="1400" dirty="0"/>
          </a:p>
        </p:txBody>
      </p:sp>
      <p:sp>
        <p:nvSpPr>
          <p:cNvPr id="20" name="card"/>
          <p:cNvSpPr/>
          <p:nvPr/>
        </p:nvSpPr>
        <p:spPr>
          <a:xfrm>
            <a:off x="6355080" y="1783080"/>
            <a:ext cx="5285232" cy="804672"/>
          </a:xfrm>
          <a:prstGeom prst="roundRect">
            <a:avLst>
              <a:gd name="adj" fmla="val 11364"/>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21" name="Text 19"/>
          <p:cNvSpPr txBox="1"/>
          <p:nvPr/>
        </p:nvSpPr>
        <p:spPr>
          <a:xfrm>
            <a:off x="6537960" y="1874520"/>
            <a:ext cx="1691640" cy="329184"/>
          </a:xfrm>
          <a:prstGeom prst="rect">
            <a:avLst/>
          </a:prstGeom>
          <a:noFill/>
          <a:ln/>
        </p:spPr>
        <p:txBody>
          <a:bodyPr wrap="square" lIns="0" tIns="0" rIns="0" bIns="0" rtlCol="0" anchor="t"/>
          <a:lstStyle/>
          <a:p>
            <a:pPr indent="0" marL="0">
              <a:buNone/>
            </a:pPr>
            <a:r>
              <a:rPr lang="en-US" sz="1400" b="1" dirty="0">
                <a:solidFill>
                  <a:schemeClr val="tx1"/>
                </a:solidFill>
              </a:rPr>
              <a:t>Padlock = safe</a:t>
            </a:r>
            <a:endParaRPr lang="en-US" sz="1400" dirty="0"/>
          </a:p>
        </p:txBody>
      </p:sp>
      <p:sp>
        <p:nvSpPr>
          <p:cNvPr id="22" name="Text 20"/>
          <p:cNvSpPr txBox="1"/>
          <p:nvPr/>
        </p:nvSpPr>
        <p:spPr>
          <a:xfrm>
            <a:off x="6537960" y="2203704"/>
            <a:ext cx="1691640" cy="274320"/>
          </a:xfrm>
          <a:prstGeom prst="rect">
            <a:avLst/>
          </a:prstGeom>
          <a:noFill/>
          <a:ln/>
        </p:spPr>
        <p:txBody>
          <a:bodyPr wrap="square" lIns="0" tIns="0" rIns="0" bIns="0" rtlCol="0" anchor="t"/>
          <a:lstStyle/>
          <a:p>
            <a:pPr indent="0" marL="0">
              <a:buNone/>
            </a:pPr>
            <a:r>
              <a:rPr lang="en-US" sz="1100" dirty="0">
                <a:solidFill>
                  <a:schemeClr val="tx2"/>
                </a:solidFill>
              </a:rPr>
              <a:t>Familiar cues</a:t>
            </a:r>
            <a:endParaRPr lang="en-US" sz="1100" dirty="0"/>
          </a:p>
        </p:txBody>
      </p:sp>
      <p:sp>
        <p:nvSpPr>
          <p:cNvPr id="23" name="Text 21"/>
          <p:cNvSpPr txBox="1"/>
          <p:nvPr/>
        </p:nvSpPr>
        <p:spPr>
          <a:xfrm>
            <a:off x="8275320" y="1856232"/>
            <a:ext cx="3246120" cy="274320"/>
          </a:xfrm>
          <a:prstGeom prst="rect">
            <a:avLst/>
          </a:prstGeom>
          <a:noFill/>
          <a:ln/>
        </p:spPr>
        <p:txBody>
          <a:bodyPr wrap="square" lIns="0" tIns="0" rIns="0" bIns="0" rtlCol="0" anchor="t"/>
          <a:lstStyle/>
          <a:p>
            <a:pPr indent="0" marL="0">
              <a:buNone/>
            </a:pPr>
            <a:r>
              <a:rPr lang="en-US" sz="1300" b="1" dirty="0">
                <a:solidFill>
                  <a:schemeClr val="accent2"/>
                </a:solidFill>
              </a:rPr>
              <a:t>Gap: nothing covers it yet</a:t>
            </a:r>
            <a:endParaRPr lang="en-US" sz="1300" dirty="0"/>
          </a:p>
        </p:txBody>
      </p:sp>
      <p:sp>
        <p:nvSpPr>
          <p:cNvPr id="24" name="Text 22"/>
          <p:cNvSpPr txBox="1"/>
          <p:nvPr/>
        </p:nvSpPr>
        <p:spPr>
          <a:xfrm>
            <a:off x="8275320" y="2130552"/>
            <a:ext cx="3246120" cy="411480"/>
          </a:xfrm>
          <a:prstGeom prst="rect">
            <a:avLst/>
          </a:prstGeom>
          <a:noFill/>
          <a:ln/>
        </p:spPr>
        <p:txBody>
          <a:bodyPr wrap="square" lIns="0" tIns="0" rIns="0" bIns="0" rtlCol="0" anchor="t"/>
          <a:lstStyle/>
          <a:p>
            <a:pPr indent="0" marL="0">
              <a:buNone/>
            </a:pPr>
            <a:r>
              <a:rPr lang="en-US" sz="1200" dirty="0">
                <a:solidFill>
                  <a:schemeClr val="tx2"/>
                </a:solidFill>
              </a:rPr>
              <a:t>Next post: the padlock means encrypted, not trustworthy</a:t>
            </a:r>
            <a:endParaRPr lang="en-US" sz="1200" dirty="0"/>
          </a:p>
        </p:txBody>
      </p:sp>
      <p:sp>
        <p:nvSpPr>
          <p:cNvPr id="25" name="card"/>
          <p:cNvSpPr/>
          <p:nvPr/>
        </p:nvSpPr>
        <p:spPr>
          <a:xfrm>
            <a:off x="6355080" y="2697480"/>
            <a:ext cx="5285232" cy="804672"/>
          </a:xfrm>
          <a:prstGeom prst="roundRect">
            <a:avLst>
              <a:gd name="adj" fmla="val 11364"/>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26" name="Text 24"/>
          <p:cNvSpPr txBox="1"/>
          <p:nvPr/>
        </p:nvSpPr>
        <p:spPr>
          <a:xfrm>
            <a:off x="6537960" y="2788920"/>
            <a:ext cx="1691640" cy="329184"/>
          </a:xfrm>
          <a:prstGeom prst="rect">
            <a:avLst/>
          </a:prstGeom>
          <a:noFill/>
          <a:ln/>
        </p:spPr>
        <p:txBody>
          <a:bodyPr wrap="square" lIns="0" tIns="0" rIns="0" bIns="0" rtlCol="0" anchor="t"/>
          <a:lstStyle/>
          <a:p>
            <a:pPr indent="0" marL="0">
              <a:buNone/>
            </a:pPr>
            <a:r>
              <a:rPr lang="en-US" sz="1400" b="1" dirty="0">
                <a:solidFill>
                  <a:schemeClr val="tx1"/>
                </a:solidFill>
              </a:rPr>
              <a:t>Sign-in prompts</a:t>
            </a:r>
            <a:endParaRPr lang="en-US" sz="1400" dirty="0"/>
          </a:p>
        </p:txBody>
      </p:sp>
      <p:sp>
        <p:nvSpPr>
          <p:cNvPr id="27" name="Text 25"/>
          <p:cNvSpPr txBox="1"/>
          <p:nvPr/>
        </p:nvSpPr>
        <p:spPr>
          <a:xfrm>
            <a:off x="6537960" y="3118104"/>
            <a:ext cx="1691640" cy="274320"/>
          </a:xfrm>
          <a:prstGeom prst="rect">
            <a:avLst/>
          </a:prstGeom>
          <a:noFill/>
          <a:ln/>
        </p:spPr>
        <p:txBody>
          <a:bodyPr wrap="square" lIns="0" tIns="0" rIns="0" bIns="0" rtlCol="0" anchor="t"/>
          <a:lstStyle/>
          <a:p>
            <a:pPr indent="0" marL="0">
              <a:buNone/>
            </a:pPr>
            <a:r>
              <a:rPr lang="en-US" sz="1100" dirty="0">
                <a:solidFill>
                  <a:schemeClr val="tx2"/>
                </a:solidFill>
              </a:rPr>
              <a:t>Authority</a:t>
            </a:r>
            <a:endParaRPr lang="en-US" sz="1100" dirty="0"/>
          </a:p>
        </p:txBody>
      </p:sp>
      <p:sp>
        <p:nvSpPr>
          <p:cNvPr id="28" name="Text 26"/>
          <p:cNvSpPr txBox="1"/>
          <p:nvPr/>
        </p:nvSpPr>
        <p:spPr>
          <a:xfrm>
            <a:off x="8275320" y="2770632"/>
            <a:ext cx="3246120" cy="274320"/>
          </a:xfrm>
          <a:prstGeom prst="rect">
            <a:avLst/>
          </a:prstGeom>
          <a:noFill/>
          <a:ln/>
        </p:spPr>
        <p:txBody>
          <a:bodyPr wrap="square" lIns="0" tIns="0" rIns="0" bIns="0" rtlCol="0" anchor="t"/>
          <a:lstStyle/>
          <a:p>
            <a:pPr indent="0" marL="0">
              <a:buNone/>
            </a:pPr>
            <a:r>
              <a:rPr lang="en-US" sz="1300" b="1" dirty="0">
                <a:solidFill>
                  <a:schemeClr val="accent3"/>
                </a:solidFill>
              </a:rPr>
              <a:t>Covered by poster 4/4</a:t>
            </a:r>
            <a:endParaRPr lang="en-US" sz="1300" dirty="0"/>
          </a:p>
        </p:txBody>
      </p:sp>
      <p:sp>
        <p:nvSpPr>
          <p:cNvPr id="29" name="Text 27"/>
          <p:cNvSpPr txBox="1"/>
          <p:nvPr/>
        </p:nvSpPr>
        <p:spPr>
          <a:xfrm>
            <a:off x="8275320" y="3044952"/>
            <a:ext cx="3246120" cy="411480"/>
          </a:xfrm>
          <a:prstGeom prst="rect">
            <a:avLst/>
          </a:prstGeom>
          <a:noFill/>
          <a:ln/>
        </p:spPr>
        <p:txBody>
          <a:bodyPr wrap="square" lIns="0" tIns="0" rIns="0" bIns="0" rtlCol="0" anchor="t"/>
          <a:lstStyle/>
          <a:p>
            <a:pPr indent="0" marL="0">
              <a:buNone/>
            </a:pPr>
            <a:r>
              <a:rPr lang="en-US" sz="1200" dirty="0">
                <a:solidFill>
                  <a:schemeClr val="tx2"/>
                </a:solidFill>
              </a:rPr>
              <a:t>"Spotted something suspicious?": change your password, turn on 2FA</a:t>
            </a:r>
            <a:endParaRPr lang="en-US" sz="1200" dirty="0"/>
          </a:p>
        </p:txBody>
      </p:sp>
      <p:sp>
        <p:nvSpPr>
          <p:cNvPr id="30" name="card"/>
          <p:cNvSpPr/>
          <p:nvPr/>
        </p:nvSpPr>
        <p:spPr>
          <a:xfrm>
            <a:off x="6355080" y="3611880"/>
            <a:ext cx="5285232" cy="804672"/>
          </a:xfrm>
          <a:prstGeom prst="roundRect">
            <a:avLst>
              <a:gd name="adj" fmla="val 11364"/>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31" name="Text 29"/>
          <p:cNvSpPr txBox="1"/>
          <p:nvPr/>
        </p:nvSpPr>
        <p:spPr>
          <a:xfrm>
            <a:off x="6537960" y="3703320"/>
            <a:ext cx="1691640" cy="329184"/>
          </a:xfrm>
          <a:prstGeom prst="rect">
            <a:avLst/>
          </a:prstGeom>
          <a:noFill/>
          <a:ln/>
        </p:spPr>
        <p:txBody>
          <a:bodyPr wrap="square" lIns="0" tIns="0" rIns="0" bIns="0" rtlCol="0" anchor="t"/>
          <a:lstStyle/>
          <a:p>
            <a:pPr indent="0" marL="0">
              <a:buNone/>
            </a:pPr>
            <a:r>
              <a:rPr lang="en-US" sz="1400" b="1" dirty="0">
                <a:solidFill>
                  <a:schemeClr val="tx1"/>
                </a:solidFill>
              </a:rPr>
              <a:t>Warning signs</a:t>
            </a:r>
            <a:endParaRPr lang="en-US" sz="1400" dirty="0"/>
          </a:p>
        </p:txBody>
      </p:sp>
      <p:sp>
        <p:nvSpPr>
          <p:cNvPr id="32" name="Text 30"/>
          <p:cNvSpPr txBox="1"/>
          <p:nvPr/>
        </p:nvSpPr>
        <p:spPr>
          <a:xfrm>
            <a:off x="6537960" y="4032504"/>
            <a:ext cx="1691640" cy="274320"/>
          </a:xfrm>
          <a:prstGeom prst="rect">
            <a:avLst/>
          </a:prstGeom>
          <a:noFill/>
          <a:ln/>
        </p:spPr>
        <p:txBody>
          <a:bodyPr wrap="square" lIns="0" tIns="0" rIns="0" bIns="0" rtlCol="0" anchor="t"/>
          <a:lstStyle/>
          <a:p>
            <a:pPr indent="0" marL="0">
              <a:buNone/>
            </a:pPr>
            <a:r>
              <a:rPr lang="en-US" sz="1100" dirty="0">
                <a:solidFill>
                  <a:schemeClr val="tx2"/>
                </a:solidFill>
              </a:rPr>
              <a:t>Attention &amp; habit</a:t>
            </a:r>
            <a:endParaRPr lang="en-US" sz="1100" dirty="0"/>
          </a:p>
        </p:txBody>
      </p:sp>
      <p:sp>
        <p:nvSpPr>
          <p:cNvPr id="33" name="Text 31"/>
          <p:cNvSpPr txBox="1"/>
          <p:nvPr/>
        </p:nvSpPr>
        <p:spPr>
          <a:xfrm>
            <a:off x="8275320" y="3685032"/>
            <a:ext cx="3246120" cy="274320"/>
          </a:xfrm>
          <a:prstGeom prst="rect">
            <a:avLst/>
          </a:prstGeom>
          <a:noFill/>
          <a:ln/>
        </p:spPr>
        <p:txBody>
          <a:bodyPr wrap="square" lIns="0" tIns="0" rIns="0" bIns="0" rtlCol="0" anchor="t"/>
          <a:lstStyle/>
          <a:p>
            <a:pPr indent="0" marL="0">
              <a:buNone/>
            </a:pPr>
            <a:r>
              <a:rPr lang="en-US" sz="1300" b="1" dirty="0">
                <a:solidFill>
                  <a:schemeClr val="accent3"/>
                </a:solidFill>
              </a:rPr>
              <a:t>Covered by the email poster</a:t>
            </a:r>
            <a:endParaRPr lang="en-US" sz="1300" dirty="0"/>
          </a:p>
        </p:txBody>
      </p:sp>
      <p:sp>
        <p:nvSpPr>
          <p:cNvPr id="34" name="Text 32"/>
          <p:cNvSpPr txBox="1"/>
          <p:nvPr/>
        </p:nvSpPr>
        <p:spPr>
          <a:xfrm>
            <a:off x="8275320" y="3959352"/>
            <a:ext cx="3246120" cy="411480"/>
          </a:xfrm>
          <a:prstGeom prst="rect">
            <a:avLst/>
          </a:prstGeom>
          <a:noFill/>
          <a:ln/>
        </p:spPr>
        <p:txBody>
          <a:bodyPr wrap="square" lIns="0" tIns="0" rIns="0" bIns="0" rtlCol="0" anchor="t"/>
          <a:lstStyle/>
          <a:p>
            <a:pPr indent="0" marL="0">
              <a:buNone/>
            </a:pPr>
            <a:r>
              <a:rPr lang="en-US" sz="1200" dirty="0">
                <a:solidFill>
                  <a:schemeClr val="tx2"/>
                </a:solidFill>
              </a:rPr>
              <a:t>"It looks real. But is it?": urgency, links, attachments, data requests</a:t>
            </a:r>
            <a:endParaRPr lang="en-US" sz="1200" dirty="0"/>
          </a:p>
        </p:txBody>
      </p:sp>
      <p:sp>
        <p:nvSpPr>
          <p:cNvPr id="35" name="card"/>
          <p:cNvSpPr/>
          <p:nvPr/>
        </p:nvSpPr>
        <p:spPr>
          <a:xfrm>
            <a:off x="6355080" y="4526280"/>
            <a:ext cx="5285232" cy="804672"/>
          </a:xfrm>
          <a:prstGeom prst="roundRect">
            <a:avLst>
              <a:gd name="adj" fmla="val 11364"/>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36" name="Text 34"/>
          <p:cNvSpPr txBox="1"/>
          <p:nvPr/>
        </p:nvSpPr>
        <p:spPr>
          <a:xfrm>
            <a:off x="6537960" y="4617720"/>
            <a:ext cx="1691640" cy="329184"/>
          </a:xfrm>
          <a:prstGeom prst="rect">
            <a:avLst/>
          </a:prstGeom>
          <a:noFill/>
          <a:ln/>
        </p:spPr>
        <p:txBody>
          <a:bodyPr wrap="square" lIns="0" tIns="0" rIns="0" bIns="0" rtlCol="0" anchor="t"/>
          <a:lstStyle/>
          <a:p>
            <a:pPr indent="0" marL="0">
              <a:buNone/>
            </a:pPr>
            <a:r>
              <a:rPr lang="en-US" sz="1400" b="1" dirty="0">
                <a:solidFill>
                  <a:schemeClr val="tx1"/>
                </a:solidFill>
              </a:rPr>
              <a:t>Brand in the URL</a:t>
            </a:r>
            <a:endParaRPr lang="en-US" sz="1400" dirty="0"/>
          </a:p>
        </p:txBody>
      </p:sp>
      <p:sp>
        <p:nvSpPr>
          <p:cNvPr id="37" name="Text 35"/>
          <p:cNvSpPr txBox="1"/>
          <p:nvPr/>
        </p:nvSpPr>
        <p:spPr>
          <a:xfrm>
            <a:off x="6537960" y="4946904"/>
            <a:ext cx="1691640" cy="274320"/>
          </a:xfrm>
          <a:prstGeom prst="rect">
            <a:avLst/>
          </a:prstGeom>
          <a:noFill/>
          <a:ln/>
        </p:spPr>
        <p:txBody>
          <a:bodyPr wrap="square" lIns="0" tIns="0" rIns="0" bIns="0" rtlCol="0" anchor="t"/>
          <a:lstStyle/>
          <a:p>
            <a:pPr indent="0" marL="0">
              <a:buNone/>
            </a:pPr>
            <a:r>
              <a:rPr lang="en-US" sz="1100" dirty="0">
                <a:solidFill>
                  <a:schemeClr val="tx2"/>
                </a:solidFill>
              </a:rPr>
              <a:t>Attention &amp; habit</a:t>
            </a:r>
            <a:endParaRPr lang="en-US" sz="1100" dirty="0"/>
          </a:p>
        </p:txBody>
      </p:sp>
      <p:sp>
        <p:nvSpPr>
          <p:cNvPr id="38" name="Text 36"/>
          <p:cNvSpPr txBox="1"/>
          <p:nvPr/>
        </p:nvSpPr>
        <p:spPr>
          <a:xfrm>
            <a:off x="8275320" y="4599432"/>
            <a:ext cx="3246120" cy="274320"/>
          </a:xfrm>
          <a:prstGeom prst="rect">
            <a:avLst/>
          </a:prstGeom>
          <a:noFill/>
          <a:ln/>
        </p:spPr>
        <p:txBody>
          <a:bodyPr wrap="square" lIns="0" tIns="0" rIns="0" bIns="0" rtlCol="0" anchor="t"/>
          <a:lstStyle/>
          <a:p>
            <a:pPr indent="0" marL="0">
              <a:buNone/>
            </a:pPr>
            <a:r>
              <a:rPr lang="en-US" sz="1300" b="1" dirty="0">
                <a:solidFill>
                  <a:schemeClr val="accent3"/>
                </a:solidFill>
              </a:rPr>
              <a:t>Covered by an Instagram post</a:t>
            </a:r>
            <a:endParaRPr lang="en-US" sz="1300" dirty="0"/>
          </a:p>
        </p:txBody>
      </p:sp>
      <p:sp>
        <p:nvSpPr>
          <p:cNvPr id="39" name="Text 37"/>
          <p:cNvSpPr txBox="1"/>
          <p:nvPr/>
        </p:nvSpPr>
        <p:spPr>
          <a:xfrm>
            <a:off x="8275320" y="4873752"/>
            <a:ext cx="3246120" cy="411480"/>
          </a:xfrm>
          <a:prstGeom prst="rect">
            <a:avLst/>
          </a:prstGeom>
          <a:noFill/>
          <a:ln/>
        </p:spPr>
        <p:txBody>
          <a:bodyPr wrap="square" lIns="0" tIns="0" rIns="0" bIns="0" rtlCol="0" anchor="t"/>
          <a:lstStyle/>
          <a:p>
            <a:pPr indent="0" marL="0">
              <a:buNone/>
            </a:pPr>
            <a:r>
              <a:rPr lang="en-US" sz="1200" dirty="0">
                <a:solidFill>
                  <a:schemeClr val="tx2"/>
                </a:solidFill>
              </a:rPr>
              <a:t>"Verify before you click": open the app yourself, never the link</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Confidence outruns skill</a:t>
            </a:r>
            <a:endParaRPr lang="en-US" sz="3400" dirty="0"/>
          </a:p>
        </p:txBody>
      </p:sp>
      <p:sp>
        <p:nvSpPr>
          <p:cNvPr id="3" name="tag"/>
          <p:cNvSpPr txBox="1"/>
          <p:nvPr/>
        </p:nvSpPr>
        <p:spPr>
          <a:xfrm rot="90000">
            <a:off x="7452360" y="457200"/>
            <a:ext cx="4206240" cy="457200"/>
          </a:xfrm>
          <a:prstGeom prst="rect">
            <a:avLst/>
          </a:prstGeom>
          <a:solidFill>
            <a:schemeClr val="accent1"/>
          </a:solidFill>
          <a:ln/>
          <a:effectLst>
            <a:outerShdw sx="100000" sy="100000" kx="0" ky="0" algn="bl" rotWithShape="0" blurRad="76200" dist="25400" dir="5400000">
              <a:srgbClr val="14213D">
                <a:alpha val="18000"/>
              </a:srgbClr>
            </a:outerShdw>
          </a:effectLst>
        </p:spPr>
        <p:txBody>
          <a:bodyPr wrap="square" lIns="50800" tIns="127000" rIns="127000" bIns="50800" rtlCol="0" anchor="ctr"/>
          <a:lstStyle/>
          <a:p>
            <a:pPr algn="l" indent="0" marL="0">
              <a:buNone/>
            </a:pPr>
            <a:r>
              <a:rPr lang="en-US" sz="1200" b="1" dirty="0">
                <a:solidFill>
                  <a:schemeClr val="tx1"/>
                </a:solidFill>
              </a:rPr>
              <a:t>Demonstration of our analysis pipeline · live results to follow</a:t>
            </a:r>
            <a:endParaRPr lang="en-US" sz="1200" dirty="0"/>
          </a:p>
        </p:txBody>
      </p:sp>
      <p:sp>
        <p:nvSpPr>
          <p:cNvPr id="4" name="Text 2"/>
          <p:cNvSpPr txBox="1"/>
          <p:nvPr/>
        </p:nvSpPr>
        <p:spPr>
          <a:xfrm>
            <a:off x="548640" y="1280160"/>
            <a:ext cx="6035040" cy="347472"/>
          </a:xfrm>
          <a:prstGeom prst="rect">
            <a:avLst/>
          </a:prstGeom>
          <a:noFill/>
          <a:ln/>
        </p:spPr>
        <p:txBody>
          <a:bodyPr wrap="square" lIns="0" tIns="0" rIns="0" bIns="0" rtlCol="0" anchor="ctr"/>
          <a:lstStyle/>
          <a:p>
            <a:pPr indent="0" marL="0">
              <a:buNone/>
            </a:pPr>
            <a:r>
              <a:rPr lang="en-US" sz="1400" b="1" dirty="0">
                <a:solidFill>
                  <a:schemeClr val="tx1"/>
                </a:solidFill>
              </a:rPr>
              <a:t>Items correct out of 10: estimated vs actual</a:t>
            </a:r>
            <a:endParaRPr lang="en-US" sz="1400" dirty="0"/>
          </a:p>
        </p:txBody>
      </p:sp>
      <p:sp>
        <p:nvSpPr>
          <p:cNvPr id="5" name="legend-key"/>
          <p:cNvSpPr/>
          <p:nvPr/>
        </p:nvSpPr>
        <p:spPr>
          <a:xfrm>
            <a:off x="548640" y="1810512"/>
            <a:ext cx="201168" cy="201168"/>
          </a:xfrm>
          <a:prstGeom prst="rect">
            <a:avLst/>
          </a:prstGeom>
          <a:solidFill>
            <a:schemeClr val="accent1"/>
          </a:solidFill>
          <a:ln/>
        </p:spPr>
      </p:sp>
      <p:sp>
        <p:nvSpPr>
          <p:cNvPr id="6" name="Text 4"/>
          <p:cNvSpPr txBox="1"/>
          <p:nvPr/>
        </p:nvSpPr>
        <p:spPr>
          <a:xfrm>
            <a:off x="822960" y="1737360"/>
            <a:ext cx="1737360" cy="347472"/>
          </a:xfrm>
          <a:prstGeom prst="rect">
            <a:avLst/>
          </a:prstGeom>
          <a:noFill/>
          <a:ln/>
        </p:spPr>
        <p:txBody>
          <a:bodyPr wrap="square" lIns="0" tIns="0" rIns="0" bIns="0" rtlCol="0" anchor="ctr"/>
          <a:lstStyle/>
          <a:p>
            <a:pPr indent="0" marL="0">
              <a:buNone/>
            </a:pPr>
            <a:r>
              <a:rPr lang="en-US" sz="1300" dirty="0">
                <a:solidFill>
                  <a:schemeClr val="tx1"/>
                </a:solidFill>
              </a:rPr>
              <a:t>Estimated</a:t>
            </a:r>
            <a:endParaRPr lang="en-US" sz="1300" dirty="0"/>
          </a:p>
        </p:txBody>
      </p:sp>
      <p:sp>
        <p:nvSpPr>
          <p:cNvPr id="7" name="legend-key"/>
          <p:cNvSpPr/>
          <p:nvPr/>
        </p:nvSpPr>
        <p:spPr>
          <a:xfrm>
            <a:off x="1929384" y="1810512"/>
            <a:ext cx="201168" cy="201168"/>
          </a:xfrm>
          <a:prstGeom prst="rect">
            <a:avLst/>
          </a:prstGeom>
          <a:solidFill>
            <a:schemeClr val="tx1"/>
          </a:solidFill>
          <a:ln/>
        </p:spPr>
      </p:sp>
      <p:sp>
        <p:nvSpPr>
          <p:cNvPr id="8" name="Text 6"/>
          <p:cNvSpPr txBox="1"/>
          <p:nvPr/>
        </p:nvSpPr>
        <p:spPr>
          <a:xfrm>
            <a:off x="2203704" y="1737360"/>
            <a:ext cx="1737360" cy="347472"/>
          </a:xfrm>
          <a:prstGeom prst="rect">
            <a:avLst/>
          </a:prstGeom>
          <a:noFill/>
          <a:ln/>
        </p:spPr>
        <p:txBody>
          <a:bodyPr wrap="square" lIns="0" tIns="0" rIns="0" bIns="0" rtlCol="0" anchor="ctr"/>
          <a:lstStyle/>
          <a:p>
            <a:pPr indent="0" marL="0">
              <a:buNone/>
            </a:pPr>
            <a:r>
              <a:rPr lang="en-US" sz="1300" dirty="0">
                <a:solidFill>
                  <a:schemeClr val="tx1"/>
                </a:solidFill>
              </a:rPr>
              <a:t>Actual</a:t>
            </a:r>
            <a:endParaRPr lang="en-US" sz="1300" dirty="0"/>
          </a:p>
        </p:txBody>
      </p:sp>
      <p:sp>
        <p:nvSpPr>
          <p:cNvPr id="9" name="baseline"/>
          <p:cNvSpPr/>
          <p:nvPr/>
        </p:nvSpPr>
        <p:spPr>
          <a:xfrm>
            <a:off x="548640" y="5623560"/>
            <a:ext cx="6035040" cy="0"/>
          </a:xfrm>
          <a:prstGeom prst="line">
            <a:avLst/>
          </a:prstGeom>
          <a:noFill/>
          <a:ln w="19050">
            <a:solidFill>
              <a:schemeClr val="accent6"/>
            </a:solidFill>
            <a:prstDash val="solid"/>
          </a:ln>
        </p:spPr>
      </p:sp>
      <p:sp>
        <p:nvSpPr>
          <p:cNvPr id="10" name="col-PRE-est"/>
          <p:cNvSpPr/>
          <p:nvPr/>
        </p:nvSpPr>
        <p:spPr>
          <a:xfrm>
            <a:off x="914400" y="3309076"/>
            <a:ext cx="1005840" cy="2314484"/>
          </a:xfrm>
          <a:prstGeom prst="rect">
            <a:avLst/>
          </a:prstGeom>
          <a:solidFill>
            <a:schemeClr val="accent1"/>
          </a:solidFill>
          <a:ln/>
        </p:spPr>
      </p:sp>
      <p:sp>
        <p:nvSpPr>
          <p:cNvPr id="11" name="Text 9"/>
          <p:cNvSpPr txBox="1"/>
          <p:nvPr/>
        </p:nvSpPr>
        <p:spPr>
          <a:xfrm>
            <a:off x="914400" y="2897596"/>
            <a:ext cx="1005840" cy="365760"/>
          </a:xfrm>
          <a:prstGeom prst="rect">
            <a:avLst/>
          </a:prstGeom>
          <a:noFill/>
          <a:ln/>
        </p:spPr>
        <p:txBody>
          <a:bodyPr wrap="square" lIns="0" tIns="0" rIns="0" bIns="0" rtlCol="0" anchor="b"/>
          <a:lstStyle/>
          <a:p>
            <a:pPr algn="ctr" indent="0" marL="0">
              <a:buNone/>
            </a:pPr>
            <a:r>
              <a:rPr lang="en-US" sz="1600" b="1" dirty="0">
                <a:solidFill>
                  <a:schemeClr val="tx1"/>
                </a:solidFill>
              </a:rPr>
              <a:t>7.1</a:t>
            </a:r>
            <a:endParaRPr lang="en-US" sz="1600" dirty="0"/>
          </a:p>
        </p:txBody>
      </p:sp>
      <p:sp>
        <p:nvSpPr>
          <p:cNvPr id="12" name="col-PRE-act"/>
          <p:cNvSpPr/>
          <p:nvPr/>
        </p:nvSpPr>
        <p:spPr>
          <a:xfrm>
            <a:off x="2057400" y="3776518"/>
            <a:ext cx="1005840" cy="1847042"/>
          </a:xfrm>
          <a:prstGeom prst="rect">
            <a:avLst/>
          </a:prstGeom>
          <a:solidFill>
            <a:schemeClr val="tx1"/>
          </a:solidFill>
          <a:ln/>
        </p:spPr>
      </p:sp>
      <p:sp>
        <p:nvSpPr>
          <p:cNvPr id="13" name="Text 11"/>
          <p:cNvSpPr txBox="1"/>
          <p:nvPr/>
        </p:nvSpPr>
        <p:spPr>
          <a:xfrm>
            <a:off x="2057400" y="3365038"/>
            <a:ext cx="1005840" cy="365760"/>
          </a:xfrm>
          <a:prstGeom prst="rect">
            <a:avLst/>
          </a:prstGeom>
          <a:noFill/>
          <a:ln/>
        </p:spPr>
        <p:txBody>
          <a:bodyPr wrap="square" lIns="0" tIns="0" rIns="0" bIns="0" rtlCol="0" anchor="b"/>
          <a:lstStyle/>
          <a:p>
            <a:pPr algn="ctr" indent="0" marL="0">
              <a:buNone/>
            </a:pPr>
            <a:r>
              <a:rPr lang="en-US" sz="1600" b="1" dirty="0">
                <a:solidFill>
                  <a:schemeClr val="tx1"/>
                </a:solidFill>
              </a:rPr>
              <a:t>5.7</a:t>
            </a:r>
            <a:endParaRPr lang="en-US" sz="1600" dirty="0"/>
          </a:p>
        </p:txBody>
      </p:sp>
      <p:sp>
        <p:nvSpPr>
          <p:cNvPr id="14" name="Text 12"/>
          <p:cNvSpPr txBox="1"/>
          <p:nvPr/>
        </p:nvSpPr>
        <p:spPr>
          <a:xfrm>
            <a:off x="914400" y="5733288"/>
            <a:ext cx="2148840" cy="365760"/>
          </a:xfrm>
          <a:prstGeom prst="rect">
            <a:avLst/>
          </a:prstGeom>
          <a:noFill/>
          <a:ln/>
        </p:spPr>
        <p:txBody>
          <a:bodyPr wrap="square" lIns="0" tIns="0" rIns="0" bIns="0" rtlCol="0" anchor="t"/>
          <a:lstStyle/>
          <a:p>
            <a:pPr algn="ctr" indent="0" marL="0">
              <a:buNone/>
            </a:pPr>
            <a:r>
              <a:rPr lang="en-US" sz="1600" b="1" dirty="0">
                <a:solidFill>
                  <a:schemeClr val="tx2"/>
                </a:solidFill>
              </a:rPr>
              <a:t>PRE</a:t>
            </a:r>
            <a:endParaRPr lang="en-US" sz="1600" dirty="0"/>
          </a:p>
        </p:txBody>
      </p:sp>
      <p:sp>
        <p:nvSpPr>
          <p:cNvPr id="15" name="col-POST-est"/>
          <p:cNvSpPr/>
          <p:nvPr/>
        </p:nvSpPr>
        <p:spPr>
          <a:xfrm>
            <a:off x="3840480" y="3153263"/>
            <a:ext cx="1005840" cy="2470297"/>
          </a:xfrm>
          <a:prstGeom prst="rect">
            <a:avLst/>
          </a:prstGeom>
          <a:solidFill>
            <a:schemeClr val="accent1"/>
          </a:solidFill>
          <a:ln/>
        </p:spPr>
      </p:sp>
      <p:sp>
        <p:nvSpPr>
          <p:cNvPr id="16" name="Text 14"/>
          <p:cNvSpPr txBox="1"/>
          <p:nvPr/>
        </p:nvSpPr>
        <p:spPr>
          <a:xfrm>
            <a:off x="3840480" y="2741783"/>
            <a:ext cx="1005840" cy="365760"/>
          </a:xfrm>
          <a:prstGeom prst="rect">
            <a:avLst/>
          </a:prstGeom>
          <a:noFill/>
          <a:ln/>
        </p:spPr>
        <p:txBody>
          <a:bodyPr wrap="square" lIns="0" tIns="0" rIns="0" bIns="0" rtlCol="0" anchor="b"/>
          <a:lstStyle/>
          <a:p>
            <a:pPr algn="ctr" indent="0" marL="0">
              <a:buNone/>
            </a:pPr>
            <a:r>
              <a:rPr lang="en-US" sz="1600" b="1" dirty="0">
                <a:solidFill>
                  <a:schemeClr val="tx1"/>
                </a:solidFill>
              </a:rPr>
              <a:t>7.6</a:t>
            </a:r>
            <a:endParaRPr lang="en-US" sz="1600" dirty="0"/>
          </a:p>
        </p:txBody>
      </p:sp>
      <p:sp>
        <p:nvSpPr>
          <p:cNvPr id="17" name="col-POST-act"/>
          <p:cNvSpPr/>
          <p:nvPr/>
        </p:nvSpPr>
        <p:spPr>
          <a:xfrm>
            <a:off x="4983480" y="3292846"/>
            <a:ext cx="1005840" cy="2330714"/>
          </a:xfrm>
          <a:prstGeom prst="rect">
            <a:avLst/>
          </a:prstGeom>
          <a:solidFill>
            <a:schemeClr val="tx1"/>
          </a:solidFill>
          <a:ln/>
        </p:spPr>
      </p:sp>
      <p:sp>
        <p:nvSpPr>
          <p:cNvPr id="18" name="Text 16"/>
          <p:cNvSpPr txBox="1"/>
          <p:nvPr/>
        </p:nvSpPr>
        <p:spPr>
          <a:xfrm>
            <a:off x="4983480" y="2881366"/>
            <a:ext cx="1005840" cy="365760"/>
          </a:xfrm>
          <a:prstGeom prst="rect">
            <a:avLst/>
          </a:prstGeom>
          <a:noFill/>
          <a:ln/>
        </p:spPr>
        <p:txBody>
          <a:bodyPr wrap="square" lIns="0" tIns="0" rIns="0" bIns="0" rtlCol="0" anchor="b"/>
          <a:lstStyle/>
          <a:p>
            <a:pPr algn="ctr" indent="0" marL="0">
              <a:buNone/>
            </a:pPr>
            <a:r>
              <a:rPr lang="en-US" sz="1600" b="1" dirty="0">
                <a:solidFill>
                  <a:schemeClr val="tx1"/>
                </a:solidFill>
              </a:rPr>
              <a:t>7.2</a:t>
            </a:r>
            <a:endParaRPr lang="en-US" sz="1600" dirty="0"/>
          </a:p>
        </p:txBody>
      </p:sp>
      <p:sp>
        <p:nvSpPr>
          <p:cNvPr id="19" name="Text 17"/>
          <p:cNvSpPr txBox="1"/>
          <p:nvPr/>
        </p:nvSpPr>
        <p:spPr>
          <a:xfrm>
            <a:off x="3840480" y="5733288"/>
            <a:ext cx="2148840" cy="365760"/>
          </a:xfrm>
          <a:prstGeom prst="rect">
            <a:avLst/>
          </a:prstGeom>
          <a:noFill/>
          <a:ln/>
        </p:spPr>
        <p:txBody>
          <a:bodyPr wrap="square" lIns="0" tIns="0" rIns="0" bIns="0" rtlCol="0" anchor="t"/>
          <a:lstStyle/>
          <a:p>
            <a:pPr algn="ctr" indent="0" marL="0">
              <a:buNone/>
            </a:pPr>
            <a:r>
              <a:rPr lang="en-US" sz="1600" b="1" dirty="0">
                <a:solidFill>
                  <a:schemeClr val="tx2"/>
                </a:solidFill>
              </a:rPr>
              <a:t>POST</a:t>
            </a:r>
            <a:endParaRPr lang="en-US" sz="1600" dirty="0"/>
          </a:p>
        </p:txBody>
      </p:sp>
      <p:sp>
        <p:nvSpPr>
          <p:cNvPr id="20" name="card"/>
          <p:cNvSpPr/>
          <p:nvPr/>
        </p:nvSpPr>
        <p:spPr>
          <a:xfrm>
            <a:off x="7040880" y="1371600"/>
            <a:ext cx="4599432" cy="2103120"/>
          </a:xfrm>
          <a:prstGeom prst="roundRect">
            <a:avLst>
              <a:gd name="adj" fmla="val 4348"/>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21" name="Text 19"/>
          <p:cNvSpPr txBox="1"/>
          <p:nvPr/>
        </p:nvSpPr>
        <p:spPr>
          <a:xfrm>
            <a:off x="7315200" y="1554480"/>
            <a:ext cx="4114800" cy="320040"/>
          </a:xfrm>
          <a:prstGeom prst="rect">
            <a:avLst/>
          </a:prstGeom>
          <a:noFill/>
          <a:ln/>
        </p:spPr>
        <p:txBody>
          <a:bodyPr wrap="square" lIns="0" tIns="0" rIns="0" bIns="0" rtlCol="0" anchor="t"/>
          <a:lstStyle/>
          <a:p>
            <a:pPr indent="0" marL="0">
              <a:buNone/>
            </a:pPr>
            <a:r>
              <a:rPr lang="en-US" sz="1400" b="1" dirty="0">
                <a:solidFill>
                  <a:schemeClr val="tx2"/>
                </a:solidFill>
              </a:rPr>
              <a:t>Overconfidence</a:t>
            </a:r>
            <a:endParaRPr lang="en-US" sz="1400" dirty="0"/>
          </a:p>
        </p:txBody>
      </p:sp>
      <p:sp>
        <p:nvSpPr>
          <p:cNvPr id="22" name="Text 20"/>
          <p:cNvSpPr txBox="1"/>
          <p:nvPr/>
        </p:nvSpPr>
        <p:spPr>
          <a:xfrm>
            <a:off x="7315200" y="1920240"/>
            <a:ext cx="4114800" cy="822960"/>
          </a:xfrm>
          <a:prstGeom prst="rect">
            <a:avLst/>
          </a:prstGeom>
          <a:noFill/>
          <a:ln/>
        </p:spPr>
        <p:txBody>
          <a:bodyPr wrap="square" lIns="0" tIns="0" rIns="0" bIns="0" rtlCol="0" anchor="t"/>
          <a:lstStyle/>
          <a:p>
            <a:pPr indent="0" marL="0">
              <a:buNone/>
            </a:pPr>
            <a:r>
              <a:rPr lang="en-US" sz="4400" b="1" dirty="0">
                <a:solidFill>
                  <a:schemeClr val="accent2"/>
                </a:solidFill>
                <a:latin typeface="Arial" pitchFamily="34" charset="0"/>
                <a:ea typeface="Arial" pitchFamily="34" charset="-122"/>
                <a:cs typeface="Arial" pitchFamily="34" charset="-120"/>
              </a:rPr>
              <a:t>+1.44</a:t>
            </a:r>
            <a:pPr indent="0" marL="0">
              <a:buNone/>
            </a:pPr>
            <a:r>
              <a:rPr lang="en-US" sz="4400" b="1" dirty="0">
                <a:solidFill>
                  <a:schemeClr val="tx2"/>
                </a:solidFill>
                <a:latin typeface="Arial" pitchFamily="34" charset="0"/>
                <a:ea typeface="Arial" pitchFamily="34" charset="-122"/>
                <a:cs typeface="Arial" pitchFamily="34" charset="-120"/>
              </a:rPr>
              <a:t>  →  </a:t>
            </a:r>
            <a:pPr indent="0" marL="0">
              <a:buNone/>
            </a:pPr>
            <a:r>
              <a:rPr lang="en-US" sz="4400" b="1" dirty="0">
                <a:solidFill>
                  <a:schemeClr val="accent3"/>
                </a:solidFill>
                <a:latin typeface="Arial" pitchFamily="34" charset="0"/>
                <a:ea typeface="Arial" pitchFamily="34" charset="-122"/>
                <a:cs typeface="Arial" pitchFamily="34" charset="-120"/>
              </a:rPr>
              <a:t>+0.43</a:t>
            </a:r>
            <a:endParaRPr lang="en-US" sz="4400" dirty="0"/>
          </a:p>
        </p:txBody>
      </p:sp>
      <p:sp>
        <p:nvSpPr>
          <p:cNvPr id="23" name="Text 21"/>
          <p:cNvSpPr txBox="1"/>
          <p:nvPr/>
        </p:nvSpPr>
        <p:spPr>
          <a:xfrm>
            <a:off x="7315200" y="2788920"/>
            <a:ext cx="4114800" cy="365760"/>
          </a:xfrm>
          <a:prstGeom prst="rect">
            <a:avLst/>
          </a:prstGeom>
          <a:noFill/>
          <a:ln/>
        </p:spPr>
        <p:txBody>
          <a:bodyPr wrap="square" lIns="0" tIns="0" rIns="0" bIns="0" rtlCol="0" anchor="t"/>
          <a:lstStyle/>
          <a:p>
            <a:pPr indent="0" marL="0">
              <a:buNone/>
            </a:pPr>
            <a:r>
              <a:rPr lang="en-US" sz="1400" dirty="0">
                <a:solidFill>
                  <a:schemeClr val="tx2"/>
                </a:solidFill>
              </a:rPr>
              <a:t>questions overestimated, PRE → POST</a:t>
            </a:r>
            <a:endParaRPr lang="en-US" sz="1400" dirty="0"/>
          </a:p>
        </p:txBody>
      </p:sp>
      <p:sp>
        <p:nvSpPr>
          <p:cNvPr id="24" name="card"/>
          <p:cNvSpPr/>
          <p:nvPr/>
        </p:nvSpPr>
        <p:spPr>
          <a:xfrm>
            <a:off x="7040880" y="3703320"/>
            <a:ext cx="4599432" cy="2103120"/>
          </a:xfrm>
          <a:prstGeom prst="roundRect">
            <a:avLst>
              <a:gd name="adj" fmla="val 4348"/>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25" name="Text 23"/>
          <p:cNvSpPr txBox="1"/>
          <p:nvPr/>
        </p:nvSpPr>
        <p:spPr>
          <a:xfrm>
            <a:off x="7315200" y="3886200"/>
            <a:ext cx="4114800" cy="320040"/>
          </a:xfrm>
          <a:prstGeom prst="rect">
            <a:avLst/>
          </a:prstGeom>
          <a:noFill/>
          <a:ln/>
        </p:spPr>
        <p:txBody>
          <a:bodyPr wrap="square" lIns="0" tIns="0" rIns="0" bIns="0" rtlCol="0" anchor="t"/>
          <a:lstStyle/>
          <a:p>
            <a:pPr indent="0" marL="0">
              <a:buNone/>
            </a:pPr>
            <a:r>
              <a:rPr lang="en-US" sz="1400" b="1" dirty="0">
                <a:solidFill>
                  <a:schemeClr val="tx2"/>
                </a:solidFill>
              </a:rPr>
              <a:t>Does confidence predict skill?</a:t>
            </a:r>
            <a:endParaRPr lang="en-US" sz="1400" dirty="0"/>
          </a:p>
        </p:txBody>
      </p:sp>
      <p:sp>
        <p:nvSpPr>
          <p:cNvPr id="26" name="Text 24"/>
          <p:cNvSpPr txBox="1"/>
          <p:nvPr/>
        </p:nvSpPr>
        <p:spPr>
          <a:xfrm>
            <a:off x="7315200" y="4251960"/>
            <a:ext cx="4114800" cy="822960"/>
          </a:xfrm>
          <a:prstGeom prst="rect">
            <a:avLst/>
          </a:prstGeom>
          <a:noFill/>
          <a:ln/>
        </p:spPr>
        <p:txBody>
          <a:bodyPr wrap="square" lIns="0" tIns="0" rIns="0" bIns="0" rtlCol="0" anchor="t"/>
          <a:lstStyle/>
          <a:p>
            <a:pPr indent="0" marL="0">
              <a:buNone/>
            </a:pPr>
            <a:r>
              <a:rPr lang="en-US" sz="4400" b="1" dirty="0">
                <a:solidFill>
                  <a:schemeClr val="accent2"/>
                </a:solidFill>
                <a:latin typeface="Arial" pitchFamily="34" charset="0"/>
                <a:ea typeface="Arial" pitchFamily="34" charset="-122"/>
                <a:cs typeface="Arial" pitchFamily="34" charset="-120"/>
              </a:rPr>
              <a:t>ρ 0.15</a:t>
            </a:r>
            <a:pPr indent="0" marL="0">
              <a:buNone/>
            </a:pPr>
            <a:r>
              <a:rPr lang="en-US" sz="4400" b="1" dirty="0">
                <a:solidFill>
                  <a:schemeClr val="tx2"/>
                </a:solidFill>
                <a:latin typeface="Arial" pitchFamily="34" charset="0"/>
                <a:ea typeface="Arial" pitchFamily="34" charset="-122"/>
                <a:cs typeface="Arial" pitchFamily="34" charset="-120"/>
              </a:rPr>
              <a:t>  →  </a:t>
            </a:r>
            <a:pPr indent="0" marL="0">
              <a:buNone/>
            </a:pPr>
            <a:r>
              <a:rPr lang="en-US" sz="4400" b="1" dirty="0">
                <a:solidFill>
                  <a:schemeClr val="accent3"/>
                </a:solidFill>
                <a:latin typeface="Arial" pitchFamily="34" charset="0"/>
                <a:ea typeface="Arial" pitchFamily="34" charset="-122"/>
                <a:cs typeface="Arial" pitchFamily="34" charset="-120"/>
              </a:rPr>
              <a:t>0.41</a:t>
            </a:r>
            <a:endParaRPr lang="en-US" sz="4400" dirty="0"/>
          </a:p>
        </p:txBody>
      </p:sp>
      <p:sp>
        <p:nvSpPr>
          <p:cNvPr id="27" name="Text 25"/>
          <p:cNvSpPr txBox="1"/>
          <p:nvPr/>
        </p:nvSpPr>
        <p:spPr>
          <a:xfrm>
            <a:off x="7315200" y="5120640"/>
            <a:ext cx="4114800" cy="365760"/>
          </a:xfrm>
          <a:prstGeom prst="rect">
            <a:avLst/>
          </a:prstGeom>
          <a:noFill/>
          <a:ln/>
        </p:spPr>
        <p:txBody>
          <a:bodyPr wrap="square" lIns="0" tIns="0" rIns="0" bIns="0" rtlCol="0" anchor="t"/>
          <a:lstStyle/>
          <a:p>
            <a:pPr indent="0" marL="0">
              <a:buNone/>
            </a:pPr>
            <a:r>
              <a:rPr lang="en-US" sz="1400" dirty="0">
                <a:solidFill>
                  <a:schemeClr val="tx2"/>
                </a:solidFill>
              </a:rPr>
              <a:t>barely at first, much more after the campaign</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What we learned</a:t>
            </a:r>
            <a:endParaRPr lang="en-US" sz="3400" dirty="0"/>
          </a:p>
        </p:txBody>
      </p:sp>
      <p:sp>
        <p:nvSpPr>
          <p:cNvPr id="3" name="Text 1"/>
          <p:cNvSpPr txBox="1"/>
          <p:nvPr/>
        </p:nvSpPr>
        <p:spPr>
          <a:xfrm>
            <a:off x="548640" y="1325880"/>
            <a:ext cx="5440680" cy="365760"/>
          </a:xfrm>
          <a:prstGeom prst="rect">
            <a:avLst/>
          </a:prstGeom>
          <a:noFill/>
          <a:ln/>
        </p:spPr>
        <p:txBody>
          <a:bodyPr wrap="square" lIns="0" tIns="0" rIns="0" bIns="0" rtlCol="0" anchor="t"/>
          <a:lstStyle/>
          <a:p>
            <a:pPr indent="0" marL="0">
              <a:buNone/>
            </a:pPr>
            <a:r>
              <a:rPr lang="en-US" sz="1800" b="1" dirty="0">
                <a:solidFill>
                  <a:schemeClr val="accent2"/>
                </a:solidFill>
              </a:rPr>
              <a:t>About students</a:t>
            </a:r>
            <a:endParaRPr lang="en-US" sz="1800" dirty="0"/>
          </a:p>
        </p:txBody>
      </p:sp>
      <p:sp>
        <p:nvSpPr>
          <p:cNvPr id="4" name="card"/>
          <p:cNvSpPr/>
          <p:nvPr/>
        </p:nvSpPr>
        <p:spPr>
          <a:xfrm>
            <a:off x="548640" y="1783080"/>
            <a:ext cx="5440680" cy="1298448"/>
          </a:xfrm>
          <a:prstGeom prst="roundRect">
            <a:avLst>
              <a:gd name="adj" fmla="val 7042"/>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5" name="icon-bg-chart"/>
          <p:cNvSpPr/>
          <p:nvPr/>
        </p:nvSpPr>
        <p:spPr>
          <a:xfrm>
            <a:off x="777240" y="2057400"/>
            <a:ext cx="640080" cy="640080"/>
          </a:xfrm>
          <a:prstGeom prst="ellipse">
            <a:avLst/>
          </a:prstGeom>
          <a:solidFill>
            <a:schemeClr val="accent2">
              <a:alpha val="18000"/>
            </a:schemeClr>
          </a:solidFill>
          <a:ln/>
        </p:spPr>
      </p:sp>
      <p:pic>
        <p:nvPicPr>
          <p:cNvPr id="6" name="icon-chart" descr="preencoded.png">    </p:cNvPr>
          <p:cNvPicPr>
            <a:picLocks noChangeAspect="1"/>
          </p:cNvPicPr>
          <p:nvPr/>
        </p:nvPicPr>
        <p:blipFill>
          <a:blip r:embed="rId1"/>
          <a:stretch>
            <a:fillRect/>
          </a:stretch>
        </p:blipFill>
        <p:spPr>
          <a:xfrm>
            <a:off x="918058" y="2198218"/>
            <a:ext cx="358445" cy="358445"/>
          </a:xfrm>
          <a:prstGeom prst="rect">
            <a:avLst/>
          </a:prstGeom>
        </p:spPr>
      </p:pic>
      <p:sp>
        <p:nvSpPr>
          <p:cNvPr id="7" name="Text 4"/>
          <p:cNvSpPr txBox="1"/>
          <p:nvPr/>
        </p:nvSpPr>
        <p:spPr>
          <a:xfrm>
            <a:off x="1645920" y="1984248"/>
            <a:ext cx="4160520" cy="365760"/>
          </a:xfrm>
          <a:prstGeom prst="rect">
            <a:avLst/>
          </a:prstGeom>
          <a:noFill/>
          <a:ln/>
        </p:spPr>
        <p:txBody>
          <a:bodyPr wrap="square" lIns="0" tIns="0" rIns="0" bIns="0" rtlCol="0" anchor="t"/>
          <a:lstStyle/>
          <a:p>
            <a:pPr indent="0" marL="0">
              <a:buNone/>
            </a:pPr>
            <a:r>
              <a:rPr lang="en-US" sz="1700" b="1" dirty="0">
                <a:solidFill>
                  <a:schemeClr val="tx1"/>
                </a:solidFill>
              </a:rPr>
              <a:t>Confidence isn't competence</a:t>
            </a:r>
            <a:endParaRPr lang="en-US" sz="1700" dirty="0"/>
          </a:p>
        </p:txBody>
      </p:sp>
      <p:sp>
        <p:nvSpPr>
          <p:cNvPr id="8" name="Text 5"/>
          <p:cNvSpPr txBox="1"/>
          <p:nvPr/>
        </p:nvSpPr>
        <p:spPr>
          <a:xfrm>
            <a:off x="1645920" y="2377440"/>
            <a:ext cx="4160520" cy="594360"/>
          </a:xfrm>
          <a:prstGeom prst="rect">
            <a:avLst/>
          </a:prstGeom>
          <a:noFill/>
          <a:ln/>
        </p:spPr>
        <p:txBody>
          <a:bodyPr wrap="square" lIns="0" tIns="0" rIns="0" bIns="0" rtlCol="0" anchor="t"/>
          <a:lstStyle/>
          <a:p>
            <a:pPr indent="0" marL="0">
              <a:buNone/>
            </a:pPr>
            <a:r>
              <a:rPr lang="en-US" sz="1300" dirty="0">
                <a:solidFill>
                  <a:schemeClr val="tx2"/>
                </a:solidFill>
              </a:rPr>
              <a:t>Students overestimate themselves, so awareness has to start by showing the gap</a:t>
            </a:r>
            <a:endParaRPr lang="en-US" sz="1300" dirty="0"/>
          </a:p>
        </p:txBody>
      </p:sp>
      <p:sp>
        <p:nvSpPr>
          <p:cNvPr id="9" name="card"/>
          <p:cNvSpPr/>
          <p:nvPr/>
        </p:nvSpPr>
        <p:spPr>
          <a:xfrm>
            <a:off x="548640" y="3246120"/>
            <a:ext cx="5440680" cy="1298448"/>
          </a:xfrm>
          <a:prstGeom prst="roundRect">
            <a:avLst>
              <a:gd name="adj" fmla="val 7042"/>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10" name="icon-bg-lock"/>
          <p:cNvSpPr/>
          <p:nvPr/>
        </p:nvSpPr>
        <p:spPr>
          <a:xfrm>
            <a:off x="777240" y="3520440"/>
            <a:ext cx="640080" cy="640080"/>
          </a:xfrm>
          <a:prstGeom prst="ellipse">
            <a:avLst/>
          </a:prstGeom>
          <a:solidFill>
            <a:schemeClr val="accent2">
              <a:alpha val="18000"/>
            </a:schemeClr>
          </a:solidFill>
          <a:ln/>
        </p:spPr>
      </p:sp>
      <p:pic>
        <p:nvPicPr>
          <p:cNvPr id="11" name="icon-lock" descr="preencoded.png">    </p:cNvPr>
          <p:cNvPicPr>
            <a:picLocks noChangeAspect="1"/>
          </p:cNvPicPr>
          <p:nvPr/>
        </p:nvPicPr>
        <p:blipFill>
          <a:blip r:embed="rId2"/>
          <a:stretch>
            <a:fillRect/>
          </a:stretch>
        </p:blipFill>
        <p:spPr>
          <a:xfrm>
            <a:off x="918058" y="3661258"/>
            <a:ext cx="358445" cy="358445"/>
          </a:xfrm>
          <a:prstGeom prst="rect">
            <a:avLst/>
          </a:prstGeom>
        </p:spPr>
      </p:pic>
      <p:sp>
        <p:nvSpPr>
          <p:cNvPr id="12" name="Text 8"/>
          <p:cNvSpPr txBox="1"/>
          <p:nvPr/>
        </p:nvSpPr>
        <p:spPr>
          <a:xfrm>
            <a:off x="1645920" y="3447288"/>
            <a:ext cx="4160520" cy="365760"/>
          </a:xfrm>
          <a:prstGeom prst="rect">
            <a:avLst/>
          </a:prstGeom>
          <a:noFill/>
          <a:ln/>
        </p:spPr>
        <p:txBody>
          <a:bodyPr wrap="square" lIns="0" tIns="0" rIns="0" bIns="0" rtlCol="0" anchor="t"/>
          <a:lstStyle/>
          <a:p>
            <a:pPr indent="0" marL="0">
              <a:buNone/>
            </a:pPr>
            <a:r>
              <a:rPr lang="en-US" sz="1700" b="1" dirty="0">
                <a:solidFill>
                  <a:schemeClr val="tx1"/>
                </a:solidFill>
              </a:rPr>
              <a:t>Symbols and habits are the weak spot</a:t>
            </a:r>
            <a:endParaRPr lang="en-US" sz="1700" dirty="0"/>
          </a:p>
        </p:txBody>
      </p:sp>
      <p:sp>
        <p:nvSpPr>
          <p:cNvPr id="13" name="Text 9"/>
          <p:cNvSpPr txBox="1"/>
          <p:nvPr/>
        </p:nvSpPr>
        <p:spPr>
          <a:xfrm>
            <a:off x="1645920" y="3840480"/>
            <a:ext cx="4160520" cy="594360"/>
          </a:xfrm>
          <a:prstGeom prst="rect">
            <a:avLst/>
          </a:prstGeom>
          <a:noFill/>
          <a:ln/>
        </p:spPr>
        <p:txBody>
          <a:bodyPr wrap="square" lIns="0" tIns="0" rIns="0" bIns="0" rtlCol="0" anchor="t"/>
          <a:lstStyle/>
          <a:p>
            <a:pPr indent="0" marL="0">
              <a:buNone/>
            </a:pPr>
            <a:r>
              <a:rPr lang="en-US" sz="1300" dirty="0">
                <a:solidFill>
                  <a:schemeClr val="tx2"/>
                </a:solidFill>
              </a:rPr>
              <a:t>The padlock and skimmed URLs fool people more than obvious scams do</a:t>
            </a:r>
            <a:endParaRPr lang="en-US" sz="1300" dirty="0"/>
          </a:p>
        </p:txBody>
      </p:sp>
      <p:sp>
        <p:nvSpPr>
          <p:cNvPr id="14" name="card"/>
          <p:cNvSpPr/>
          <p:nvPr/>
        </p:nvSpPr>
        <p:spPr>
          <a:xfrm>
            <a:off x="548640" y="4709160"/>
            <a:ext cx="5440680" cy="1298448"/>
          </a:xfrm>
          <a:prstGeom prst="roundRect">
            <a:avLst>
              <a:gd name="adj" fmla="val 7042"/>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15" name="icon-bg-alert"/>
          <p:cNvSpPr/>
          <p:nvPr/>
        </p:nvSpPr>
        <p:spPr>
          <a:xfrm>
            <a:off x="777240" y="4983480"/>
            <a:ext cx="640080" cy="640080"/>
          </a:xfrm>
          <a:prstGeom prst="ellipse">
            <a:avLst/>
          </a:prstGeom>
          <a:solidFill>
            <a:schemeClr val="accent2">
              <a:alpha val="18000"/>
            </a:schemeClr>
          </a:solidFill>
          <a:ln/>
        </p:spPr>
      </p:sp>
      <p:pic>
        <p:nvPicPr>
          <p:cNvPr id="16" name="icon-alert" descr="preencoded.png">    </p:cNvPr>
          <p:cNvPicPr>
            <a:picLocks noChangeAspect="1"/>
          </p:cNvPicPr>
          <p:nvPr/>
        </p:nvPicPr>
        <p:blipFill>
          <a:blip r:embed="rId3"/>
          <a:stretch>
            <a:fillRect/>
          </a:stretch>
        </p:blipFill>
        <p:spPr>
          <a:xfrm>
            <a:off x="918058" y="5124298"/>
            <a:ext cx="358445" cy="358445"/>
          </a:xfrm>
          <a:prstGeom prst="rect">
            <a:avLst/>
          </a:prstGeom>
        </p:spPr>
      </p:pic>
      <p:sp>
        <p:nvSpPr>
          <p:cNvPr id="17" name="Text 12"/>
          <p:cNvSpPr txBox="1"/>
          <p:nvPr/>
        </p:nvSpPr>
        <p:spPr>
          <a:xfrm>
            <a:off x="1645920" y="4910328"/>
            <a:ext cx="4160520" cy="365760"/>
          </a:xfrm>
          <a:prstGeom prst="rect">
            <a:avLst/>
          </a:prstGeom>
          <a:noFill/>
          <a:ln/>
        </p:spPr>
        <p:txBody>
          <a:bodyPr wrap="square" lIns="0" tIns="0" rIns="0" bIns="0" rtlCol="0" anchor="t"/>
          <a:lstStyle/>
          <a:p>
            <a:pPr indent="0" marL="0">
              <a:buNone/>
            </a:pPr>
            <a:r>
              <a:rPr lang="en-US" sz="1700" b="1" dirty="0">
                <a:solidFill>
                  <a:schemeClr val="tx1"/>
                </a:solidFill>
              </a:rPr>
              <a:t>Acting after a mistake is hardest</a:t>
            </a:r>
            <a:endParaRPr lang="en-US" sz="1700" dirty="0"/>
          </a:p>
        </p:txBody>
      </p:sp>
      <p:sp>
        <p:nvSpPr>
          <p:cNvPr id="18" name="Text 13"/>
          <p:cNvSpPr txBox="1"/>
          <p:nvPr/>
        </p:nvSpPr>
        <p:spPr>
          <a:xfrm>
            <a:off x="1645920" y="5303520"/>
            <a:ext cx="4160520" cy="594360"/>
          </a:xfrm>
          <a:prstGeom prst="rect">
            <a:avLst/>
          </a:prstGeom>
          <a:noFill/>
          <a:ln/>
        </p:spPr>
        <p:txBody>
          <a:bodyPr wrap="square" lIns="0" tIns="0" rIns="0" bIns="0" rtlCol="0" anchor="t"/>
          <a:lstStyle/>
          <a:p>
            <a:pPr indent="0" marL="0">
              <a:buNone/>
            </a:pPr>
            <a:r>
              <a:rPr lang="en-US" sz="1300" dirty="0">
                <a:solidFill>
                  <a:schemeClr val="tx2"/>
                </a:solidFill>
              </a:rPr>
              <a:t>"What now?" barely improved; inaction needs its own content</a:t>
            </a:r>
            <a:endParaRPr lang="en-US" sz="1300" dirty="0"/>
          </a:p>
        </p:txBody>
      </p:sp>
      <p:sp>
        <p:nvSpPr>
          <p:cNvPr id="19" name="Text 14"/>
          <p:cNvSpPr txBox="1"/>
          <p:nvPr/>
        </p:nvSpPr>
        <p:spPr>
          <a:xfrm>
            <a:off x="6199632" y="1325880"/>
            <a:ext cx="5440680" cy="365760"/>
          </a:xfrm>
          <a:prstGeom prst="rect">
            <a:avLst/>
          </a:prstGeom>
          <a:noFill/>
          <a:ln/>
        </p:spPr>
        <p:txBody>
          <a:bodyPr wrap="square" lIns="0" tIns="0" rIns="0" bIns="0" rtlCol="0" anchor="t"/>
          <a:lstStyle/>
          <a:p>
            <a:pPr indent="0" marL="0">
              <a:buNone/>
            </a:pPr>
            <a:r>
              <a:rPr lang="en-US" sz="1800" b="1" dirty="0">
                <a:solidFill>
                  <a:schemeClr val="accent3"/>
                </a:solidFill>
              </a:rPr>
              <a:t>About running a campaign</a:t>
            </a:r>
            <a:endParaRPr lang="en-US" sz="1800" dirty="0"/>
          </a:p>
        </p:txBody>
      </p:sp>
      <p:sp>
        <p:nvSpPr>
          <p:cNvPr id="20" name="card"/>
          <p:cNvSpPr/>
          <p:nvPr/>
        </p:nvSpPr>
        <p:spPr>
          <a:xfrm>
            <a:off x="6199632" y="1783080"/>
            <a:ext cx="5440680" cy="1298448"/>
          </a:xfrm>
          <a:prstGeom prst="roundRect">
            <a:avLst>
              <a:gd name="adj" fmla="val 7042"/>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21" name="icon-bg-users"/>
          <p:cNvSpPr/>
          <p:nvPr/>
        </p:nvSpPr>
        <p:spPr>
          <a:xfrm>
            <a:off x="6428232" y="2057400"/>
            <a:ext cx="640080" cy="640080"/>
          </a:xfrm>
          <a:prstGeom prst="ellipse">
            <a:avLst/>
          </a:prstGeom>
          <a:solidFill>
            <a:schemeClr val="accent3">
              <a:alpha val="18000"/>
            </a:schemeClr>
          </a:solidFill>
          <a:ln/>
        </p:spPr>
      </p:sp>
      <p:pic>
        <p:nvPicPr>
          <p:cNvPr id="22" name="icon-users" descr="preencoded.png">    </p:cNvPr>
          <p:cNvPicPr>
            <a:picLocks noChangeAspect="1"/>
          </p:cNvPicPr>
          <p:nvPr/>
        </p:nvPicPr>
        <p:blipFill>
          <a:blip r:embed="rId4"/>
          <a:stretch>
            <a:fillRect/>
          </a:stretch>
        </p:blipFill>
        <p:spPr>
          <a:xfrm>
            <a:off x="6569050" y="2198218"/>
            <a:ext cx="358445" cy="358445"/>
          </a:xfrm>
          <a:prstGeom prst="rect">
            <a:avLst/>
          </a:prstGeom>
        </p:spPr>
      </p:pic>
      <p:sp>
        <p:nvSpPr>
          <p:cNvPr id="23" name="Text 17"/>
          <p:cNvSpPr txBox="1"/>
          <p:nvPr/>
        </p:nvSpPr>
        <p:spPr>
          <a:xfrm>
            <a:off x="7296912" y="1984248"/>
            <a:ext cx="4160520" cy="365760"/>
          </a:xfrm>
          <a:prstGeom prst="rect">
            <a:avLst/>
          </a:prstGeom>
          <a:noFill/>
          <a:ln/>
        </p:spPr>
        <p:txBody>
          <a:bodyPr wrap="square" lIns="0" tIns="0" rIns="0" bIns="0" rtlCol="0" anchor="t"/>
          <a:lstStyle/>
          <a:p>
            <a:pPr indent="0" marL="0">
              <a:buNone/>
            </a:pPr>
            <a:r>
              <a:rPr lang="en-US" sz="1700" b="1" dirty="0">
                <a:solidFill>
                  <a:schemeClr val="tx1"/>
                </a:solidFill>
              </a:rPr>
              <a:t>Reach is the bottleneck</a:t>
            </a:r>
            <a:endParaRPr lang="en-US" sz="1700" dirty="0"/>
          </a:p>
        </p:txBody>
      </p:sp>
      <p:sp>
        <p:nvSpPr>
          <p:cNvPr id="24" name="Text 18"/>
          <p:cNvSpPr txBox="1"/>
          <p:nvPr/>
        </p:nvSpPr>
        <p:spPr>
          <a:xfrm>
            <a:off x="7296912" y="2377440"/>
            <a:ext cx="4160520" cy="594360"/>
          </a:xfrm>
          <a:prstGeom prst="rect">
            <a:avLst/>
          </a:prstGeom>
          <a:noFill/>
          <a:ln/>
        </p:spPr>
        <p:txBody>
          <a:bodyPr wrap="square" lIns="0" tIns="0" rIns="0" bIns="0" rtlCol="0" anchor="t"/>
          <a:lstStyle/>
          <a:p>
            <a:pPr indent="0" marL="0">
              <a:buNone/>
            </a:pPr>
            <a:r>
              <a:rPr lang="en-US" sz="1300" dirty="0">
                <a:solidFill>
                  <a:schemeClr val="tx2"/>
                </a:solidFill>
              </a:rPr>
              <a:t>Good content on a 2-follower account reaches almost nobody; distribution needs a plan</a:t>
            </a:r>
            <a:endParaRPr lang="en-US" sz="1300" dirty="0"/>
          </a:p>
        </p:txBody>
      </p:sp>
      <p:sp>
        <p:nvSpPr>
          <p:cNvPr id="25" name="card"/>
          <p:cNvSpPr/>
          <p:nvPr/>
        </p:nvSpPr>
        <p:spPr>
          <a:xfrm>
            <a:off x="6199632" y="3246120"/>
            <a:ext cx="5440680" cy="1298448"/>
          </a:xfrm>
          <a:prstGeom prst="roundRect">
            <a:avLst>
              <a:gd name="adj" fmla="val 7042"/>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26" name="icon-bg-refresh"/>
          <p:cNvSpPr/>
          <p:nvPr/>
        </p:nvSpPr>
        <p:spPr>
          <a:xfrm>
            <a:off x="6428232" y="3520440"/>
            <a:ext cx="640080" cy="640080"/>
          </a:xfrm>
          <a:prstGeom prst="ellipse">
            <a:avLst/>
          </a:prstGeom>
          <a:solidFill>
            <a:schemeClr val="accent3">
              <a:alpha val="18000"/>
            </a:schemeClr>
          </a:solidFill>
          <a:ln/>
        </p:spPr>
      </p:sp>
      <p:pic>
        <p:nvPicPr>
          <p:cNvPr id="27" name="icon-refresh" descr="preencoded.png">    </p:cNvPr>
          <p:cNvPicPr>
            <a:picLocks noChangeAspect="1"/>
          </p:cNvPicPr>
          <p:nvPr/>
        </p:nvPicPr>
        <p:blipFill>
          <a:blip r:embed="rId5"/>
          <a:stretch>
            <a:fillRect/>
          </a:stretch>
        </p:blipFill>
        <p:spPr>
          <a:xfrm>
            <a:off x="6569050" y="3661258"/>
            <a:ext cx="358445" cy="358445"/>
          </a:xfrm>
          <a:prstGeom prst="rect">
            <a:avLst/>
          </a:prstGeom>
        </p:spPr>
      </p:pic>
      <p:sp>
        <p:nvSpPr>
          <p:cNvPr id="28" name="Text 21"/>
          <p:cNvSpPr txBox="1"/>
          <p:nvPr/>
        </p:nvSpPr>
        <p:spPr>
          <a:xfrm>
            <a:off x="7296912" y="3447288"/>
            <a:ext cx="4160520" cy="365760"/>
          </a:xfrm>
          <a:prstGeom prst="rect">
            <a:avLst/>
          </a:prstGeom>
          <a:noFill/>
          <a:ln/>
        </p:spPr>
        <p:txBody>
          <a:bodyPr wrap="square" lIns="0" tIns="0" rIns="0" bIns="0" rtlCol="0" anchor="t"/>
          <a:lstStyle/>
          <a:p>
            <a:pPr indent="0" marL="0">
              <a:buNone/>
            </a:pPr>
            <a:r>
              <a:rPr lang="en-US" sz="1700" b="1" dirty="0">
                <a:solidFill>
                  <a:schemeClr val="tx1"/>
                </a:solidFill>
              </a:rPr>
              <a:t>Measure what you teach</a:t>
            </a:r>
            <a:endParaRPr lang="en-US" sz="1700" dirty="0"/>
          </a:p>
        </p:txBody>
      </p:sp>
      <p:sp>
        <p:nvSpPr>
          <p:cNvPr id="29" name="Text 22"/>
          <p:cNvSpPr txBox="1"/>
          <p:nvPr/>
        </p:nvSpPr>
        <p:spPr>
          <a:xfrm>
            <a:off x="7296912" y="3840480"/>
            <a:ext cx="4160520" cy="594360"/>
          </a:xfrm>
          <a:prstGeom prst="rect">
            <a:avLst/>
          </a:prstGeom>
          <a:noFill/>
          <a:ln/>
        </p:spPr>
        <p:txBody>
          <a:bodyPr wrap="square" lIns="0" tIns="0" rIns="0" bIns="0" rtlCol="0" anchor="t"/>
          <a:lstStyle/>
          <a:p>
            <a:pPr indent="0" marL="0">
              <a:buNone/>
            </a:pPr>
            <a:r>
              <a:rPr lang="en-US" sz="1300" dirty="0">
                <a:solidFill>
                  <a:schemeClr val="tx2"/>
                </a:solidFill>
              </a:rPr>
              <a:t>Mapping questions to content and traits revealed the padlock gap</a:t>
            </a:r>
            <a:endParaRPr lang="en-US" sz="1300" dirty="0"/>
          </a:p>
        </p:txBody>
      </p:sp>
      <p:sp>
        <p:nvSpPr>
          <p:cNvPr id="30" name="card"/>
          <p:cNvSpPr/>
          <p:nvPr/>
        </p:nvSpPr>
        <p:spPr>
          <a:xfrm>
            <a:off x="6199632" y="4709160"/>
            <a:ext cx="5440680" cy="1298448"/>
          </a:xfrm>
          <a:prstGeom prst="roundRect">
            <a:avLst>
              <a:gd name="adj" fmla="val 7042"/>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31" name="icon-bg-shield"/>
          <p:cNvSpPr/>
          <p:nvPr/>
        </p:nvSpPr>
        <p:spPr>
          <a:xfrm>
            <a:off x="6428232" y="4983480"/>
            <a:ext cx="640080" cy="640080"/>
          </a:xfrm>
          <a:prstGeom prst="ellipse">
            <a:avLst/>
          </a:prstGeom>
          <a:solidFill>
            <a:schemeClr val="accent3">
              <a:alpha val="18000"/>
            </a:schemeClr>
          </a:solidFill>
          <a:ln/>
        </p:spPr>
      </p:sp>
      <p:pic>
        <p:nvPicPr>
          <p:cNvPr id="32" name="icon-shield" descr="preencoded.png">    </p:cNvPr>
          <p:cNvPicPr>
            <a:picLocks noChangeAspect="1"/>
          </p:cNvPicPr>
          <p:nvPr/>
        </p:nvPicPr>
        <p:blipFill>
          <a:blip r:embed="rId6"/>
          <a:stretch>
            <a:fillRect/>
          </a:stretch>
        </p:blipFill>
        <p:spPr>
          <a:xfrm>
            <a:off x="6569050" y="5124298"/>
            <a:ext cx="358445" cy="358445"/>
          </a:xfrm>
          <a:prstGeom prst="rect">
            <a:avLst/>
          </a:prstGeom>
        </p:spPr>
      </p:pic>
      <p:sp>
        <p:nvSpPr>
          <p:cNvPr id="33" name="Text 25"/>
          <p:cNvSpPr txBox="1"/>
          <p:nvPr/>
        </p:nvSpPr>
        <p:spPr>
          <a:xfrm>
            <a:off x="7296912" y="4910328"/>
            <a:ext cx="4160520" cy="365760"/>
          </a:xfrm>
          <a:prstGeom prst="rect">
            <a:avLst/>
          </a:prstGeom>
          <a:noFill/>
          <a:ln/>
        </p:spPr>
        <p:txBody>
          <a:bodyPr wrap="square" lIns="0" tIns="0" rIns="0" bIns="0" rtlCol="0" anchor="t"/>
          <a:lstStyle/>
          <a:p>
            <a:pPr indent="0" marL="0">
              <a:buNone/>
            </a:pPr>
            <a:r>
              <a:rPr lang="en-US" sz="1700" b="1" dirty="0">
                <a:solidFill>
                  <a:schemeClr val="tx1"/>
                </a:solidFill>
              </a:rPr>
              <a:t>Ethics shape the design</a:t>
            </a:r>
            <a:endParaRPr lang="en-US" sz="1700" dirty="0"/>
          </a:p>
        </p:txBody>
      </p:sp>
      <p:sp>
        <p:nvSpPr>
          <p:cNvPr id="34" name="Text 26"/>
          <p:cNvSpPr txBox="1"/>
          <p:nvPr/>
        </p:nvSpPr>
        <p:spPr>
          <a:xfrm>
            <a:off x="7296912" y="5303520"/>
            <a:ext cx="4160520" cy="594360"/>
          </a:xfrm>
          <a:prstGeom prst="rect">
            <a:avLst/>
          </a:prstGeom>
          <a:noFill/>
          <a:ln/>
        </p:spPr>
        <p:txBody>
          <a:bodyPr wrap="square" lIns="0" tIns="0" rIns="0" bIns="0" rtlCol="0" anchor="t"/>
          <a:lstStyle/>
          <a:p>
            <a:pPr indent="0" marL="0">
              <a:buNone/>
            </a:pPr>
            <a:r>
              <a:rPr lang="en-US" sz="1300" dirty="0">
                <a:solidFill>
                  <a:schemeClr val="tx2"/>
                </a:solidFill>
              </a:rPr>
              <a:t>Anonymity, consent and "no answers shown" changed how we built everything</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How effective was the program?</a:t>
            </a:r>
            <a:endParaRPr lang="en-US" sz="3400" dirty="0"/>
          </a:p>
        </p:txBody>
      </p:sp>
      <p:sp>
        <p:nvSpPr>
          <p:cNvPr id="3" name="tag"/>
          <p:cNvSpPr txBox="1"/>
          <p:nvPr/>
        </p:nvSpPr>
        <p:spPr>
          <a:xfrm rot="90000">
            <a:off x="7452360" y="457200"/>
            <a:ext cx="4206240" cy="457200"/>
          </a:xfrm>
          <a:prstGeom prst="rect">
            <a:avLst/>
          </a:prstGeom>
          <a:solidFill>
            <a:schemeClr val="accent1"/>
          </a:solidFill>
          <a:ln/>
          <a:effectLst>
            <a:outerShdw sx="100000" sy="100000" kx="0" ky="0" algn="bl" rotWithShape="0" blurRad="76200" dist="25400" dir="5400000">
              <a:srgbClr val="14213D">
                <a:alpha val="18000"/>
              </a:srgbClr>
            </a:outerShdw>
          </a:effectLst>
        </p:spPr>
        <p:txBody>
          <a:bodyPr wrap="square" lIns="50800" tIns="127000" rIns="127000" bIns="50800" rtlCol="0" anchor="ctr"/>
          <a:lstStyle/>
          <a:p>
            <a:pPr algn="l" indent="0" marL="0">
              <a:buNone/>
            </a:pPr>
            <a:r>
              <a:rPr lang="en-US" sz="1200" b="1" dirty="0">
                <a:solidFill>
                  <a:schemeClr val="tx1"/>
                </a:solidFill>
              </a:rPr>
              <a:t>Demonstration of our analysis pipeline · live results to follow</a:t>
            </a:r>
            <a:endParaRPr lang="en-US" sz="1200" dirty="0"/>
          </a:p>
        </p:txBody>
      </p:sp>
      <p:sp>
        <p:nvSpPr>
          <p:cNvPr id="4" name="card"/>
          <p:cNvSpPr/>
          <p:nvPr/>
        </p:nvSpPr>
        <p:spPr>
          <a:xfrm>
            <a:off x="548640" y="1371600"/>
            <a:ext cx="7406640" cy="685800"/>
          </a:xfrm>
          <a:prstGeom prst="roundRect">
            <a:avLst>
              <a:gd name="adj" fmla="val 13333"/>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5" name="Text 3"/>
          <p:cNvSpPr txBox="1"/>
          <p:nvPr/>
        </p:nvSpPr>
        <p:spPr>
          <a:xfrm>
            <a:off x="777240" y="1463040"/>
            <a:ext cx="2377440" cy="502920"/>
          </a:xfrm>
          <a:prstGeom prst="rect">
            <a:avLst/>
          </a:prstGeom>
          <a:noFill/>
          <a:ln/>
        </p:spPr>
        <p:txBody>
          <a:bodyPr wrap="square" lIns="0" tIns="0" rIns="0" bIns="0" rtlCol="0" anchor="ctr"/>
          <a:lstStyle/>
          <a:p>
            <a:pPr indent="0" marL="0">
              <a:buNone/>
            </a:pPr>
            <a:r>
              <a:rPr lang="en-US" sz="1500" b="1" dirty="0">
                <a:solidFill>
                  <a:schemeClr val="tx1"/>
                </a:solidFill>
              </a:rPr>
              <a:t>Knowledge</a:t>
            </a:r>
            <a:endParaRPr lang="en-US" sz="1500" dirty="0"/>
          </a:p>
        </p:txBody>
      </p:sp>
      <p:sp>
        <p:nvSpPr>
          <p:cNvPr id="6" name="chip"/>
          <p:cNvSpPr txBox="1"/>
          <p:nvPr/>
        </p:nvSpPr>
        <p:spPr>
          <a:xfrm>
            <a:off x="3200400" y="1527048"/>
            <a:ext cx="1188720" cy="384048"/>
          </a:xfrm>
          <a:prstGeom prst="roundRect">
            <a:avLst>
              <a:gd name="adj" fmla="val 119048"/>
            </a:avLst>
          </a:prstGeom>
          <a:solidFill>
            <a:schemeClr val="accent1"/>
          </a:solidFill>
          <a:ln/>
        </p:spPr>
        <p:txBody>
          <a:bodyPr wrap="square" lIns="0" tIns="101600" rIns="101600" bIns="0" rtlCol="0" anchor="ctr"/>
          <a:lstStyle/>
          <a:p>
            <a:pPr algn="ctr" indent="0" marL="0">
              <a:buNone/>
            </a:pPr>
            <a:r>
              <a:rPr lang="en-US" sz="1200" b="1" dirty="0">
                <a:solidFill>
                  <a:schemeClr val="tx1"/>
                </a:solidFill>
              </a:rPr>
              <a:t>Moderate</a:t>
            </a:r>
            <a:endParaRPr lang="en-US" sz="1200" dirty="0"/>
          </a:p>
        </p:txBody>
      </p:sp>
      <p:sp>
        <p:nvSpPr>
          <p:cNvPr id="7" name="Text 5"/>
          <p:cNvSpPr txBox="1"/>
          <p:nvPr/>
        </p:nvSpPr>
        <p:spPr>
          <a:xfrm>
            <a:off x="4572000" y="1463040"/>
            <a:ext cx="3246120" cy="502920"/>
          </a:xfrm>
          <a:prstGeom prst="rect">
            <a:avLst/>
          </a:prstGeom>
          <a:noFill/>
          <a:ln/>
        </p:spPr>
        <p:txBody>
          <a:bodyPr wrap="square" lIns="0" tIns="0" rIns="0" bIns="0" rtlCol="0" anchor="ctr"/>
          <a:lstStyle/>
          <a:p>
            <a:pPr indent="0" marL="0">
              <a:buNone/>
            </a:pPr>
            <a:r>
              <a:rPr lang="en-US" sz="1300" dirty="0">
                <a:solidFill>
                  <a:schemeClr val="tx2"/>
                </a:solidFill>
              </a:rPr>
              <a:t>+1.18 points out of 10, d = 0.65; 31 of 42 improved</a:t>
            </a:r>
            <a:endParaRPr lang="en-US" sz="1300" dirty="0"/>
          </a:p>
        </p:txBody>
      </p:sp>
      <p:sp>
        <p:nvSpPr>
          <p:cNvPr id="8" name="card"/>
          <p:cNvSpPr/>
          <p:nvPr/>
        </p:nvSpPr>
        <p:spPr>
          <a:xfrm>
            <a:off x="548640" y="2167128"/>
            <a:ext cx="7406640" cy="685800"/>
          </a:xfrm>
          <a:prstGeom prst="roundRect">
            <a:avLst>
              <a:gd name="adj" fmla="val 13333"/>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9" name="Text 7"/>
          <p:cNvSpPr txBox="1"/>
          <p:nvPr/>
        </p:nvSpPr>
        <p:spPr>
          <a:xfrm>
            <a:off x="777240" y="2258568"/>
            <a:ext cx="2377440" cy="502920"/>
          </a:xfrm>
          <a:prstGeom prst="rect">
            <a:avLst/>
          </a:prstGeom>
          <a:noFill/>
          <a:ln/>
        </p:spPr>
        <p:txBody>
          <a:bodyPr wrap="square" lIns="0" tIns="0" rIns="0" bIns="0" rtlCol="0" anchor="ctr"/>
          <a:lstStyle/>
          <a:p>
            <a:pPr indent="0" marL="0">
              <a:buNone/>
            </a:pPr>
            <a:r>
              <a:rPr lang="en-US" sz="1500" b="1" dirty="0">
                <a:solidFill>
                  <a:schemeClr val="tx1"/>
                </a:solidFill>
              </a:rPr>
              <a:t>Human traits addressed</a:t>
            </a:r>
            <a:endParaRPr lang="en-US" sz="1500" dirty="0"/>
          </a:p>
        </p:txBody>
      </p:sp>
      <p:sp>
        <p:nvSpPr>
          <p:cNvPr id="10" name="chip"/>
          <p:cNvSpPr txBox="1"/>
          <p:nvPr/>
        </p:nvSpPr>
        <p:spPr>
          <a:xfrm>
            <a:off x="3200400" y="2322576"/>
            <a:ext cx="1188720" cy="384048"/>
          </a:xfrm>
          <a:prstGeom prst="roundRect">
            <a:avLst>
              <a:gd name="adj" fmla="val 119048"/>
            </a:avLst>
          </a:prstGeom>
          <a:solidFill>
            <a:schemeClr val="accent3"/>
          </a:solidFill>
          <a:ln/>
        </p:spPr>
        <p:txBody>
          <a:bodyPr wrap="square" lIns="0" tIns="101600" rIns="101600" bIns="0" rtlCol="0" anchor="ctr"/>
          <a:lstStyle/>
          <a:p>
            <a:pPr algn="ctr" indent="0" marL="0">
              <a:buNone/>
            </a:pPr>
            <a:r>
              <a:rPr lang="en-US" sz="1200" b="1" dirty="0">
                <a:solidFill>
                  <a:schemeClr val="bg1"/>
                </a:solidFill>
              </a:rPr>
              <a:t>Strong</a:t>
            </a:r>
            <a:endParaRPr lang="en-US" sz="1200" dirty="0"/>
          </a:p>
        </p:txBody>
      </p:sp>
      <p:sp>
        <p:nvSpPr>
          <p:cNvPr id="11" name="Text 9"/>
          <p:cNvSpPr txBox="1"/>
          <p:nvPr/>
        </p:nvSpPr>
        <p:spPr>
          <a:xfrm>
            <a:off x="4572000" y="2258568"/>
            <a:ext cx="3246120" cy="502920"/>
          </a:xfrm>
          <a:prstGeom prst="rect">
            <a:avLst/>
          </a:prstGeom>
          <a:noFill/>
          <a:ln/>
        </p:spPr>
        <p:txBody>
          <a:bodyPr wrap="square" lIns="0" tIns="0" rIns="0" bIns="0" rtlCol="0" anchor="ctr"/>
          <a:lstStyle/>
          <a:p>
            <a:pPr indent="0" marL="0">
              <a:buNone/>
            </a:pPr>
            <a:r>
              <a:rPr lang="en-US" sz="1300" dirty="0">
                <a:solidFill>
                  <a:schemeClr val="tx2"/>
                </a:solidFill>
              </a:rPr>
              <a:t>+14 to +19 points on authority, social trust, cues and attention</a:t>
            </a:r>
            <a:endParaRPr lang="en-US" sz="1300" dirty="0"/>
          </a:p>
        </p:txBody>
      </p:sp>
      <p:sp>
        <p:nvSpPr>
          <p:cNvPr id="12" name="card"/>
          <p:cNvSpPr/>
          <p:nvPr/>
        </p:nvSpPr>
        <p:spPr>
          <a:xfrm>
            <a:off x="548640" y="2962656"/>
            <a:ext cx="7406640" cy="685800"/>
          </a:xfrm>
          <a:prstGeom prst="roundRect">
            <a:avLst>
              <a:gd name="adj" fmla="val 13333"/>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13" name="Text 11"/>
          <p:cNvSpPr txBox="1"/>
          <p:nvPr/>
        </p:nvSpPr>
        <p:spPr>
          <a:xfrm>
            <a:off x="777240" y="3054096"/>
            <a:ext cx="2377440" cy="502920"/>
          </a:xfrm>
          <a:prstGeom prst="rect">
            <a:avLst/>
          </a:prstGeom>
          <a:noFill/>
          <a:ln/>
        </p:spPr>
        <p:txBody>
          <a:bodyPr wrap="square" lIns="0" tIns="0" rIns="0" bIns="0" rtlCol="0" anchor="ctr"/>
          <a:lstStyle/>
          <a:p>
            <a:pPr indent="0" marL="0">
              <a:buNone/>
            </a:pPr>
            <a:r>
              <a:rPr lang="en-US" sz="1500" b="1" dirty="0">
                <a:solidFill>
                  <a:schemeClr val="tx1"/>
                </a:solidFill>
              </a:rPr>
              <a:t>Self-awareness</a:t>
            </a:r>
            <a:endParaRPr lang="en-US" sz="1500" dirty="0"/>
          </a:p>
        </p:txBody>
      </p:sp>
      <p:sp>
        <p:nvSpPr>
          <p:cNvPr id="14" name="chip"/>
          <p:cNvSpPr txBox="1"/>
          <p:nvPr/>
        </p:nvSpPr>
        <p:spPr>
          <a:xfrm>
            <a:off x="3200400" y="3118104"/>
            <a:ext cx="1188720" cy="384048"/>
          </a:xfrm>
          <a:prstGeom prst="roundRect">
            <a:avLst>
              <a:gd name="adj" fmla="val 119048"/>
            </a:avLst>
          </a:prstGeom>
          <a:solidFill>
            <a:schemeClr val="accent3"/>
          </a:solidFill>
          <a:ln/>
        </p:spPr>
        <p:txBody>
          <a:bodyPr wrap="square" lIns="0" tIns="101600" rIns="101600" bIns="0" rtlCol="0" anchor="ctr"/>
          <a:lstStyle/>
          <a:p>
            <a:pPr algn="ctr" indent="0" marL="0">
              <a:buNone/>
            </a:pPr>
            <a:r>
              <a:rPr lang="en-US" sz="1200" b="1" dirty="0">
                <a:solidFill>
                  <a:schemeClr val="bg1"/>
                </a:solidFill>
              </a:rPr>
              <a:t>Strong</a:t>
            </a:r>
            <a:endParaRPr lang="en-US" sz="1200" dirty="0"/>
          </a:p>
        </p:txBody>
      </p:sp>
      <p:sp>
        <p:nvSpPr>
          <p:cNvPr id="15" name="Text 13"/>
          <p:cNvSpPr txBox="1"/>
          <p:nvPr/>
        </p:nvSpPr>
        <p:spPr>
          <a:xfrm>
            <a:off x="4572000" y="3054096"/>
            <a:ext cx="3246120" cy="502920"/>
          </a:xfrm>
          <a:prstGeom prst="rect">
            <a:avLst/>
          </a:prstGeom>
          <a:noFill/>
          <a:ln/>
        </p:spPr>
        <p:txBody>
          <a:bodyPr wrap="square" lIns="0" tIns="0" rIns="0" bIns="0" rtlCol="0" anchor="ctr"/>
          <a:lstStyle/>
          <a:p>
            <a:pPr indent="0" marL="0">
              <a:buNone/>
            </a:pPr>
            <a:r>
              <a:rPr lang="en-US" sz="1300" dirty="0">
                <a:solidFill>
                  <a:schemeClr val="tx2"/>
                </a:solidFill>
              </a:rPr>
              <a:t>Overconfidence fell from +1.44 to +0.43 questions</a:t>
            </a:r>
            <a:endParaRPr lang="en-US" sz="1300" dirty="0"/>
          </a:p>
        </p:txBody>
      </p:sp>
      <p:sp>
        <p:nvSpPr>
          <p:cNvPr id="16" name="card"/>
          <p:cNvSpPr/>
          <p:nvPr/>
        </p:nvSpPr>
        <p:spPr>
          <a:xfrm>
            <a:off x="548640" y="3758184"/>
            <a:ext cx="7406640" cy="685800"/>
          </a:xfrm>
          <a:prstGeom prst="roundRect">
            <a:avLst>
              <a:gd name="adj" fmla="val 13333"/>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17" name="Text 15"/>
          <p:cNvSpPr txBox="1"/>
          <p:nvPr/>
        </p:nvSpPr>
        <p:spPr>
          <a:xfrm>
            <a:off x="777240" y="3849624"/>
            <a:ext cx="2377440" cy="502920"/>
          </a:xfrm>
          <a:prstGeom prst="rect">
            <a:avLst/>
          </a:prstGeom>
          <a:noFill/>
          <a:ln/>
        </p:spPr>
        <p:txBody>
          <a:bodyPr wrap="square" lIns="0" tIns="0" rIns="0" bIns="0" rtlCol="0" anchor="ctr"/>
          <a:lstStyle/>
          <a:p>
            <a:pPr indent="0" marL="0">
              <a:buNone/>
            </a:pPr>
            <a:r>
              <a:rPr lang="en-US" sz="1500" b="1" dirty="0">
                <a:solidFill>
                  <a:schemeClr val="tx1"/>
                </a:solidFill>
              </a:rPr>
              <a:t>Acting after a mistake</a:t>
            </a:r>
            <a:endParaRPr lang="en-US" sz="1500" dirty="0"/>
          </a:p>
        </p:txBody>
      </p:sp>
      <p:sp>
        <p:nvSpPr>
          <p:cNvPr id="18" name="chip"/>
          <p:cNvSpPr txBox="1"/>
          <p:nvPr/>
        </p:nvSpPr>
        <p:spPr>
          <a:xfrm>
            <a:off x="3200400" y="3913632"/>
            <a:ext cx="1188720" cy="384048"/>
          </a:xfrm>
          <a:prstGeom prst="roundRect">
            <a:avLst>
              <a:gd name="adj" fmla="val 119048"/>
            </a:avLst>
          </a:prstGeom>
          <a:solidFill>
            <a:schemeClr val="accent2"/>
          </a:solidFill>
          <a:ln/>
        </p:spPr>
        <p:txBody>
          <a:bodyPr wrap="square" lIns="0" tIns="101600" rIns="101600" bIns="0" rtlCol="0" anchor="ctr"/>
          <a:lstStyle/>
          <a:p>
            <a:pPr algn="ctr" indent="0" marL="0">
              <a:buNone/>
            </a:pPr>
            <a:r>
              <a:rPr lang="en-US" sz="1200" b="1" dirty="0">
                <a:solidFill>
                  <a:schemeClr val="bg1"/>
                </a:solidFill>
              </a:rPr>
              <a:t>Weak</a:t>
            </a:r>
            <a:endParaRPr lang="en-US" sz="1200" dirty="0"/>
          </a:p>
        </p:txBody>
      </p:sp>
      <p:sp>
        <p:nvSpPr>
          <p:cNvPr id="19" name="Text 17"/>
          <p:cNvSpPr txBox="1"/>
          <p:nvPr/>
        </p:nvSpPr>
        <p:spPr>
          <a:xfrm>
            <a:off x="4572000" y="3849624"/>
            <a:ext cx="3246120" cy="502920"/>
          </a:xfrm>
          <a:prstGeom prst="rect">
            <a:avLst/>
          </a:prstGeom>
          <a:noFill/>
          <a:ln/>
        </p:spPr>
        <p:txBody>
          <a:bodyPr wrap="square" lIns="0" tIns="0" rIns="0" bIns="0" rtlCol="0" anchor="ctr"/>
          <a:lstStyle/>
          <a:p>
            <a:pPr indent="0" marL="0">
              <a:buNone/>
            </a:pPr>
            <a:r>
              <a:rPr lang="en-US" sz="1300" dirty="0">
                <a:solidFill>
                  <a:schemeClr val="tx2"/>
                </a:solidFill>
              </a:rPr>
              <a:t>Optimism &amp; inaction improved just +7 points</a:t>
            </a:r>
            <a:endParaRPr lang="en-US" sz="1300" dirty="0"/>
          </a:p>
        </p:txBody>
      </p:sp>
      <p:sp>
        <p:nvSpPr>
          <p:cNvPr id="20" name="card"/>
          <p:cNvSpPr/>
          <p:nvPr/>
        </p:nvSpPr>
        <p:spPr>
          <a:xfrm>
            <a:off x="548640" y="4553712"/>
            <a:ext cx="7406640" cy="685800"/>
          </a:xfrm>
          <a:prstGeom prst="roundRect">
            <a:avLst>
              <a:gd name="adj" fmla="val 13333"/>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21" name="Text 19"/>
          <p:cNvSpPr txBox="1"/>
          <p:nvPr/>
        </p:nvSpPr>
        <p:spPr>
          <a:xfrm>
            <a:off x="777240" y="4645152"/>
            <a:ext cx="2377440" cy="502920"/>
          </a:xfrm>
          <a:prstGeom prst="rect">
            <a:avLst/>
          </a:prstGeom>
          <a:noFill/>
          <a:ln/>
        </p:spPr>
        <p:txBody>
          <a:bodyPr wrap="square" lIns="0" tIns="0" rIns="0" bIns="0" rtlCol="0" anchor="ctr"/>
          <a:lstStyle/>
          <a:p>
            <a:pPr indent="0" marL="0">
              <a:buNone/>
            </a:pPr>
            <a:r>
              <a:rPr lang="en-US" sz="1500" b="1" dirty="0">
                <a:solidFill>
                  <a:schemeClr val="tx1"/>
                </a:solidFill>
              </a:rPr>
              <a:t>Reach &amp; engagement</a:t>
            </a:r>
            <a:endParaRPr lang="en-US" sz="1500" dirty="0"/>
          </a:p>
        </p:txBody>
      </p:sp>
      <p:sp>
        <p:nvSpPr>
          <p:cNvPr id="22" name="chip"/>
          <p:cNvSpPr txBox="1"/>
          <p:nvPr/>
        </p:nvSpPr>
        <p:spPr>
          <a:xfrm>
            <a:off x="3200400" y="4709160"/>
            <a:ext cx="1188720" cy="384048"/>
          </a:xfrm>
          <a:prstGeom prst="roundRect">
            <a:avLst>
              <a:gd name="adj" fmla="val 119048"/>
            </a:avLst>
          </a:prstGeom>
          <a:solidFill>
            <a:schemeClr val="accent2"/>
          </a:solidFill>
          <a:ln/>
        </p:spPr>
        <p:txBody>
          <a:bodyPr wrap="square" lIns="0" tIns="101600" rIns="101600" bIns="0" rtlCol="0" anchor="ctr"/>
          <a:lstStyle/>
          <a:p>
            <a:pPr algn="ctr" indent="0" marL="0">
              <a:buNone/>
            </a:pPr>
            <a:r>
              <a:rPr lang="en-US" sz="1200" b="1" dirty="0">
                <a:solidFill>
                  <a:schemeClr val="bg1"/>
                </a:solidFill>
              </a:rPr>
              <a:t>Weak</a:t>
            </a:r>
            <a:endParaRPr lang="en-US" sz="1200" dirty="0"/>
          </a:p>
        </p:txBody>
      </p:sp>
      <p:sp>
        <p:nvSpPr>
          <p:cNvPr id="23" name="Text 21"/>
          <p:cNvSpPr txBox="1"/>
          <p:nvPr/>
        </p:nvSpPr>
        <p:spPr>
          <a:xfrm>
            <a:off x="4572000" y="4645152"/>
            <a:ext cx="3246120" cy="502920"/>
          </a:xfrm>
          <a:prstGeom prst="rect">
            <a:avLst/>
          </a:prstGeom>
          <a:noFill/>
          <a:ln/>
        </p:spPr>
        <p:txBody>
          <a:bodyPr wrap="square" lIns="0" tIns="0" rIns="0" bIns="0" rtlCol="0" anchor="ctr"/>
          <a:lstStyle/>
          <a:p>
            <a:pPr indent="0" marL="0">
              <a:buNone/>
            </a:pPr>
            <a:r>
              <a:rPr lang="en-US" sz="1300" dirty="0">
                <a:solidFill>
                  <a:schemeClr val="tx2"/>
                </a:solidFill>
              </a:rPr>
              <a:t>2 followers, about 1 like per post so far</a:t>
            </a:r>
            <a:endParaRPr lang="en-US" sz="1300" dirty="0"/>
          </a:p>
        </p:txBody>
      </p:sp>
      <p:sp>
        <p:nvSpPr>
          <p:cNvPr id="24" name="card"/>
          <p:cNvSpPr/>
          <p:nvPr/>
        </p:nvSpPr>
        <p:spPr>
          <a:xfrm>
            <a:off x="548640" y="5349240"/>
            <a:ext cx="7406640" cy="685800"/>
          </a:xfrm>
          <a:prstGeom prst="roundRect">
            <a:avLst>
              <a:gd name="adj" fmla="val 13333"/>
            </a:avLst>
          </a:prstGeom>
          <a:solidFill>
            <a:schemeClr val="bg1"/>
          </a:solidFill>
          <a:ln w="9525">
            <a:solidFill>
              <a:schemeClr val="accent6"/>
            </a:solidFill>
            <a:prstDash val="solid"/>
          </a:ln>
          <a:effectLst>
            <a:outerShdw sx="100000" sy="100000" kx="0" ky="0" algn="bl" rotWithShape="0" blurRad="101600" dist="25400" dir="5400000">
              <a:srgbClr val="14213D">
                <a:alpha val="8000"/>
              </a:srgbClr>
            </a:outerShdw>
          </a:effectLst>
        </p:spPr>
      </p:sp>
      <p:sp>
        <p:nvSpPr>
          <p:cNvPr id="25" name="Text 23"/>
          <p:cNvSpPr txBox="1"/>
          <p:nvPr/>
        </p:nvSpPr>
        <p:spPr>
          <a:xfrm>
            <a:off x="777240" y="5440680"/>
            <a:ext cx="2377440" cy="502920"/>
          </a:xfrm>
          <a:prstGeom prst="rect">
            <a:avLst/>
          </a:prstGeom>
          <a:noFill/>
          <a:ln/>
        </p:spPr>
        <p:txBody>
          <a:bodyPr wrap="square" lIns="0" tIns="0" rIns="0" bIns="0" rtlCol="0" anchor="ctr"/>
          <a:lstStyle/>
          <a:p>
            <a:pPr indent="0" marL="0">
              <a:buNone/>
            </a:pPr>
            <a:r>
              <a:rPr lang="en-US" sz="1500" b="1" dirty="0">
                <a:solidFill>
                  <a:schemeClr val="tx1"/>
                </a:solidFill>
              </a:rPr>
              <a:t>Ethics &amp; data quality</a:t>
            </a:r>
            <a:endParaRPr lang="en-US" sz="1500" dirty="0"/>
          </a:p>
        </p:txBody>
      </p:sp>
      <p:sp>
        <p:nvSpPr>
          <p:cNvPr id="26" name="chip"/>
          <p:cNvSpPr txBox="1"/>
          <p:nvPr/>
        </p:nvSpPr>
        <p:spPr>
          <a:xfrm>
            <a:off x="3200400" y="5504688"/>
            <a:ext cx="1188720" cy="384048"/>
          </a:xfrm>
          <a:prstGeom prst="roundRect">
            <a:avLst>
              <a:gd name="adj" fmla="val 119048"/>
            </a:avLst>
          </a:prstGeom>
          <a:solidFill>
            <a:schemeClr val="accent3"/>
          </a:solidFill>
          <a:ln/>
        </p:spPr>
        <p:txBody>
          <a:bodyPr wrap="square" lIns="0" tIns="101600" rIns="101600" bIns="0" rtlCol="0" anchor="ctr"/>
          <a:lstStyle/>
          <a:p>
            <a:pPr algn="ctr" indent="0" marL="0">
              <a:buNone/>
            </a:pPr>
            <a:r>
              <a:rPr lang="en-US" sz="1200" b="1" dirty="0">
                <a:solidFill>
                  <a:schemeClr val="bg1"/>
                </a:solidFill>
              </a:rPr>
              <a:t>Strong</a:t>
            </a:r>
            <a:endParaRPr lang="en-US" sz="1200" dirty="0"/>
          </a:p>
        </p:txBody>
      </p:sp>
      <p:sp>
        <p:nvSpPr>
          <p:cNvPr id="27" name="Text 25"/>
          <p:cNvSpPr txBox="1"/>
          <p:nvPr/>
        </p:nvSpPr>
        <p:spPr>
          <a:xfrm>
            <a:off x="4572000" y="5440680"/>
            <a:ext cx="3246120" cy="502920"/>
          </a:xfrm>
          <a:prstGeom prst="rect">
            <a:avLst/>
          </a:prstGeom>
          <a:noFill/>
          <a:ln/>
        </p:spPr>
        <p:txBody>
          <a:bodyPr wrap="square" lIns="0" tIns="0" rIns="0" bIns="0" rtlCol="0" anchor="ctr"/>
          <a:lstStyle/>
          <a:p>
            <a:pPr indent="0" marL="0">
              <a:buNone/>
            </a:pPr>
            <a:r>
              <a:rPr lang="en-US" sz="1300" dirty="0">
                <a:solidFill>
                  <a:schemeClr val="tx2"/>
                </a:solidFill>
              </a:rPr>
              <a:t>Consent, anonymity, 184/184 figures verified</a:t>
            </a:r>
            <a:endParaRPr lang="en-US" sz="1300" dirty="0"/>
          </a:p>
        </p:txBody>
      </p:sp>
      <p:sp>
        <p:nvSpPr>
          <p:cNvPr id="28" name="card"/>
          <p:cNvSpPr/>
          <p:nvPr/>
        </p:nvSpPr>
        <p:spPr>
          <a:xfrm>
            <a:off x="8275320" y="1371600"/>
            <a:ext cx="3364992" cy="4681728"/>
          </a:xfrm>
          <a:prstGeom prst="roundRect">
            <a:avLst>
              <a:gd name="adj" fmla="val 2717"/>
            </a:avLst>
          </a:prstGeom>
          <a:solidFill>
            <a:schemeClr val="accent1"/>
          </a:solidFill>
          <a:ln/>
          <a:effectLst>
            <a:outerShdw sx="100000" sy="100000" kx="0" ky="0" algn="bl" rotWithShape="0" blurRad="101600" dist="25400" dir="5400000">
              <a:srgbClr val="14213D">
                <a:alpha val="8000"/>
              </a:srgbClr>
            </a:outerShdw>
          </a:effectLst>
        </p:spPr>
      </p:sp>
      <p:pic>
        <p:nvPicPr>
          <p:cNvPr id="29" name="logo" descr="preencoded.png">    </p:cNvPr>
          <p:cNvPicPr>
            <a:picLocks noChangeAspect="1"/>
          </p:cNvPicPr>
          <p:nvPr/>
        </p:nvPicPr>
        <p:blipFill>
          <a:blip r:embed="rId1"/>
          <a:stretch>
            <a:fillRect/>
          </a:stretch>
        </p:blipFill>
        <p:spPr>
          <a:xfrm>
            <a:off x="8549640" y="1645920"/>
            <a:ext cx="640080" cy="640080"/>
          </a:xfrm>
          <a:prstGeom prst="rect">
            <a:avLst/>
          </a:prstGeom>
        </p:spPr>
      </p:pic>
      <p:sp>
        <p:nvSpPr>
          <p:cNvPr id="30" name="Text 27"/>
          <p:cNvSpPr txBox="1"/>
          <p:nvPr/>
        </p:nvSpPr>
        <p:spPr>
          <a:xfrm>
            <a:off x="8549640" y="2514600"/>
            <a:ext cx="2834640" cy="274320"/>
          </a:xfrm>
          <a:prstGeom prst="rect">
            <a:avLst/>
          </a:prstGeom>
          <a:noFill/>
          <a:ln/>
        </p:spPr>
        <p:txBody>
          <a:bodyPr wrap="square" lIns="0" tIns="0" rIns="0" bIns="0" rtlCol="0" anchor="t"/>
          <a:lstStyle/>
          <a:p>
            <a:pPr indent="0" marL="0">
              <a:buNone/>
            </a:pPr>
            <a:r>
              <a:rPr lang="en-US" sz="1200" b="1" spc="200" kern="0" dirty="0">
                <a:solidFill>
                  <a:schemeClr val="tx1"/>
                </a:solidFill>
              </a:rPr>
              <a:t>OVERALL</a:t>
            </a:r>
            <a:endParaRPr lang="en-US" sz="1200" dirty="0"/>
          </a:p>
        </p:txBody>
      </p:sp>
      <p:sp>
        <p:nvSpPr>
          <p:cNvPr id="31" name="Text 28"/>
          <p:cNvSpPr txBox="1"/>
          <p:nvPr/>
        </p:nvSpPr>
        <p:spPr>
          <a:xfrm>
            <a:off x="8549640" y="2834640"/>
            <a:ext cx="2834640" cy="118872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Effective design, limited reach</a:t>
            </a:r>
            <a:endParaRPr lang="en-US" sz="2600" dirty="0"/>
          </a:p>
        </p:txBody>
      </p:sp>
      <p:sp>
        <p:nvSpPr>
          <p:cNvPr id="32" name="Text 29"/>
          <p:cNvSpPr txBox="1"/>
          <p:nvPr/>
        </p:nvSpPr>
        <p:spPr>
          <a:xfrm>
            <a:off x="8549640" y="4160520"/>
            <a:ext cx="2834640" cy="1463040"/>
          </a:xfrm>
          <a:prstGeom prst="rect">
            <a:avLst/>
          </a:prstGeom>
          <a:noFill/>
          <a:ln/>
        </p:spPr>
        <p:txBody>
          <a:bodyPr wrap="square" lIns="0" tIns="0" rIns="0" bIns="0" rtlCol="0" anchor="t"/>
          <a:lstStyle/>
          <a:p>
            <a:pPr indent="0" marL="0">
              <a:buNone/>
            </a:pPr>
            <a:r>
              <a:rPr lang="en-US" sz="1500" dirty="0">
                <a:solidFill>
                  <a:schemeClr val="tx1"/>
                </a:solidFill>
              </a:rPr>
              <a:t>Scores moved where we had content. Distribution, not design, is what to fix next.</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Next steps</a:t>
            </a:r>
            <a:endParaRPr lang="en-US" sz="3400" dirty="0"/>
          </a:p>
        </p:txBody>
      </p:sp>
      <p:sp>
        <p:nvSpPr>
          <p:cNvPr id="3" name="rec-number"/>
          <p:cNvSpPr txBox="1"/>
          <p:nvPr/>
        </p:nvSpPr>
        <p:spPr>
          <a:xfrm>
            <a:off x="548640" y="1371600"/>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4" name="Text 2"/>
          <p:cNvSpPr txBox="1"/>
          <p:nvPr/>
        </p:nvSpPr>
        <p:spPr>
          <a:xfrm>
            <a:off x="1325880" y="1353312"/>
            <a:ext cx="5120640" cy="347472"/>
          </a:xfrm>
          <a:prstGeom prst="rect">
            <a:avLst/>
          </a:prstGeom>
          <a:noFill/>
          <a:ln/>
        </p:spPr>
        <p:txBody>
          <a:bodyPr wrap="square" lIns="0" tIns="0" rIns="0" bIns="0" rtlCol="0" anchor="t"/>
          <a:lstStyle/>
          <a:p>
            <a:pPr indent="0" marL="0">
              <a:buNone/>
            </a:pPr>
            <a:r>
              <a:rPr lang="en-US" sz="1700" b="1" dirty="0">
                <a:solidFill>
                  <a:schemeClr val="tx1"/>
                </a:solidFill>
              </a:rPr>
              <a:t>Grow reach</a:t>
            </a:r>
            <a:endParaRPr lang="en-US" sz="1700" dirty="0"/>
          </a:p>
        </p:txBody>
      </p:sp>
      <p:sp>
        <p:nvSpPr>
          <p:cNvPr id="5" name="Text 3"/>
          <p:cNvSpPr txBox="1"/>
          <p:nvPr/>
        </p:nvSpPr>
        <p:spPr>
          <a:xfrm>
            <a:off x="1325880" y="1700784"/>
            <a:ext cx="5120640" cy="548640"/>
          </a:xfrm>
          <a:prstGeom prst="rect">
            <a:avLst/>
          </a:prstGeom>
          <a:noFill/>
          <a:ln/>
        </p:spPr>
        <p:txBody>
          <a:bodyPr wrap="square" lIns="0" tIns="0" rIns="0" bIns="0" rtlCol="0" anchor="t"/>
          <a:lstStyle/>
          <a:p>
            <a:pPr indent="0" marL="0">
              <a:buNone/>
            </a:pPr>
            <a:r>
              <a:rPr lang="en-US" sz="1400" dirty="0">
                <a:solidFill>
                  <a:schemeClr val="tx2"/>
                </a:solidFill>
              </a:rPr>
              <a:t>Cross-post to class group chats; collaborate with society and department accounts; use polls</a:t>
            </a:r>
            <a:endParaRPr lang="en-US" sz="1400" dirty="0"/>
          </a:p>
        </p:txBody>
      </p:sp>
      <p:sp>
        <p:nvSpPr>
          <p:cNvPr id="6" name="rec-number"/>
          <p:cNvSpPr txBox="1"/>
          <p:nvPr/>
        </p:nvSpPr>
        <p:spPr>
          <a:xfrm>
            <a:off x="548640" y="2322576"/>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7" name="Text 5"/>
          <p:cNvSpPr txBox="1"/>
          <p:nvPr/>
        </p:nvSpPr>
        <p:spPr>
          <a:xfrm>
            <a:off x="1325880" y="2304288"/>
            <a:ext cx="5120640" cy="347472"/>
          </a:xfrm>
          <a:prstGeom prst="rect">
            <a:avLst/>
          </a:prstGeom>
          <a:noFill/>
          <a:ln/>
        </p:spPr>
        <p:txBody>
          <a:bodyPr wrap="square" lIns="0" tIns="0" rIns="0" bIns="0" rtlCol="0" anchor="t"/>
          <a:lstStyle/>
          <a:p>
            <a:pPr indent="0" marL="0">
              <a:buNone/>
            </a:pPr>
            <a:r>
              <a:rPr lang="en-US" sz="1700" b="1" dirty="0">
                <a:solidFill>
                  <a:schemeClr val="tx1"/>
                </a:solidFill>
              </a:rPr>
              <a:t>Run the live study</a:t>
            </a:r>
            <a:endParaRPr lang="en-US" sz="1700" dirty="0"/>
          </a:p>
        </p:txBody>
      </p:sp>
      <p:sp>
        <p:nvSpPr>
          <p:cNvPr id="8" name="Text 6"/>
          <p:cNvSpPr txBox="1"/>
          <p:nvPr/>
        </p:nvSpPr>
        <p:spPr>
          <a:xfrm>
            <a:off x="1325880" y="2651760"/>
            <a:ext cx="5120640" cy="548640"/>
          </a:xfrm>
          <a:prstGeom prst="rect">
            <a:avLst/>
          </a:prstGeom>
          <a:noFill/>
          <a:ln/>
        </p:spPr>
        <p:txBody>
          <a:bodyPr wrap="square" lIns="0" tIns="0" rIns="0" bIns="0" rtlCol="0" anchor="t"/>
          <a:lstStyle/>
          <a:p>
            <a:pPr indent="0" marL="0">
              <a:buNone/>
            </a:pPr>
            <a:r>
              <a:rPr lang="en-US" sz="1400" dirty="0">
                <a:solidFill>
                  <a:schemeClr val="tx2"/>
                </a:solidFill>
              </a:rPr>
              <a:t>PRE → campaign → POST with 30+ students, after ethics approval</a:t>
            </a:r>
            <a:endParaRPr lang="en-US" sz="1400" dirty="0"/>
          </a:p>
        </p:txBody>
      </p:sp>
      <p:sp>
        <p:nvSpPr>
          <p:cNvPr id="9" name="rec-number"/>
          <p:cNvSpPr txBox="1"/>
          <p:nvPr/>
        </p:nvSpPr>
        <p:spPr>
          <a:xfrm>
            <a:off x="548640" y="327355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0" name="Text 8"/>
          <p:cNvSpPr txBox="1"/>
          <p:nvPr/>
        </p:nvSpPr>
        <p:spPr>
          <a:xfrm>
            <a:off x="1325880" y="3255264"/>
            <a:ext cx="5120640" cy="347472"/>
          </a:xfrm>
          <a:prstGeom prst="rect">
            <a:avLst/>
          </a:prstGeom>
          <a:noFill/>
          <a:ln/>
        </p:spPr>
        <p:txBody>
          <a:bodyPr wrap="square" lIns="0" tIns="0" rIns="0" bIns="0" rtlCol="0" anchor="t"/>
          <a:lstStyle/>
          <a:p>
            <a:pPr indent="0" marL="0">
              <a:buNone/>
            </a:pPr>
            <a:r>
              <a:rPr lang="en-US" sz="1700" b="1" dirty="0">
                <a:solidFill>
                  <a:schemeClr val="tx1"/>
                </a:solidFill>
              </a:rPr>
              <a:t>Target the weak traits</a:t>
            </a:r>
            <a:endParaRPr lang="en-US" sz="1700" dirty="0"/>
          </a:p>
        </p:txBody>
      </p:sp>
      <p:sp>
        <p:nvSpPr>
          <p:cNvPr id="11" name="Text 9"/>
          <p:cNvSpPr txBox="1"/>
          <p:nvPr/>
        </p:nvSpPr>
        <p:spPr>
          <a:xfrm>
            <a:off x="1325880" y="3602736"/>
            <a:ext cx="5120640" cy="548640"/>
          </a:xfrm>
          <a:prstGeom prst="rect">
            <a:avLst/>
          </a:prstGeom>
          <a:noFill/>
          <a:ln/>
        </p:spPr>
        <p:txBody>
          <a:bodyPr wrap="square" lIns="0" tIns="0" rIns="0" bIns="0" rtlCol="0" anchor="t"/>
          <a:lstStyle/>
          <a:p>
            <a:pPr indent="0" marL="0">
              <a:buNone/>
            </a:pPr>
            <a:r>
              <a:rPr lang="en-US" sz="1400" dirty="0">
                <a:solidFill>
                  <a:schemeClr val="tx2"/>
                </a:solidFill>
              </a:rPr>
              <a:t>A padlock post, and an "I clicked, now what?" post for inaction</a:t>
            </a:r>
            <a:endParaRPr lang="en-US" sz="1400" dirty="0"/>
          </a:p>
        </p:txBody>
      </p:sp>
      <p:sp>
        <p:nvSpPr>
          <p:cNvPr id="12" name="rec-number"/>
          <p:cNvSpPr txBox="1"/>
          <p:nvPr/>
        </p:nvSpPr>
        <p:spPr>
          <a:xfrm>
            <a:off x="548640" y="4224528"/>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13" name="Text 11"/>
          <p:cNvSpPr txBox="1"/>
          <p:nvPr/>
        </p:nvSpPr>
        <p:spPr>
          <a:xfrm>
            <a:off x="1325880" y="4206240"/>
            <a:ext cx="5120640" cy="347472"/>
          </a:xfrm>
          <a:prstGeom prst="rect">
            <a:avLst/>
          </a:prstGeom>
          <a:noFill/>
          <a:ln/>
        </p:spPr>
        <p:txBody>
          <a:bodyPr wrap="square" lIns="0" tIns="0" rIns="0" bIns="0" rtlCol="0" anchor="t"/>
          <a:lstStyle/>
          <a:p>
            <a:pPr indent="0" marL="0">
              <a:buNone/>
            </a:pPr>
            <a:r>
              <a:rPr lang="en-US" sz="1700" b="1" dirty="0">
                <a:solidFill>
                  <a:schemeClr val="tx1"/>
                </a:solidFill>
              </a:rPr>
              <a:t>Strengthen the evidence</a:t>
            </a:r>
            <a:endParaRPr lang="en-US" sz="1700" dirty="0"/>
          </a:p>
        </p:txBody>
      </p:sp>
      <p:sp>
        <p:nvSpPr>
          <p:cNvPr id="14" name="Text 12"/>
          <p:cNvSpPr txBox="1"/>
          <p:nvPr/>
        </p:nvSpPr>
        <p:spPr>
          <a:xfrm>
            <a:off x="1325880" y="4553712"/>
            <a:ext cx="5120640" cy="548640"/>
          </a:xfrm>
          <a:prstGeom prst="rect">
            <a:avLst/>
          </a:prstGeom>
          <a:noFill/>
          <a:ln/>
        </p:spPr>
        <p:txBody>
          <a:bodyPr wrap="square" lIns="0" tIns="0" rIns="0" bIns="0" rtlCol="0" anchor="t"/>
          <a:lstStyle/>
          <a:p>
            <a:pPr indent="0" marL="0">
              <a:buNone/>
            </a:pPr>
            <a:r>
              <a:rPr lang="en-US" sz="1400" dirty="0">
                <a:solidFill>
                  <a:schemeClr val="tx2"/>
                </a:solidFill>
              </a:rPr>
              <a:t>A comparison group, plus a simulated phishing test if ethics allow</a:t>
            </a:r>
            <a:endParaRPr lang="en-US" sz="1400" dirty="0"/>
          </a:p>
        </p:txBody>
      </p:sp>
      <p:sp>
        <p:nvSpPr>
          <p:cNvPr id="15" name="rec-number"/>
          <p:cNvSpPr txBox="1"/>
          <p:nvPr/>
        </p:nvSpPr>
        <p:spPr>
          <a:xfrm>
            <a:off x="548640" y="517550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5</a:t>
            </a:r>
            <a:endParaRPr lang="en-US" sz="1800" dirty="0"/>
          </a:p>
        </p:txBody>
      </p:sp>
      <p:sp>
        <p:nvSpPr>
          <p:cNvPr id="16" name="Text 14"/>
          <p:cNvSpPr txBox="1"/>
          <p:nvPr/>
        </p:nvSpPr>
        <p:spPr>
          <a:xfrm>
            <a:off x="1325880" y="5157216"/>
            <a:ext cx="5120640" cy="347472"/>
          </a:xfrm>
          <a:prstGeom prst="rect">
            <a:avLst/>
          </a:prstGeom>
          <a:noFill/>
          <a:ln/>
        </p:spPr>
        <p:txBody>
          <a:bodyPr wrap="square" lIns="0" tIns="0" rIns="0" bIns="0" rtlCol="0" anchor="t"/>
          <a:lstStyle/>
          <a:p>
            <a:pPr indent="0" marL="0">
              <a:buNone/>
            </a:pPr>
            <a:r>
              <a:rPr lang="en-US" sz="1700" b="1" dirty="0">
                <a:solidFill>
                  <a:schemeClr val="tx1"/>
                </a:solidFill>
              </a:rPr>
              <a:t>Check it lasts</a:t>
            </a:r>
            <a:endParaRPr lang="en-US" sz="1700" dirty="0"/>
          </a:p>
        </p:txBody>
      </p:sp>
      <p:sp>
        <p:nvSpPr>
          <p:cNvPr id="17" name="Text 15"/>
          <p:cNvSpPr txBox="1"/>
          <p:nvPr/>
        </p:nvSpPr>
        <p:spPr>
          <a:xfrm>
            <a:off x="1325880" y="5504688"/>
            <a:ext cx="5120640" cy="548640"/>
          </a:xfrm>
          <a:prstGeom prst="rect">
            <a:avLst/>
          </a:prstGeom>
          <a:noFill/>
          <a:ln/>
        </p:spPr>
        <p:txBody>
          <a:bodyPr wrap="square" lIns="0" tIns="0" rIns="0" bIns="0" rtlCol="0" anchor="t"/>
          <a:lstStyle/>
          <a:p>
            <a:pPr indent="0" marL="0">
              <a:buNone/>
            </a:pPr>
            <a:r>
              <a:rPr lang="en-US" sz="1400" dirty="0">
                <a:solidFill>
                  <a:schemeClr val="tx2"/>
                </a:solidFill>
              </a:rPr>
              <a:t>A follow-up survey 4–6 weeks later to measure retention</a:t>
            </a:r>
            <a:endParaRPr lang="en-US" sz="1400" dirty="0"/>
          </a:p>
        </p:txBody>
      </p:sp>
      <p:sp>
        <p:nvSpPr>
          <p:cNvPr id="18" name="card"/>
          <p:cNvSpPr/>
          <p:nvPr/>
        </p:nvSpPr>
        <p:spPr>
          <a:xfrm>
            <a:off x="6949440" y="1371600"/>
            <a:ext cx="4690872" cy="4754880"/>
          </a:xfrm>
          <a:prstGeom prst="roundRect">
            <a:avLst>
              <a:gd name="adj" fmla="val 1949"/>
            </a:avLst>
          </a:prstGeom>
          <a:solidFill>
            <a:schemeClr val="tx1"/>
          </a:solidFill>
          <a:ln/>
          <a:effectLst>
            <a:outerShdw sx="100000" sy="100000" kx="0" ky="0" algn="bl" rotWithShape="0" blurRad="101600" dist="25400" dir="5400000">
              <a:srgbClr val="14213D">
                <a:alpha val="8000"/>
              </a:srgbClr>
            </a:outerShdw>
          </a:effectLst>
        </p:spPr>
      </p:sp>
      <p:sp>
        <p:nvSpPr>
          <p:cNvPr id="19" name="Text 17"/>
          <p:cNvSpPr txBox="1"/>
          <p:nvPr/>
        </p:nvSpPr>
        <p:spPr>
          <a:xfrm>
            <a:off x="7269480" y="1645920"/>
            <a:ext cx="2514600" cy="237744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Think.</a:t>
            </a:r>
            <a:endParaRPr lang="en-US" sz="3600" dirty="0"/>
          </a:p>
          <a:p>
            <a:pPr indent="0" marL="0">
              <a:buNone/>
            </a:pPr>
            <a:r>
              <a:rPr lang="en-US" sz="3600" b="1" dirty="0">
                <a:solidFill>
                  <a:schemeClr val="accent1"/>
                </a:solidFill>
                <a:latin typeface="Arial" pitchFamily="34" charset="0"/>
                <a:ea typeface="Arial" pitchFamily="34" charset="-122"/>
                <a:cs typeface="Arial" pitchFamily="34" charset="-120"/>
              </a:rPr>
              <a:t>Check.</a:t>
            </a:r>
            <a:endParaRPr lang="en-US" sz="3600" dirty="0"/>
          </a:p>
          <a:p>
            <a:pPr indent="0" marL="0">
              <a:buNone/>
            </a:pPr>
            <a:r>
              <a:rPr lang="en-US" sz="3600" b="1" dirty="0">
                <a:solidFill>
                  <a:schemeClr val="accent1"/>
                </a:solidFill>
                <a:latin typeface="Arial" pitchFamily="34" charset="0"/>
                <a:ea typeface="Arial" pitchFamily="34" charset="-122"/>
                <a:cs typeface="Arial" pitchFamily="34" charset="-120"/>
              </a:rPr>
              <a:t>Stay safe.</a:t>
            </a:r>
            <a:endParaRPr lang="en-US" sz="3600" dirty="0"/>
          </a:p>
        </p:txBody>
      </p:sp>
      <p:sp>
        <p:nvSpPr>
          <p:cNvPr id="20" name="qr-slot"/>
          <p:cNvSpPr/>
          <p:nvPr/>
        </p:nvSpPr>
        <p:spPr>
          <a:xfrm>
            <a:off x="9692640" y="1737360"/>
            <a:ext cx="1645920" cy="1645920"/>
          </a:xfrm>
          <a:prstGeom prst="roundRect">
            <a:avLst>
              <a:gd name="adj" fmla="val 5556"/>
            </a:avLst>
          </a:prstGeom>
          <a:solidFill>
            <a:schemeClr val="bg1"/>
          </a:solidFill>
          <a:ln/>
        </p:spPr>
      </p:sp>
      <p:sp>
        <p:nvSpPr>
          <p:cNvPr id="21" name="Text 19"/>
          <p:cNvSpPr txBox="1"/>
          <p:nvPr/>
        </p:nvSpPr>
        <p:spPr>
          <a:xfrm>
            <a:off x="9829800" y="2194560"/>
            <a:ext cx="1371600" cy="731520"/>
          </a:xfrm>
          <a:prstGeom prst="rect">
            <a:avLst/>
          </a:prstGeom>
          <a:noFill/>
          <a:ln/>
        </p:spPr>
        <p:txBody>
          <a:bodyPr wrap="square" lIns="0" tIns="0" rIns="0" bIns="0" rtlCol="0" anchor="ctr"/>
          <a:lstStyle/>
          <a:p>
            <a:pPr algn="ctr" indent="0" marL="0">
              <a:buNone/>
            </a:pPr>
            <a:r>
              <a:rPr lang="en-US" sz="1200" dirty="0">
                <a:solidFill>
                  <a:schemeClr val="tx1"/>
                </a:solidFill>
              </a:rPr>
              <a:t>Survey QR code at launch</a:t>
            </a:r>
            <a:endParaRPr lang="en-US" sz="1200" dirty="0"/>
          </a:p>
        </p:txBody>
      </p:sp>
      <p:sp>
        <p:nvSpPr>
          <p:cNvPr id="22" name="Text 20"/>
          <p:cNvSpPr txBox="1"/>
          <p:nvPr/>
        </p:nvSpPr>
        <p:spPr>
          <a:xfrm>
            <a:off x="7269480" y="4206240"/>
            <a:ext cx="4114800" cy="731520"/>
          </a:xfrm>
          <a:prstGeom prst="rect">
            <a:avLst/>
          </a:prstGeom>
          <a:noFill/>
          <a:ln/>
        </p:spPr>
        <p:txBody>
          <a:bodyPr wrap="square" lIns="0" tIns="0" rIns="0" bIns="0" rtlCol="0" anchor="t"/>
          <a:lstStyle/>
          <a:p>
            <a:pPr indent="0" marL="0">
              <a:buNone/>
            </a:pPr>
            <a:r>
              <a:rPr lang="en-US" sz="1600" dirty="0">
                <a:solidFill>
                  <a:schemeClr val="bg1"/>
                </a:solidFill>
              </a:rPr>
              <a:t>Follow @cyber.decoded_ and take part when the survey opens.</a:t>
            </a:r>
            <a:endParaRPr lang="en-US" sz="1600" dirty="0"/>
          </a:p>
        </p:txBody>
      </p:sp>
      <p:sp>
        <p:nvSpPr>
          <p:cNvPr id="23" name="tag"/>
          <p:cNvSpPr txBox="1"/>
          <p:nvPr/>
        </p:nvSpPr>
        <p:spPr>
          <a:xfrm rot="-180000">
            <a:off x="7269480" y="5120640"/>
            <a:ext cx="2011680" cy="594360"/>
          </a:xfrm>
          <a:prstGeom prst="rect">
            <a:avLst/>
          </a:prstGeom>
          <a:solidFill>
            <a:schemeClr val="accent1"/>
          </a:solidFill>
          <a:ln/>
          <a:effectLst>
            <a:outerShdw sx="100000" sy="100000" kx="0" ky="0" algn="bl" rotWithShape="0" blurRad="76200" dist="25400" dir="5400000">
              <a:srgbClr val="14213D">
                <a:alpha val="18000"/>
              </a:srgbClr>
            </a:outerShdw>
          </a:effectLst>
        </p:spPr>
        <p:txBody>
          <a:bodyPr wrap="square" lIns="50800" tIns="127000" rIns="127000" bIns="50800" rtlCol="0" anchor="ctr"/>
          <a:lstStyle/>
          <a:p>
            <a:pPr algn="l" indent="0" marL="0">
              <a:buNone/>
            </a:pPr>
            <a:r>
              <a:rPr lang="en-US" sz="2000" b="1" dirty="0">
                <a:solidFill>
                  <a:schemeClr val="tx1"/>
                </a:solidFill>
              </a:rPr>
              <a:t>Questions?</a:t>
            </a:r>
            <a:endParaRPr lang="en-US" sz="2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References</a:t>
            </a:r>
            <a:endParaRPr lang="en-US" sz="3400" dirty="0"/>
          </a:p>
        </p:txBody>
      </p:sp>
      <p:sp>
        <p:nvSpPr>
          <p:cNvPr id="3" name="Text 1"/>
          <p:cNvSpPr txBox="1"/>
          <p:nvPr/>
        </p:nvSpPr>
        <p:spPr>
          <a:xfrm>
            <a:off x="548640" y="1371600"/>
            <a:ext cx="9144000" cy="43891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Verizon (2024). 2024 Data Breach Investigations Report. verizon.com/dbir</a:t>
            </a:r>
            <a:endParaRPr lang="en-US" sz="1500" dirty="0"/>
          </a:p>
          <a:p>
            <a:pPr marL="342900" indent="-342900">
              <a:spcAft>
                <a:spcPts val="1000"/>
              </a:spcAft>
              <a:buSzPct val="100000"/>
              <a:buChar char="•"/>
            </a:pPr>
            <a:r>
              <a:rPr lang="en-US" sz="1500" dirty="0">
                <a:solidFill>
                  <a:schemeClr val="tx1"/>
                </a:solidFill>
              </a:rPr>
              <a:t>Cybernews (June 2025). Research on 16 billion leaked login credentials. cybernews.com</a:t>
            </a:r>
            <a:endParaRPr lang="en-US" sz="1500" dirty="0"/>
          </a:p>
          <a:p>
            <a:pPr marL="342900" indent="-342900">
              <a:spcAft>
                <a:spcPts val="1000"/>
              </a:spcAft>
              <a:buSzPct val="100000"/>
              <a:buChar char="•"/>
            </a:pPr>
            <a:r>
              <a:rPr lang="en-US" sz="1500" dirty="0">
                <a:solidFill>
                  <a:schemeClr val="tx1"/>
                </a:solidFill>
              </a:rPr>
              <a:t>Thaler, R. &amp; Sunstein, C. (2008). Nudge: Improving Decisions about Health, Wealth, and Happiness. Yale University Press</a:t>
            </a:r>
            <a:endParaRPr lang="en-US" sz="1500" dirty="0"/>
          </a:p>
          <a:p>
            <a:pPr marL="342900" indent="-342900">
              <a:spcAft>
                <a:spcPts val="1000"/>
              </a:spcAft>
              <a:buSzPct val="100000"/>
              <a:buChar char="•"/>
            </a:pPr>
            <a:r>
              <a:rPr lang="en-US" sz="1500" dirty="0">
                <a:solidFill>
                  <a:schemeClr val="tx1"/>
                </a:solidFill>
              </a:rPr>
              <a:t>Cialdini, R. (2006). Influence: The Psychology of Persuasion. Harper Business (authority, social proof, urgency)</a:t>
            </a:r>
            <a:endParaRPr lang="en-US" sz="1500" dirty="0"/>
          </a:p>
          <a:p>
            <a:pPr marL="342900" indent="-342900">
              <a:spcAft>
                <a:spcPts val="1000"/>
              </a:spcAft>
              <a:buSzPct val="100000"/>
              <a:buChar char="•"/>
            </a:pPr>
            <a:r>
              <a:rPr lang="en-US" sz="1500" dirty="0">
                <a:solidFill>
                  <a:schemeClr val="tx1"/>
                </a:solidFill>
              </a:rPr>
              <a:t>HumanFactor source code, survey design and analysis report: github.com/sokhiaryan/HumanFactor</a:t>
            </a:r>
            <a:endParaRPr lang="en-US" sz="1500" dirty="0"/>
          </a:p>
          <a:p>
            <a:pPr marL="342900" indent="-342900">
              <a:spcAft>
                <a:spcPts val="1000"/>
              </a:spcAft>
              <a:buSzPct val="100000"/>
              <a:buChar char="•"/>
            </a:pPr>
            <a:r>
              <a:rPr lang="en-US" sz="1500" dirty="0">
                <a:solidFill>
                  <a:schemeClr val="tx1"/>
                </a:solidFill>
              </a:rPr>
              <a:t>Results on slides 13–16 and 18 come from a demonstration dataset used to validate the analysis pipeline before launch.</a:t>
            </a:r>
            <a:endParaRPr lang="en-US" sz="1500" dirty="0"/>
          </a:p>
        </p:txBody>
      </p:sp>
      <p:pic>
        <p:nvPicPr>
          <p:cNvPr id="4" name="logo" descr="HumanFactor Vitruvian mark">    </p:cNvPr>
          <p:cNvPicPr>
            <a:picLocks noChangeAspect="1"/>
          </p:cNvPicPr>
          <p:nvPr/>
        </p:nvPicPr>
        <p:blipFill>
          <a:blip r:embed="rId1"/>
          <a:stretch>
            <a:fillRect/>
          </a:stretch>
        </p:blipFill>
        <p:spPr>
          <a:xfrm>
            <a:off x="10332720" y="1463040"/>
            <a:ext cx="1280160" cy="1280160"/>
          </a:xfrm>
          <a:prstGeom prst="rect">
            <a:avLst/>
          </a:prstGeom>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HumanFactor Day Print">
  <a:themeElements>
    <a:clrScheme name="HumanFactor Day Print">
      <a:dk1>
        <a:srgbClr val="14213D"/>
      </a:dk1>
      <a:lt1>
        <a:srgbClr val="FFFFFF"/>
      </a:lt1>
      <a:dk2>
        <a:srgbClr val="4E5A72"/>
      </a:dk2>
      <a:lt2>
        <a:srgbClr val="F6F7F2"/>
      </a:lt2>
      <a:accent1>
        <a:srgbClr val="F2B01E"/>
      </a:accent1>
      <a:accent2>
        <a:srgbClr val="E4572E"/>
      </a:accent2>
      <a:accent3>
        <a:srgbClr val="0E7C70"/>
      </a:accent3>
      <a:accent4>
        <a:srgbClr val="2F6FD0"/>
      </a:accent4>
      <a:accent5>
        <a:srgbClr val="F8DC95"/>
      </a:accent5>
      <a:accent6>
        <a:srgbClr val="D9DED6"/>
      </a:accent6>
      <a:hlink>
        <a:srgbClr val="2F6FD0"/>
      </a:hlink>
      <a:folHlink>
        <a:srgbClr val="4E5A72"/>
      </a:folHlink>
    </a:clrScheme>
    <a:fontScheme name="HumanFactor Day Pri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ClickWise: Think. Check. Stay safe.</dc:title>
  <dc:subject>PptxGenJS Presentation</dc:subject>
  <dc:creator>HumanFactor project team</dc:creator>
  <cp:lastModifiedBy>HumanFactor project team</cp:lastModifiedBy>
  <cp:revision>1</cp:revision>
  <dcterms:created xsi:type="dcterms:W3CDTF">2026-10-29T05:48:07Z</dcterms:created>
  <dcterms:modified xsi:type="dcterms:W3CDTF">2026-10-29T05:48:07Z</dcterms:modified>
</cp:coreProperties>
</file>