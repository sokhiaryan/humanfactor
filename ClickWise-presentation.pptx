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tion" id="{97de52a1-e63b-85c2-3804-60d509c7fe12}">
          <p14:sldIdLst>
            <p14:sldId id="256"/>
            <p14:sldId id="257"/>
            <p14:sldId id="258"/>
            <p14:sldId id="259"/>
          </p14:sldIdLst>
        </p14:section>
        <p14:section name="Program design" id="{47a3d79a-604a-22f2-dc46-07f72dca1217}">
          <p14:sldIdLst>
            <p14:sldId id="260"/>
            <p14:sldId id="261"/>
            <p14:sldId id="262"/>
            <p14:sldId id="263"/>
          </p14:sldIdLst>
        </p14:section>
        <p14:section name="Measurement" id="{08cef7f1-e60e-97be-dbf2-f97b9ce5733a}">
          <p14:sldIdLst>
            <p14:sldId id="264"/>
            <p14:sldId id="265"/>
            <p14:sldId id="266"/>
            <p14:sldId id="267"/>
          </p14:sldIdLst>
        </p14:section>
        <p14:section name="Results" id="{60ffba59-9a99-fd83-f88f-33575282e5cf}">
          <p14:sldIdLst>
            <p14:sldId id="268"/>
            <p14:sldId id="269"/>
            <p14:sldId id="270"/>
          </p14:sldIdLst>
        </p14:section>
        <p14:section name="Reflection" id="{2804e2cf-bef3-5683-633b-b42781e36d0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Good morning everyone. We're [names], and our project is ClickWise: a security awareness campaign for students about phishing, scams and passwords.
Our tagline is "Think. Check. Stay safe.", three habits that stop most scams.
In the next fifteen minutes we'll show you why we picked this topic, the campaign we built (posters and an Instagram account), the platform we built to measure whether it works,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Quick show of hands: who has had a "your parcel is held" text, or an email saying your account will be suspended, in the last month? [pause]
Here is one of our posters. It looks like a normal university email: the logo and layout are right.
But there are three clues. The sender's domain is "university-login.com", not the university's own. It creates urgency: suspended in 24 hours. And it wants you to press "Verify Now" and type in your login.
Most people don't fall for scams because they're careless. They fall for them because the scam is designed for the five seconds when they aren't thinking. That's the problem our campaign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Why does this matter? Verizon's 2024 breach report found that about two-thirds of breaches involved a human element: someone clicked, reused a password or made a mistake.
And in June 2025, researchers at Cybernews reported 16 billion leaked login credentials. We turned that story into an Instagram post.
So the weakest point isn't the firewall. It's the moment a person decides whether to click. That's where awareness training helps.
[Check both statistics against the original sources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We chose university students because they're targeted constantly. They have new university accounts that attackers copy, they get scam texts about parcels and bank codes, they share links quickly in group chats, and many reuse the same password everywhere.
We set three learning goals, which run through all our content: SPOT the scam, VERIFY through a trusted route, and REPORT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The program has three parts that work together.
ClickWise is the content: a four-part poster series.
@cyber.decoded_ is our Instagram channel, where the content reaches students.
HumanFactor is the web platform we built to measure whether any of it works.
The flow is a classic pre/post design: students take a short survey before the campaign, see the campaign, then take the same survey again. We compare each person's two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These are our four ClickWise posters.
"It looks real. But is it?" teaches the warning signs of phishing emails.
"A stronger password, a stronger you" contrasts weak and strong passwords and pushes password managers and MFA.
"They only need the OTP" covers the bank-call scam: no real bank will ever ask for your one-time code.
And "Spotted something suspicious?" gives four steps: stop, secure, report, stay alert.
Each poster carries one message and one action, using examples that look like what students actually receive. We kept the tone friendly rather than scary, because fear tends to make people tune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
Our social media channel is the Instagram account @cyber.decoded_. Its bio is "Think. Check. Stay safe. Spot scams before they spot you."
We posted five pieces. This one is an eight-slide carousel showing how one reused password puts your email, social, shopping and banking accounts at risk. Others include "Don't get hooked", a data-breach post, and a flowchart for what to do when you get a scary Instagram message.
We followed Instagram practice: carousels people swipe through, strong opening hooks, trending audio, and simple visual decision aids.
To be honest about reach: at the time of these screenshots, the account had 2 followers and about one like per post. The account was brand new and the posts were less than half a day old. We come back to this in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
Here's the delivery plan. In week zero we open the PRE survey, sharing the link in class and group chats and on posters with a QR code.
In weeks one and two the campaign runs: posters on campus noticeboards, and Instagram posts three times a week on Monday, Wednesday and Friday evenings, between 7 and 9 pm when students are most active, with daily stories.
In week two we add interactive polls and quiz stickers. In week three participants take the POST survey with the same code. Week four is analysis.
This is the planned schedule. The live run starts once we have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
Instead of using Google Forms, we built our own survey platform, HumanFactor, because we wanted to measure what people can actually do, not just what they say.
Each scenario shows something realistic, like this account-suspension email, and asks what you'd do. The ten scenarios are the same before and after, with the answers in a different order each time.
To compare the same person over time without collecting names, each participant gets a random code at PRE and enters it again at POST.
We ask confidence separately from knowledge, so we can see whether people overestimate themselves.
And participants never see the answers or their score, so the first survey doesn't teach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
Why these ten questions, and not others?
First, coverage. We picked the five ways students actually get attacked (email phishing, fake links and websites, scam texts and QR codes, account takeover, and impersonation) and wrote two scenarios for each. Every topic matches a piece of our campaign, so the survey measures exactly what the campaign teaches. If the posters work, these are the scores that should move.
Second, how each item was chosen.
One: realism. Every question shows something students have really received: a university suspension email, a parcel-fee text, a friend asking for a code, a QR sticker on a parking meter.
Two: we test behaviour, not vocabulary. We never ask "what is smishing?". We ask "what should you do?", and there's one answer a security professional would defend.
Three: the wrong answers are real mistakes people make, such as trusting the padlock or approving a sign-in prompt just to make it stop. So a wrong answer tells us which misconception someone holds. Item 9 even re-checks the padlock belief from item 3 in a different context.
Four: fairness. No jargon, the question never hints that something is a scam, the correct answer isn't always the longest, and "I'm not sure" lets people admit uncertainty instead of guessing.
Five: we use the same questions before and after, because with about 30 participants we can't validate two different versions. We shuffle the options and treat the testing effect as a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
Ethics were built in from the start, as the assignment requires.
Nobody sees a question until they've read a plain-language consent notice and confirmed they're 18 or over. We collect no names, emails, student IDs or IP addresses. Taking part is voluntary, and you can withdraw later by quoting your code. Only our team can see the data, through a password-protected dashboard, and we only report group-level results.
On accessibility: everything works with a keyboard and screen reader, colours meet WCAG contrast, it's designed for phones first, and motion can be turned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
This is the HumanFactor dashboard. Once responses come in, the team can see completion, score distributions, paired before-and-after change, per-question accuracy and misconceptions, and export everything to CSV for the report.
Because we're making claims from these numbers, we tested it carefully. 63 automated tests pass. We checked the statistics against R. And an independent script recomputes 184 figures directly from the raw database; all 184 match the dashboard.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
These results come from our demonstration dataset, which we use to check the analysis pipeline. The live results will replace them once we run the study.
Here is the analysis we'll report. Among people who took both surveys, the average score went from 6.3 to 7.5 out of 10, a gain of about 1.2 questions. The paired t-test and the Wilcoxon test both show this is very unlikely to be chance, and the effect size is moderate.
At the individual level, 31 people improved, 5 stayed the same and 6 declined.
On the right you can see every scenario improved, most of all reading URLs, the padlock question, and the friend asking for a code.
We are careful to call this observed change, not proof the campaign caused it. There's no control group, people see the same questions twice, and the people who volunteer may be more motivated.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
The most useful part of the analysis is what people get wrong. Again, these are demonstration figures.
The top misconception is that the padlock in the browser means a site is safe. It only means the connection is encrypted; scam sites have padlocks too.
Others: not realising that an unexpected sign-in prompt means someone already has your password; trusting irrelevant details like logos; and reading the brand at the start of a URL as the real domain.
On the right we map each misconception to our content. Three are covered by existing posters. The padlock is a gap: none of our pieces address it yet, so it becomes our next post. This is the point of measuring: the data tells us what to make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
This finding is the strongest argument for awareness training. Demonstration figures again.
Before the campaign, people estimated they'd get about 7 out of 10, but actually got about 5.7. They overestimated by nearly one and a half questions. After the campaign, the gap shrinks to under half a question.
At the start, confidence barely predicts skill: the correlation is 0.15. Afterwards it rises to 0.41. People become more accurate about what they know.
This matters because an overconfident person doesn't stop to check. The habit we're teaching, "Think. Check.", only works if people realise they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
Some honest reflections.
First, reach. Making good content was the easy part. A new account with two followers reaches almost nobody. Distribution needs as much planning as design.
Second, participation. The assignment recommends 30 or more, and people have to take the survey twice. So we kept it to six or seven minutes, put QR codes on the posters, and plan a reminder.
Third, anonymity versus matching. We solved it with a random code that has a check character, so typos are caught.
Fourth, a survey can accidentally teach. We show no answers until the study ends.
And finally, ethics come before data. Consent and anonymity were built in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
To wrap up, five next steps.
One: grow reach by cross-posting to group chats and working with student society accounts.
Two: run the live study with 30 or more students once we have ethics approval.
Three: close the gap the data showed us with a post about the padlock.
Four: strengthen the evidence with a comparison group, and a simulated phishing test if ethics allow it.
Five: check whether the effect lasts with a follow-up a month or so later.
Our message is the same as our tagline: Think. Check. Stay safe. Please follow @cyber.decoded_ and take part when the survey opens.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with sources; not presented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217920" cy="128016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ClickWise · HLAC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jpg"/><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sokhiaryan/HumanFactor" TargetMode="External"/><Relationship Id="rId1" Type="http://schemas.openxmlformats.org/officeDocument/2006/relationships/image" Target="../media/image-12-1.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17320"/>
            <a:ext cx="621792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HLAC · HUMAN-CENTRED SECURITY AWARENESS</a:t>
            </a:r>
            <a:endParaRPr lang="en-US" sz="1400" dirty="0"/>
          </a:p>
        </p:txBody>
      </p:sp>
      <p:sp>
        <p:nvSpPr>
          <p:cNvPr id="3" name="Text 0"/>
          <p:cNvSpPr/>
          <p:nvPr>
            <p:ph idx="100" type="title" hasCustomPrompt="1"/>
          </p:nvPr>
        </p:nvSpPr>
        <p:spPr>
          <a:xfrm>
            <a:off x="640080" y="2011680"/>
            <a:ext cx="6217920" cy="1280160"/>
          </a:xfrm>
          <a:prstGeom prst="rect">
            <a:avLst/>
          </a:prstGeom>
          <a:noFill/>
          <a:ln/>
        </p:spPr>
        <p:txBody>
          <a:bodyPr wrap="square" lIns="0" tIns="0" rIns="0" bIns="0" rtlCol="0" anchor="b"/>
          <a:lstStyle/>
          <a:p>
            <a:pPr algn="l" indent="0" marL="0">
              <a:buNone/>
            </a:pPr>
            <a:r>
              <a:rPr lang="en-US" sz="6600" b="1" dirty="0">
                <a:solidFill>
                  <a:schemeClr val="bg1"/>
                </a:solidFill>
              </a:rPr>
              <a:t>ClickWise</a:t>
            </a:r>
            <a:endParaRPr lang="en-US" sz="6600" dirty="0"/>
          </a:p>
        </p:txBody>
      </p:sp>
      <p:sp>
        <p:nvSpPr>
          <p:cNvPr id="4" name="Text 2"/>
          <p:cNvSpPr txBox="1"/>
          <p:nvPr/>
        </p:nvSpPr>
        <p:spPr>
          <a:xfrm>
            <a:off x="640080" y="3383280"/>
            <a:ext cx="6217920" cy="64008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Think. Check. Stay safe.</a:t>
            </a:r>
            <a:endParaRPr lang="en-US" sz="3200" dirty="0"/>
          </a:p>
        </p:txBody>
      </p:sp>
      <p:sp>
        <p:nvSpPr>
          <p:cNvPr id="5" name="Text 3"/>
          <p:cNvSpPr txBox="1"/>
          <p:nvPr/>
        </p:nvSpPr>
        <p:spPr>
          <a:xfrm>
            <a:off x="640080" y="4160520"/>
            <a:ext cx="5669280" cy="731520"/>
          </a:xfrm>
          <a:prstGeom prst="rect">
            <a:avLst/>
          </a:prstGeom>
          <a:noFill/>
          <a:ln/>
        </p:spPr>
        <p:txBody>
          <a:bodyPr wrap="square" lIns="0" tIns="0" rIns="0" bIns="0" rtlCol="0" anchor="t"/>
          <a:lstStyle/>
          <a:p>
            <a:pPr indent="0" marL="0">
              <a:buNone/>
            </a:pPr>
            <a:r>
              <a:rPr lang="en-US" sz="1800" dirty="0">
                <a:solidFill>
                  <a:schemeClr val="accent4"/>
                </a:solidFill>
              </a:rPr>
              <a:t>A student phishing and password awareness campaign, measured with HumanFactor</a:t>
            </a:r>
            <a:endParaRPr lang="en-US" sz="1800" dirty="0"/>
          </a:p>
        </p:txBody>
      </p:sp>
      <p:sp>
        <p:nvSpPr>
          <p:cNvPr id="6" name="Text 4"/>
          <p:cNvSpPr txBox="1"/>
          <p:nvPr/>
        </p:nvSpPr>
        <p:spPr>
          <a:xfrm>
            <a:off x="640080" y="5943600"/>
            <a:ext cx="5486400" cy="365760"/>
          </a:xfrm>
          <a:prstGeom prst="rect">
            <a:avLst/>
          </a:prstGeom>
          <a:noFill/>
          <a:ln/>
        </p:spPr>
        <p:txBody>
          <a:bodyPr wrap="square" lIns="0" tIns="0" rIns="0" bIns="0" rtlCol="0" anchor="t"/>
          <a:lstStyle/>
          <a:p>
            <a:pPr indent="0" marL="0">
              <a:buNone/>
            </a:pPr>
            <a:r>
              <a:rPr lang="en-US" sz="1400" dirty="0">
                <a:solidFill>
                  <a:schemeClr val="accent4"/>
                </a:solidFill>
              </a:rPr>
              <a:t>[Group member names]  ·  October 2026</a:t>
            </a:r>
            <a:endParaRPr lang="en-US" sz="1400" dirty="0"/>
          </a:p>
        </p:txBody>
      </p:sp>
      <p:sp>
        <p:nvSpPr>
          <p:cNvPr id="7" name="image-frame"/>
          <p:cNvSpPr/>
          <p:nvPr/>
        </p:nvSpPr>
        <p:spPr>
          <a:xfrm rot="180000">
            <a:off x="8476488" y="638365"/>
            <a:ext cx="3255264" cy="4209669"/>
          </a:xfrm>
          <a:prstGeom prst="roundRect">
            <a:avLst>
              <a:gd name="adj" fmla="val 2809"/>
            </a:avLst>
          </a:prstGeom>
          <a:solidFill>
            <a:schemeClr val="accent5"/>
          </a:solidFill>
          <a:ln/>
          <a:effectLst>
            <a:outerShdw sx="100000" sy="100000" kx="0" ky="0" algn="bl" rotWithShape="0" blurRad="152400" dist="50800" dir="5400000">
              <a:srgbClr val="000000">
                <a:alpha val="45000"/>
              </a:srgbClr>
            </a:outerShdw>
          </a:effectLst>
        </p:spPr>
      </p:sp>
      <p:pic>
        <p:nvPicPr>
          <p:cNvPr id="8" name="image" descr="ClickWise poster: It looks real. But is it? A fake university email.">    </p:cNvPr>
          <p:cNvPicPr>
            <a:picLocks noChangeAspect="1"/>
          </p:cNvPicPr>
          <p:nvPr/>
        </p:nvPicPr>
        <p:blipFill>
          <a:blip r:embed="rId1"/>
          <a:stretch>
            <a:fillRect/>
          </a:stretch>
        </p:blipFill>
        <p:spPr>
          <a:xfrm rot="180000">
            <a:off x="8549640" y="711517"/>
            <a:ext cx="3108960" cy="4063365"/>
          </a:xfrm>
          <a:prstGeom prst="rect">
            <a:avLst/>
          </a:prstGeom>
        </p:spPr>
      </p:pic>
      <p:sp>
        <p:nvSpPr>
          <p:cNvPr id="9" name="image-frame"/>
          <p:cNvSpPr/>
          <p:nvPr/>
        </p:nvSpPr>
        <p:spPr>
          <a:xfrm rot="-240000">
            <a:off x="6913270" y="2578608"/>
            <a:ext cx="3089861" cy="3803904"/>
          </a:xfrm>
          <a:prstGeom prst="roundRect">
            <a:avLst>
              <a:gd name="adj" fmla="val 2959"/>
            </a:avLst>
          </a:prstGeom>
          <a:solidFill>
            <a:schemeClr val="accent5"/>
          </a:solidFill>
          <a:ln/>
          <a:effectLst>
            <a:outerShdw sx="100000" sy="100000" kx="0" ky="0" algn="bl" rotWithShape="0" blurRad="152400" dist="50800" dir="5400000">
              <a:srgbClr val="000000">
                <a:alpha val="45000"/>
              </a:srgbClr>
            </a:outerShdw>
          </a:effectLst>
        </p:spPr>
      </p:sp>
      <p:pic>
        <p:nvPicPr>
          <p:cNvPr id="10" name="image" descr="Instagram post: Don't get hooked. Think before you click.">    </p:cNvPr>
          <p:cNvPicPr>
            <a:picLocks noChangeAspect="1"/>
          </p:cNvPicPr>
          <p:nvPr/>
        </p:nvPicPr>
        <p:blipFill>
          <a:blip r:embed="rId2"/>
          <a:stretch>
            <a:fillRect/>
          </a:stretch>
        </p:blipFill>
        <p:spPr>
          <a:xfrm rot="-240000">
            <a:off x="6986422" y="2651760"/>
            <a:ext cx="2943557" cy="3657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Real, or phish?</a:t>
            </a:r>
            <a:endParaRPr lang="en-US" sz="3400" dirty="0"/>
          </a:p>
        </p:txBody>
      </p:sp>
      <p:sp>
        <p:nvSpPr>
          <p:cNvPr id="3" name="image-frame"/>
          <p:cNvSpPr/>
          <p:nvPr/>
        </p:nvSpPr>
        <p:spPr>
          <a:xfrm>
            <a:off x="724601" y="1252728"/>
            <a:ext cx="3854318" cy="4992624"/>
          </a:xfrm>
          <a:prstGeom prst="roundRect">
            <a:avLst>
              <a:gd name="adj" fmla="val 2372"/>
            </a:avLst>
          </a:prstGeom>
          <a:solidFill>
            <a:schemeClr val="accent5"/>
          </a:solidFill>
          <a:ln/>
          <a:effectLst>
            <a:outerShdw sx="100000" sy="100000" kx="0" ky="0" algn="bl" rotWithShape="0" blurRad="152400" dist="50800" dir="5400000">
              <a:srgbClr val="000000">
                <a:alpha val="45000"/>
              </a:srgbClr>
            </a:outerShdw>
          </a:effectLst>
        </p:spPr>
      </p:sp>
      <p:pic>
        <p:nvPicPr>
          <p:cNvPr id="4" name="image" descr="ClickWise poster showing a fake University Support email asking you to verify your account within 24 hours.">    </p:cNvPr>
          <p:cNvPicPr>
            <a:picLocks noChangeAspect="1"/>
          </p:cNvPicPr>
          <p:nvPr/>
        </p:nvPicPr>
        <p:blipFill>
          <a:blip r:embed="rId1"/>
          <a:stretch>
            <a:fillRect/>
          </a:stretch>
        </p:blipFill>
        <p:spPr>
          <a:xfrm>
            <a:off x="797753" y="1325880"/>
            <a:ext cx="3708014" cy="4846320"/>
          </a:xfrm>
          <a:prstGeom prst="rect">
            <a:avLst/>
          </a:prstGeom>
        </p:spPr>
      </p:pic>
      <p:sp>
        <p:nvSpPr>
          <p:cNvPr id="5" name="Text 2"/>
          <p:cNvSpPr txBox="1"/>
          <p:nvPr/>
        </p:nvSpPr>
        <p:spPr>
          <a:xfrm>
            <a:off x="5486400" y="1463040"/>
            <a:ext cx="6126480" cy="548640"/>
          </a:xfrm>
          <a:prstGeom prst="rect">
            <a:avLst/>
          </a:prstGeom>
          <a:noFill/>
          <a:ln/>
        </p:spPr>
        <p:txBody>
          <a:bodyPr wrap="square" lIns="0" tIns="0" rIns="0" bIns="0" rtlCol="0" anchor="t"/>
          <a:lstStyle/>
          <a:p>
            <a:pPr indent="0" marL="0">
              <a:buNone/>
            </a:pPr>
            <a:r>
              <a:rPr lang="en-US" sz="2400" b="1" dirty="0">
                <a:solidFill>
                  <a:schemeClr val="bg1"/>
                </a:solidFill>
              </a:rPr>
              <a:t>You have five seconds. Would you click?</a:t>
            </a:r>
            <a:endParaRPr lang="en-US" sz="2400" dirty="0"/>
          </a:p>
        </p:txBody>
      </p:sp>
      <p:sp>
        <p:nvSpPr>
          <p:cNvPr id="6" name="Text 3"/>
          <p:cNvSpPr txBox="1"/>
          <p:nvPr/>
        </p:nvSpPr>
        <p:spPr>
          <a:xfrm>
            <a:off x="5486400" y="2148840"/>
            <a:ext cx="6126480" cy="365760"/>
          </a:xfrm>
          <a:prstGeom prst="rect">
            <a:avLst/>
          </a:prstGeom>
          <a:noFill/>
          <a:ln/>
        </p:spPr>
        <p:txBody>
          <a:bodyPr wrap="square" lIns="0" tIns="0" rIns="0" bIns="0" rtlCol="0" anchor="t"/>
          <a:lstStyle/>
          <a:p>
            <a:pPr indent="0" marL="0">
              <a:buNone/>
            </a:pPr>
            <a:r>
              <a:rPr lang="en-US" sz="1600" dirty="0">
                <a:solidFill>
                  <a:schemeClr val="accent4"/>
                </a:solidFill>
              </a:rPr>
              <a:t>Three clues give it away:</a:t>
            </a:r>
            <a:endParaRPr lang="en-US" sz="1600" dirty="0"/>
          </a:p>
        </p:txBody>
      </p:sp>
      <p:sp>
        <p:nvSpPr>
          <p:cNvPr id="7" name="sticky"/>
          <p:cNvSpPr txBox="1"/>
          <p:nvPr/>
        </p:nvSpPr>
        <p:spPr>
          <a:xfrm rot="-90000">
            <a:off x="5486400" y="2697480"/>
            <a:ext cx="5852160" cy="59436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600" b="1" dirty="0">
                <a:solidFill>
                  <a:schemeClr val="tx1"/>
                </a:solidFill>
              </a:rPr>
              <a:t>1   From: support@university-login.com: a look-alike domain</a:t>
            </a:r>
            <a:endParaRPr lang="en-US" sz="1600" dirty="0"/>
          </a:p>
        </p:txBody>
      </p:sp>
      <p:sp>
        <p:nvSpPr>
          <p:cNvPr id="8" name="sticky"/>
          <p:cNvSpPr txBox="1"/>
          <p:nvPr/>
        </p:nvSpPr>
        <p:spPr>
          <a:xfrm rot="60000">
            <a:off x="5715000" y="3520440"/>
            <a:ext cx="5852160" cy="59436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600" b="1" dirty="0">
                <a:solidFill>
                  <a:schemeClr val="tx1"/>
                </a:solidFill>
              </a:rPr>
              <a:t>2   "Suspended in 24 hours": urgency to stop you thinking</a:t>
            </a:r>
            <a:endParaRPr lang="en-US" sz="1600" dirty="0"/>
          </a:p>
        </p:txBody>
      </p:sp>
      <p:sp>
        <p:nvSpPr>
          <p:cNvPr id="9" name="sticky"/>
          <p:cNvSpPr txBox="1"/>
          <p:nvPr/>
        </p:nvSpPr>
        <p:spPr>
          <a:xfrm rot="-60000">
            <a:off x="5486400" y="4343400"/>
            <a:ext cx="5852160" cy="59436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600" b="1" dirty="0">
                <a:solidFill>
                  <a:schemeClr val="tx1"/>
                </a:solidFill>
              </a:rPr>
              <a:t>3   "Verify Now": a button asking for your login details</a:t>
            </a:r>
            <a:endParaRPr lang="en-US" sz="1600" dirty="0"/>
          </a:p>
        </p:txBody>
      </p:sp>
      <p:sp>
        <p:nvSpPr>
          <p:cNvPr id="10" name="Text 7"/>
          <p:cNvSpPr txBox="1"/>
          <p:nvPr/>
        </p:nvSpPr>
        <p:spPr>
          <a:xfrm>
            <a:off x="5486400" y="5349240"/>
            <a:ext cx="6126480" cy="457200"/>
          </a:xfrm>
          <a:prstGeom prst="rect">
            <a:avLst/>
          </a:prstGeom>
          <a:noFill/>
          <a:ln/>
        </p:spPr>
        <p:txBody>
          <a:bodyPr wrap="square" lIns="0" tIns="0" rIns="0" bIns="0" rtlCol="0" anchor="t"/>
          <a:lstStyle/>
          <a:p>
            <a:pPr indent="0" marL="0">
              <a:buNone/>
            </a:pPr>
            <a:r>
              <a:rPr lang="en-US" sz="2000" b="1" dirty="0">
                <a:solidFill>
                  <a:schemeClr val="accent1"/>
                </a:solidFill>
              </a:rPr>
              <a:t>When in doubt, don't click. Verify.</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Attackers target people, not firewalls</a:t>
            </a:r>
            <a:endParaRPr lang="en-US" sz="3400" dirty="0"/>
          </a:p>
        </p:txBody>
      </p:sp>
      <p:sp>
        <p:nvSpPr>
          <p:cNvPr id="3" name="card"/>
          <p:cNvSpPr/>
          <p:nvPr/>
        </p:nvSpPr>
        <p:spPr>
          <a:xfrm>
            <a:off x="548640" y="1371600"/>
            <a:ext cx="3749040" cy="2240280"/>
          </a:xfrm>
          <a:prstGeom prst="roundRect">
            <a:avLst>
              <a:gd name="adj" fmla="val 4898"/>
            </a:avLst>
          </a:prstGeom>
          <a:solidFill>
            <a:schemeClr val="tx2"/>
          </a:solidFill>
          <a:ln/>
        </p:spPr>
      </p:sp>
      <p:sp>
        <p:nvSpPr>
          <p:cNvPr id="4" name="Text 2"/>
          <p:cNvSpPr txBox="1"/>
          <p:nvPr/>
        </p:nvSpPr>
        <p:spPr>
          <a:xfrm>
            <a:off x="822960" y="155448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68%</a:t>
            </a:r>
            <a:endParaRPr lang="en-US" sz="6000" dirty="0"/>
          </a:p>
        </p:txBody>
      </p:sp>
      <p:sp>
        <p:nvSpPr>
          <p:cNvPr id="5" name="Text 3"/>
          <p:cNvSpPr txBox="1"/>
          <p:nvPr/>
        </p:nvSpPr>
        <p:spPr>
          <a:xfrm>
            <a:off x="822960" y="2514600"/>
            <a:ext cx="3291840" cy="731520"/>
          </a:xfrm>
          <a:prstGeom prst="rect">
            <a:avLst/>
          </a:prstGeom>
          <a:noFill/>
          <a:ln/>
        </p:spPr>
        <p:txBody>
          <a:bodyPr wrap="square" lIns="0" tIns="0" rIns="0" bIns="0" rtlCol="0" anchor="t"/>
          <a:lstStyle/>
          <a:p>
            <a:pPr indent="0" marL="0">
              <a:buNone/>
            </a:pPr>
            <a:r>
              <a:rPr lang="en-US" sz="1500" dirty="0">
                <a:solidFill>
                  <a:schemeClr val="bg1"/>
                </a:solidFill>
              </a:rPr>
              <a:t>of breaches involved a human element: a click, a reused password, a mistake</a:t>
            </a:r>
            <a:endParaRPr lang="en-US" sz="1500" dirty="0"/>
          </a:p>
        </p:txBody>
      </p:sp>
      <p:sp>
        <p:nvSpPr>
          <p:cNvPr id="6" name="Text 4"/>
          <p:cNvSpPr txBox="1"/>
          <p:nvPr/>
        </p:nvSpPr>
        <p:spPr>
          <a:xfrm>
            <a:off x="822960" y="3246120"/>
            <a:ext cx="3291840" cy="274320"/>
          </a:xfrm>
          <a:prstGeom prst="rect">
            <a:avLst/>
          </a:prstGeom>
          <a:noFill/>
          <a:ln/>
        </p:spPr>
        <p:txBody>
          <a:bodyPr wrap="square" lIns="0" tIns="0" rIns="0" bIns="0" rtlCol="0" anchor="t"/>
          <a:lstStyle/>
          <a:p>
            <a:pPr indent="0" marL="0">
              <a:buNone/>
            </a:pPr>
            <a:r>
              <a:rPr lang="en-US" sz="1100" i="1" dirty="0">
                <a:solidFill>
                  <a:schemeClr val="accent4"/>
                </a:solidFill>
              </a:rPr>
              <a:t>Verizon, 2024 Data Breach Investigations Report</a:t>
            </a:r>
            <a:endParaRPr lang="en-US" sz="1100" dirty="0"/>
          </a:p>
        </p:txBody>
      </p:sp>
      <p:sp>
        <p:nvSpPr>
          <p:cNvPr id="7" name="card"/>
          <p:cNvSpPr/>
          <p:nvPr/>
        </p:nvSpPr>
        <p:spPr>
          <a:xfrm>
            <a:off x="548640" y="3840480"/>
            <a:ext cx="3749040" cy="2240280"/>
          </a:xfrm>
          <a:prstGeom prst="roundRect">
            <a:avLst>
              <a:gd name="adj" fmla="val 4898"/>
            </a:avLst>
          </a:prstGeom>
          <a:solidFill>
            <a:schemeClr val="tx2"/>
          </a:solidFill>
          <a:ln/>
        </p:spPr>
      </p:sp>
      <p:sp>
        <p:nvSpPr>
          <p:cNvPr id="8" name="Text 6"/>
          <p:cNvSpPr txBox="1"/>
          <p:nvPr/>
        </p:nvSpPr>
        <p:spPr>
          <a:xfrm>
            <a:off x="822960" y="4023360"/>
            <a:ext cx="3291840" cy="914400"/>
          </a:xfrm>
          <a:prstGeom prst="rect">
            <a:avLst/>
          </a:prstGeom>
          <a:noFill/>
          <a:ln/>
        </p:spPr>
        <p:txBody>
          <a:bodyPr wrap="square" lIns="0" tIns="0" rIns="0" bIns="0" rtlCol="0" anchor="t"/>
          <a:lstStyle/>
          <a:p>
            <a:pPr indent="0" marL="0">
              <a:buNone/>
            </a:pPr>
            <a:r>
              <a:rPr lang="en-US" sz="5400" b="1" dirty="0">
                <a:solidFill>
                  <a:schemeClr val="accent2"/>
                </a:solidFill>
                <a:latin typeface="Arial" pitchFamily="34" charset="0"/>
                <a:ea typeface="Arial" pitchFamily="34" charset="-122"/>
                <a:cs typeface="Arial" pitchFamily="34" charset="-120"/>
              </a:rPr>
              <a:t>16 billion</a:t>
            </a:r>
            <a:endParaRPr lang="en-US" sz="5400" dirty="0"/>
          </a:p>
        </p:txBody>
      </p:sp>
      <p:sp>
        <p:nvSpPr>
          <p:cNvPr id="9" name="Text 7"/>
          <p:cNvSpPr txBox="1"/>
          <p:nvPr/>
        </p:nvSpPr>
        <p:spPr>
          <a:xfrm>
            <a:off x="822960" y="4983480"/>
            <a:ext cx="3291840" cy="731520"/>
          </a:xfrm>
          <a:prstGeom prst="rect">
            <a:avLst/>
          </a:prstGeom>
          <a:noFill/>
          <a:ln/>
        </p:spPr>
        <p:txBody>
          <a:bodyPr wrap="square" lIns="0" tIns="0" rIns="0" bIns="0" rtlCol="0" anchor="t"/>
          <a:lstStyle/>
          <a:p>
            <a:pPr indent="0" marL="0">
              <a:buNone/>
            </a:pPr>
            <a:r>
              <a:rPr lang="en-US" sz="1500" dirty="0">
                <a:solidFill>
                  <a:schemeClr val="bg1"/>
                </a:solidFill>
              </a:rPr>
              <a:t>login credentials found in leaked datasets, many reused across accounts</a:t>
            </a:r>
            <a:endParaRPr lang="en-US" sz="1500" dirty="0"/>
          </a:p>
        </p:txBody>
      </p:sp>
      <p:sp>
        <p:nvSpPr>
          <p:cNvPr id="10" name="Text 8"/>
          <p:cNvSpPr txBox="1"/>
          <p:nvPr/>
        </p:nvSpPr>
        <p:spPr>
          <a:xfrm>
            <a:off x="822960" y="5715000"/>
            <a:ext cx="3291840" cy="274320"/>
          </a:xfrm>
          <a:prstGeom prst="rect">
            <a:avLst/>
          </a:prstGeom>
          <a:noFill/>
          <a:ln/>
        </p:spPr>
        <p:txBody>
          <a:bodyPr wrap="square" lIns="0" tIns="0" rIns="0" bIns="0" rtlCol="0" anchor="t"/>
          <a:lstStyle/>
          <a:p>
            <a:pPr indent="0" marL="0">
              <a:buNone/>
            </a:pPr>
            <a:r>
              <a:rPr lang="en-US" sz="1100" i="1" dirty="0">
                <a:solidFill>
                  <a:schemeClr val="accent4"/>
                </a:solidFill>
              </a:rPr>
              <a:t>Cybernews research, June 2025</a:t>
            </a:r>
            <a:endParaRPr lang="en-US" sz="1100" dirty="0"/>
          </a:p>
        </p:txBody>
      </p:sp>
      <p:sp>
        <p:nvSpPr>
          <p:cNvPr id="11" name="image-frame"/>
          <p:cNvSpPr/>
          <p:nvPr/>
        </p:nvSpPr>
        <p:spPr>
          <a:xfrm>
            <a:off x="4727448" y="1324372"/>
            <a:ext cx="3255264" cy="3752057"/>
          </a:xfrm>
          <a:prstGeom prst="roundRect">
            <a:avLst>
              <a:gd name="adj" fmla="val 2809"/>
            </a:avLst>
          </a:prstGeom>
          <a:solidFill>
            <a:schemeClr val="accent5"/>
          </a:solidFill>
          <a:ln/>
          <a:effectLst>
            <a:outerShdw sx="100000" sy="100000" kx="0" ky="0" algn="bl" rotWithShape="0" blurRad="152400" dist="50800" dir="5400000">
              <a:srgbClr val="000000">
                <a:alpha val="45000"/>
              </a:srgbClr>
            </a:outerShdw>
          </a:effectLst>
        </p:spPr>
      </p:sp>
      <p:pic>
        <p:nvPicPr>
          <p:cNvPr id="12" name="image" descr="Instagram post: 16 billion credentials exposed, data breach detected.">    </p:cNvPr>
          <p:cNvPicPr>
            <a:picLocks noChangeAspect="1"/>
          </p:cNvPicPr>
          <p:nvPr/>
        </p:nvPicPr>
        <p:blipFill>
          <a:blip r:embed="rId1"/>
          <a:stretch>
            <a:fillRect/>
          </a:stretch>
        </p:blipFill>
        <p:spPr>
          <a:xfrm>
            <a:off x="4800600" y="1397524"/>
            <a:ext cx="3108960" cy="3605753"/>
          </a:xfrm>
          <a:prstGeom prst="rect">
            <a:avLst/>
          </a:prstGeom>
        </p:spPr>
      </p:pic>
      <p:sp>
        <p:nvSpPr>
          <p:cNvPr id="13" name="Text 10"/>
          <p:cNvSpPr txBox="1"/>
          <p:nvPr/>
        </p:nvSpPr>
        <p:spPr>
          <a:xfrm>
            <a:off x="4800600" y="5257800"/>
            <a:ext cx="3108960" cy="365760"/>
          </a:xfrm>
          <a:prstGeom prst="rect">
            <a:avLst/>
          </a:prstGeom>
          <a:noFill/>
          <a:ln/>
        </p:spPr>
        <p:txBody>
          <a:bodyPr wrap="square" lIns="0" tIns="0" rIns="0" bIns="0" rtlCol="0" anchor="t"/>
          <a:lstStyle/>
          <a:p>
            <a:pPr algn="ctr" indent="0" marL="0">
              <a:buNone/>
            </a:pPr>
            <a:r>
              <a:rPr lang="en-US" sz="1200" dirty="0">
                <a:solidFill>
                  <a:schemeClr val="accent4"/>
                </a:solidFill>
              </a:rPr>
              <a:t>Our Instagram post on the same story</a:t>
            </a:r>
            <a:endParaRPr lang="en-US" sz="1200" dirty="0"/>
          </a:p>
        </p:txBody>
      </p:sp>
      <p:sp>
        <p:nvSpPr>
          <p:cNvPr id="14" name="icon-bg-mail"/>
          <p:cNvSpPr/>
          <p:nvPr/>
        </p:nvSpPr>
        <p:spPr>
          <a:xfrm>
            <a:off x="8321040" y="1463040"/>
            <a:ext cx="548640" cy="548640"/>
          </a:xfrm>
          <a:prstGeom prst="ellipse">
            <a:avLst/>
          </a:prstGeom>
          <a:solidFill>
            <a:schemeClr val="accent5"/>
          </a:solidFill>
          <a:ln/>
        </p:spPr>
      </p:sp>
      <p:pic>
        <p:nvPicPr>
          <p:cNvPr id="15" name="icon-mail" descr="preencoded.png">    </p:cNvPr>
          <p:cNvPicPr>
            <a:picLocks noChangeAspect="1"/>
          </p:cNvPicPr>
          <p:nvPr/>
        </p:nvPicPr>
        <p:blipFill>
          <a:blip r:embed="rId2"/>
          <a:stretch>
            <a:fillRect/>
          </a:stretch>
        </p:blipFill>
        <p:spPr>
          <a:xfrm>
            <a:off x="8441741" y="1583741"/>
            <a:ext cx="307238" cy="307238"/>
          </a:xfrm>
          <a:prstGeom prst="rect">
            <a:avLst/>
          </a:prstGeom>
        </p:spPr>
      </p:pic>
      <p:sp>
        <p:nvSpPr>
          <p:cNvPr id="16" name="Text 12"/>
          <p:cNvSpPr txBox="1"/>
          <p:nvPr/>
        </p:nvSpPr>
        <p:spPr>
          <a:xfrm>
            <a:off x="9006840" y="1463040"/>
            <a:ext cx="2651760" cy="365760"/>
          </a:xfrm>
          <a:prstGeom prst="rect">
            <a:avLst/>
          </a:prstGeom>
          <a:noFill/>
          <a:ln/>
        </p:spPr>
        <p:txBody>
          <a:bodyPr wrap="square" lIns="0" tIns="0" rIns="0" bIns="0" rtlCol="0" anchor="t"/>
          <a:lstStyle/>
          <a:p>
            <a:pPr indent="0" marL="0">
              <a:buNone/>
            </a:pPr>
            <a:r>
              <a:rPr lang="en-US" sz="1700" b="1" dirty="0">
                <a:solidFill>
                  <a:schemeClr val="bg1"/>
                </a:solidFill>
              </a:rPr>
              <a:t>Phishing is cheap</a:t>
            </a:r>
            <a:endParaRPr lang="en-US" sz="1700" dirty="0"/>
          </a:p>
        </p:txBody>
      </p:sp>
      <p:sp>
        <p:nvSpPr>
          <p:cNvPr id="17" name="Text 13"/>
          <p:cNvSpPr txBox="1"/>
          <p:nvPr/>
        </p:nvSpPr>
        <p:spPr>
          <a:xfrm>
            <a:off x="9006840" y="1847088"/>
            <a:ext cx="2651760" cy="914400"/>
          </a:xfrm>
          <a:prstGeom prst="rect">
            <a:avLst/>
          </a:prstGeom>
          <a:noFill/>
          <a:ln/>
        </p:spPr>
        <p:txBody>
          <a:bodyPr wrap="square" lIns="0" tIns="0" rIns="0" bIns="0" rtlCol="0" anchor="t"/>
          <a:lstStyle/>
          <a:p>
            <a:pPr indent="0" marL="0">
              <a:buNone/>
            </a:pPr>
            <a:r>
              <a:rPr lang="en-US" sz="1400" dirty="0">
                <a:solidFill>
                  <a:schemeClr val="accent4"/>
                </a:solidFill>
              </a:rPr>
              <a:t>One email reaches thousands of inboxes at no cost.</a:t>
            </a:r>
            <a:endParaRPr lang="en-US" sz="1400" dirty="0"/>
          </a:p>
        </p:txBody>
      </p:sp>
      <p:sp>
        <p:nvSpPr>
          <p:cNvPr id="18" name="icon-bg-key"/>
          <p:cNvSpPr/>
          <p:nvPr/>
        </p:nvSpPr>
        <p:spPr>
          <a:xfrm>
            <a:off x="8321040" y="2971800"/>
            <a:ext cx="548640" cy="548640"/>
          </a:xfrm>
          <a:prstGeom prst="ellipse">
            <a:avLst/>
          </a:prstGeom>
          <a:solidFill>
            <a:schemeClr val="accent5"/>
          </a:solidFill>
          <a:ln/>
        </p:spPr>
      </p:sp>
      <p:pic>
        <p:nvPicPr>
          <p:cNvPr id="19" name="icon-key" descr="preencoded.png">    </p:cNvPr>
          <p:cNvPicPr>
            <a:picLocks noChangeAspect="1"/>
          </p:cNvPicPr>
          <p:nvPr/>
        </p:nvPicPr>
        <p:blipFill>
          <a:blip r:embed="rId3"/>
          <a:stretch>
            <a:fillRect/>
          </a:stretch>
        </p:blipFill>
        <p:spPr>
          <a:xfrm>
            <a:off x="8441741" y="3092501"/>
            <a:ext cx="307238" cy="307238"/>
          </a:xfrm>
          <a:prstGeom prst="rect">
            <a:avLst/>
          </a:prstGeom>
        </p:spPr>
      </p:pic>
      <p:sp>
        <p:nvSpPr>
          <p:cNvPr id="20" name="Text 15"/>
          <p:cNvSpPr txBox="1"/>
          <p:nvPr/>
        </p:nvSpPr>
        <p:spPr>
          <a:xfrm>
            <a:off x="9006840" y="2971800"/>
            <a:ext cx="2651760" cy="365760"/>
          </a:xfrm>
          <a:prstGeom prst="rect">
            <a:avLst/>
          </a:prstGeom>
          <a:noFill/>
          <a:ln/>
        </p:spPr>
        <p:txBody>
          <a:bodyPr wrap="square" lIns="0" tIns="0" rIns="0" bIns="0" rtlCol="0" anchor="t"/>
          <a:lstStyle/>
          <a:p>
            <a:pPr indent="0" marL="0">
              <a:buNone/>
            </a:pPr>
            <a:r>
              <a:rPr lang="en-US" sz="1700" b="1" dirty="0">
                <a:solidFill>
                  <a:schemeClr val="bg1"/>
                </a:solidFill>
              </a:rPr>
              <a:t>One password, many doors</a:t>
            </a:r>
            <a:endParaRPr lang="en-US" sz="1700" dirty="0"/>
          </a:p>
        </p:txBody>
      </p:sp>
      <p:sp>
        <p:nvSpPr>
          <p:cNvPr id="21" name="Text 16"/>
          <p:cNvSpPr txBox="1"/>
          <p:nvPr/>
        </p:nvSpPr>
        <p:spPr>
          <a:xfrm>
            <a:off x="9006840" y="3355848"/>
            <a:ext cx="2651760" cy="914400"/>
          </a:xfrm>
          <a:prstGeom prst="rect">
            <a:avLst/>
          </a:prstGeom>
          <a:noFill/>
          <a:ln/>
        </p:spPr>
        <p:txBody>
          <a:bodyPr wrap="square" lIns="0" tIns="0" rIns="0" bIns="0" rtlCol="0" anchor="t"/>
          <a:lstStyle/>
          <a:p>
            <a:pPr indent="0" marL="0">
              <a:buNone/>
            </a:pPr>
            <a:r>
              <a:rPr lang="en-US" sz="1400" dirty="0">
                <a:solidFill>
                  <a:schemeClr val="accent4"/>
                </a:solidFill>
              </a:rPr>
              <a:t>A single leaked, reused password unlocks email, banking and social accounts.</a:t>
            </a:r>
            <a:endParaRPr lang="en-US" sz="1400" dirty="0"/>
          </a:p>
        </p:txBody>
      </p:sp>
      <p:sp>
        <p:nvSpPr>
          <p:cNvPr id="22" name="icon-bg-users"/>
          <p:cNvSpPr/>
          <p:nvPr/>
        </p:nvSpPr>
        <p:spPr>
          <a:xfrm>
            <a:off x="8321040" y="4480560"/>
            <a:ext cx="548640" cy="548640"/>
          </a:xfrm>
          <a:prstGeom prst="ellipse">
            <a:avLst/>
          </a:prstGeom>
          <a:solidFill>
            <a:schemeClr val="accent5"/>
          </a:solidFill>
          <a:ln/>
        </p:spPr>
      </p:sp>
      <p:pic>
        <p:nvPicPr>
          <p:cNvPr id="23" name="icon-users" descr="preencoded.png">    </p:cNvPr>
          <p:cNvPicPr>
            <a:picLocks noChangeAspect="1"/>
          </p:cNvPicPr>
          <p:nvPr/>
        </p:nvPicPr>
        <p:blipFill>
          <a:blip r:embed="rId4"/>
          <a:stretch>
            <a:fillRect/>
          </a:stretch>
        </p:blipFill>
        <p:spPr>
          <a:xfrm>
            <a:off x="8441741" y="4601261"/>
            <a:ext cx="307238" cy="307238"/>
          </a:xfrm>
          <a:prstGeom prst="rect">
            <a:avLst/>
          </a:prstGeom>
        </p:spPr>
      </p:pic>
      <p:sp>
        <p:nvSpPr>
          <p:cNvPr id="24" name="Text 18"/>
          <p:cNvSpPr txBox="1"/>
          <p:nvPr/>
        </p:nvSpPr>
        <p:spPr>
          <a:xfrm>
            <a:off x="9006840" y="4480560"/>
            <a:ext cx="2651760" cy="365760"/>
          </a:xfrm>
          <a:prstGeom prst="rect">
            <a:avLst/>
          </a:prstGeom>
          <a:noFill/>
          <a:ln/>
        </p:spPr>
        <p:txBody>
          <a:bodyPr wrap="square" lIns="0" tIns="0" rIns="0" bIns="0" rtlCol="0" anchor="t"/>
          <a:lstStyle/>
          <a:p>
            <a:pPr indent="0" marL="0">
              <a:buNone/>
            </a:pPr>
            <a:r>
              <a:rPr lang="en-US" sz="1700" b="1" dirty="0">
                <a:solidFill>
                  <a:schemeClr val="bg1"/>
                </a:solidFill>
              </a:rPr>
              <a:t>People make the call</a:t>
            </a:r>
            <a:endParaRPr lang="en-US" sz="1700" dirty="0"/>
          </a:p>
        </p:txBody>
      </p:sp>
      <p:sp>
        <p:nvSpPr>
          <p:cNvPr id="25" name="Text 19"/>
          <p:cNvSpPr txBox="1"/>
          <p:nvPr/>
        </p:nvSpPr>
        <p:spPr>
          <a:xfrm>
            <a:off x="9006840" y="4864608"/>
            <a:ext cx="2651760" cy="914400"/>
          </a:xfrm>
          <a:prstGeom prst="rect">
            <a:avLst/>
          </a:prstGeom>
          <a:noFill/>
          <a:ln/>
        </p:spPr>
        <p:txBody>
          <a:bodyPr wrap="square" lIns="0" tIns="0" rIns="0" bIns="0" rtlCol="0" anchor="t"/>
          <a:lstStyle/>
          <a:p>
            <a:pPr indent="0" marL="0">
              <a:buNone/>
            </a:pPr>
            <a:r>
              <a:rPr lang="en-US" sz="1400" dirty="0">
                <a:solidFill>
                  <a:schemeClr val="accent4"/>
                </a:solidFill>
              </a:rPr>
              <a:t>Filters miss messages that look normal. People decide whether to click.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Why students, and what we want them to do</a:t>
            </a:r>
            <a:endParaRPr lang="en-US" sz="3400" dirty="0"/>
          </a:p>
        </p:txBody>
      </p:sp>
      <p:sp>
        <p:nvSpPr>
          <p:cNvPr id="3" name="Text 1"/>
          <p:cNvSpPr txBox="1"/>
          <p:nvPr/>
        </p:nvSpPr>
        <p:spPr>
          <a:xfrm>
            <a:off x="548640" y="1371600"/>
            <a:ext cx="5120640" cy="411480"/>
          </a:xfrm>
          <a:prstGeom prst="rect">
            <a:avLst/>
          </a:prstGeom>
          <a:noFill/>
          <a:ln/>
        </p:spPr>
        <p:txBody>
          <a:bodyPr wrap="square" lIns="0" tIns="0" rIns="0" bIns="0" rtlCol="0" anchor="t"/>
          <a:lstStyle/>
          <a:p>
            <a:pPr indent="0" marL="0">
              <a:buNone/>
            </a:pPr>
            <a:r>
              <a:rPr lang="en-US" sz="1800" b="1" dirty="0">
                <a:solidFill>
                  <a:schemeClr val="accent2"/>
                </a:solidFill>
              </a:rPr>
              <a:t>Our audience: university students, 18+</a:t>
            </a:r>
            <a:endParaRPr lang="en-US" sz="1800" dirty="0"/>
          </a:p>
        </p:txBody>
      </p:sp>
      <p:sp>
        <p:nvSpPr>
          <p:cNvPr id="4" name="icon-bg-mail"/>
          <p:cNvSpPr/>
          <p:nvPr/>
        </p:nvSpPr>
        <p:spPr>
          <a:xfrm>
            <a:off x="548640" y="2011680"/>
            <a:ext cx="548640" cy="548640"/>
          </a:xfrm>
          <a:prstGeom prst="ellipse">
            <a:avLst/>
          </a:prstGeom>
          <a:solidFill>
            <a:schemeClr val="accent5"/>
          </a:solidFill>
          <a:ln/>
        </p:spPr>
      </p:sp>
      <p:pic>
        <p:nvPicPr>
          <p:cNvPr id="5" name="icon-mail" descr="preencoded.png">    </p:cNvPr>
          <p:cNvPicPr>
            <a:picLocks noChangeAspect="1"/>
          </p:cNvPicPr>
          <p:nvPr/>
        </p:nvPicPr>
        <p:blipFill>
          <a:blip r:embed="rId1"/>
          <a:stretch>
            <a:fillRect/>
          </a:stretch>
        </p:blipFill>
        <p:spPr>
          <a:xfrm>
            <a:off x="669341" y="2132381"/>
            <a:ext cx="307238" cy="307238"/>
          </a:xfrm>
          <a:prstGeom prst="rect">
            <a:avLst/>
          </a:prstGeom>
        </p:spPr>
      </p:pic>
      <p:sp>
        <p:nvSpPr>
          <p:cNvPr id="6" name="Text 3"/>
          <p:cNvSpPr txBox="1"/>
          <p:nvPr/>
        </p:nvSpPr>
        <p:spPr>
          <a:xfrm>
            <a:off x="1280160" y="1993392"/>
            <a:ext cx="4480560" cy="365760"/>
          </a:xfrm>
          <a:prstGeom prst="rect">
            <a:avLst/>
          </a:prstGeom>
          <a:noFill/>
          <a:ln/>
        </p:spPr>
        <p:txBody>
          <a:bodyPr wrap="square" lIns="0" tIns="0" rIns="0" bIns="0" rtlCol="0" anchor="t"/>
          <a:lstStyle/>
          <a:p>
            <a:pPr indent="0" marL="0">
              <a:buNone/>
            </a:pPr>
            <a:r>
              <a:rPr lang="en-US" sz="1700" b="1" dirty="0">
                <a:solidFill>
                  <a:schemeClr val="bg1"/>
                </a:solidFill>
              </a:rPr>
              <a:t>New university accounts</a:t>
            </a:r>
            <a:endParaRPr lang="en-US" sz="1700" dirty="0"/>
          </a:p>
        </p:txBody>
      </p:sp>
      <p:sp>
        <p:nvSpPr>
          <p:cNvPr id="7" name="Text 4"/>
          <p:cNvSpPr txBox="1"/>
          <p:nvPr/>
        </p:nvSpPr>
        <p:spPr>
          <a:xfrm>
            <a:off x="1280160" y="235915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Logins and student emails that attackers impersonate</a:t>
            </a:r>
            <a:endParaRPr lang="en-US" sz="1400" dirty="0"/>
          </a:p>
        </p:txBody>
      </p:sp>
      <p:sp>
        <p:nvSpPr>
          <p:cNvPr id="8" name="icon-bg-phone"/>
          <p:cNvSpPr/>
          <p:nvPr/>
        </p:nvSpPr>
        <p:spPr>
          <a:xfrm>
            <a:off x="548640" y="3017520"/>
            <a:ext cx="548640" cy="548640"/>
          </a:xfrm>
          <a:prstGeom prst="ellipse">
            <a:avLst/>
          </a:prstGeom>
          <a:solidFill>
            <a:schemeClr val="accent5"/>
          </a:solidFill>
          <a:ln/>
        </p:spPr>
      </p:sp>
      <p:pic>
        <p:nvPicPr>
          <p:cNvPr id="9" name="icon-phone" descr="preencoded.png">    </p:cNvPr>
          <p:cNvPicPr>
            <a:picLocks noChangeAspect="1"/>
          </p:cNvPicPr>
          <p:nvPr/>
        </p:nvPicPr>
        <p:blipFill>
          <a:blip r:embed="rId2"/>
          <a:stretch>
            <a:fillRect/>
          </a:stretch>
        </p:blipFill>
        <p:spPr>
          <a:xfrm>
            <a:off x="669341" y="3138221"/>
            <a:ext cx="307238" cy="307238"/>
          </a:xfrm>
          <a:prstGeom prst="rect">
            <a:avLst/>
          </a:prstGeom>
        </p:spPr>
      </p:pic>
      <p:sp>
        <p:nvSpPr>
          <p:cNvPr id="10" name="Text 6"/>
          <p:cNvSpPr txBox="1"/>
          <p:nvPr/>
        </p:nvSpPr>
        <p:spPr>
          <a:xfrm>
            <a:off x="1280160" y="2999232"/>
            <a:ext cx="4480560" cy="365760"/>
          </a:xfrm>
          <a:prstGeom prst="rect">
            <a:avLst/>
          </a:prstGeom>
          <a:noFill/>
          <a:ln/>
        </p:spPr>
        <p:txBody>
          <a:bodyPr wrap="square" lIns="0" tIns="0" rIns="0" bIns="0" rtlCol="0" anchor="t"/>
          <a:lstStyle/>
          <a:p>
            <a:pPr indent="0" marL="0">
              <a:buNone/>
            </a:pPr>
            <a:r>
              <a:rPr lang="en-US" sz="1700" b="1" dirty="0">
                <a:solidFill>
                  <a:schemeClr val="bg1"/>
                </a:solidFill>
              </a:rPr>
              <a:t>Constant scam texts</a:t>
            </a:r>
            <a:endParaRPr lang="en-US" sz="1700" dirty="0"/>
          </a:p>
        </p:txBody>
      </p:sp>
      <p:sp>
        <p:nvSpPr>
          <p:cNvPr id="11" name="Text 7"/>
          <p:cNvSpPr txBox="1"/>
          <p:nvPr/>
        </p:nvSpPr>
        <p:spPr>
          <a:xfrm>
            <a:off x="1280160" y="336499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Parcel fees, bank OTP calls, "send me the code"</a:t>
            </a:r>
            <a:endParaRPr lang="en-US" sz="1400" dirty="0"/>
          </a:p>
        </p:txBody>
      </p:sp>
      <p:sp>
        <p:nvSpPr>
          <p:cNvPr id="12" name="icon-bg-users"/>
          <p:cNvSpPr/>
          <p:nvPr/>
        </p:nvSpPr>
        <p:spPr>
          <a:xfrm>
            <a:off x="548640" y="4023360"/>
            <a:ext cx="548640" cy="548640"/>
          </a:xfrm>
          <a:prstGeom prst="ellipse">
            <a:avLst/>
          </a:prstGeom>
          <a:solidFill>
            <a:schemeClr val="accent5"/>
          </a:solidFill>
          <a:ln/>
        </p:spPr>
      </p:sp>
      <p:pic>
        <p:nvPicPr>
          <p:cNvPr id="13" name="icon-users" descr="preencoded.png">    </p:cNvPr>
          <p:cNvPicPr>
            <a:picLocks noChangeAspect="1"/>
          </p:cNvPicPr>
          <p:nvPr/>
        </p:nvPicPr>
        <p:blipFill>
          <a:blip r:embed="rId3"/>
          <a:stretch>
            <a:fillRect/>
          </a:stretch>
        </p:blipFill>
        <p:spPr>
          <a:xfrm>
            <a:off x="669341" y="4144061"/>
            <a:ext cx="307238" cy="307238"/>
          </a:xfrm>
          <a:prstGeom prst="rect">
            <a:avLst/>
          </a:prstGeom>
        </p:spPr>
      </p:pic>
      <p:sp>
        <p:nvSpPr>
          <p:cNvPr id="14" name="Text 9"/>
          <p:cNvSpPr txBox="1"/>
          <p:nvPr/>
        </p:nvSpPr>
        <p:spPr>
          <a:xfrm>
            <a:off x="1280160" y="4005072"/>
            <a:ext cx="4480560" cy="365760"/>
          </a:xfrm>
          <a:prstGeom prst="rect">
            <a:avLst/>
          </a:prstGeom>
          <a:noFill/>
          <a:ln/>
        </p:spPr>
        <p:txBody>
          <a:bodyPr wrap="square" lIns="0" tIns="0" rIns="0" bIns="0" rtlCol="0" anchor="t"/>
          <a:lstStyle/>
          <a:p>
            <a:pPr indent="0" marL="0">
              <a:buNone/>
            </a:pPr>
            <a:r>
              <a:rPr lang="en-US" sz="1700" b="1" dirty="0">
                <a:solidFill>
                  <a:schemeClr val="bg1"/>
                </a:solidFill>
              </a:rPr>
              <a:t>Links shared in group chats</a:t>
            </a:r>
            <a:endParaRPr lang="en-US" sz="1700" dirty="0"/>
          </a:p>
        </p:txBody>
      </p:sp>
      <p:sp>
        <p:nvSpPr>
          <p:cNvPr id="15" name="Text 10"/>
          <p:cNvSpPr txBox="1"/>
          <p:nvPr/>
        </p:nvSpPr>
        <p:spPr>
          <a:xfrm>
            <a:off x="1280160" y="437083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Fast sharing, little checking</a:t>
            </a:r>
            <a:endParaRPr lang="en-US" sz="1400" dirty="0"/>
          </a:p>
        </p:txBody>
      </p:sp>
      <p:sp>
        <p:nvSpPr>
          <p:cNvPr id="16" name="icon-bg-key"/>
          <p:cNvSpPr/>
          <p:nvPr/>
        </p:nvSpPr>
        <p:spPr>
          <a:xfrm>
            <a:off x="548640" y="5029200"/>
            <a:ext cx="548640" cy="548640"/>
          </a:xfrm>
          <a:prstGeom prst="ellipse">
            <a:avLst/>
          </a:prstGeom>
          <a:solidFill>
            <a:schemeClr val="accent5"/>
          </a:solidFill>
          <a:ln/>
        </p:spPr>
      </p:sp>
      <p:pic>
        <p:nvPicPr>
          <p:cNvPr id="17" name="icon-key" descr="preencoded.png">    </p:cNvPr>
          <p:cNvPicPr>
            <a:picLocks noChangeAspect="1"/>
          </p:cNvPicPr>
          <p:nvPr/>
        </p:nvPicPr>
        <p:blipFill>
          <a:blip r:embed="rId4"/>
          <a:stretch>
            <a:fillRect/>
          </a:stretch>
        </p:blipFill>
        <p:spPr>
          <a:xfrm>
            <a:off x="669341" y="5149901"/>
            <a:ext cx="307238" cy="307238"/>
          </a:xfrm>
          <a:prstGeom prst="rect">
            <a:avLst/>
          </a:prstGeom>
        </p:spPr>
      </p:pic>
      <p:sp>
        <p:nvSpPr>
          <p:cNvPr id="18" name="Text 12"/>
          <p:cNvSpPr txBox="1"/>
          <p:nvPr/>
        </p:nvSpPr>
        <p:spPr>
          <a:xfrm>
            <a:off x="1280160" y="5010912"/>
            <a:ext cx="4480560" cy="365760"/>
          </a:xfrm>
          <a:prstGeom prst="rect">
            <a:avLst/>
          </a:prstGeom>
          <a:noFill/>
          <a:ln/>
        </p:spPr>
        <p:txBody>
          <a:bodyPr wrap="square" lIns="0" tIns="0" rIns="0" bIns="0" rtlCol="0" anchor="t"/>
          <a:lstStyle/>
          <a:p>
            <a:pPr indent="0" marL="0">
              <a:buNone/>
            </a:pPr>
            <a:r>
              <a:rPr lang="en-US" sz="1700" b="1" dirty="0">
                <a:solidFill>
                  <a:schemeClr val="bg1"/>
                </a:solidFill>
              </a:rPr>
              <a:t>Reused passwords</a:t>
            </a:r>
            <a:endParaRPr lang="en-US" sz="1700" dirty="0"/>
          </a:p>
        </p:txBody>
      </p:sp>
      <p:sp>
        <p:nvSpPr>
          <p:cNvPr id="19" name="Text 13"/>
          <p:cNvSpPr txBox="1"/>
          <p:nvPr/>
        </p:nvSpPr>
        <p:spPr>
          <a:xfrm>
            <a:off x="1280160" y="537667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One leak exposes every account</a:t>
            </a:r>
            <a:endParaRPr lang="en-US" sz="1400" dirty="0"/>
          </a:p>
        </p:txBody>
      </p:sp>
      <p:sp>
        <p:nvSpPr>
          <p:cNvPr id="20" name="card"/>
          <p:cNvSpPr/>
          <p:nvPr/>
        </p:nvSpPr>
        <p:spPr>
          <a:xfrm>
            <a:off x="6309360" y="1371600"/>
            <a:ext cx="5303520" cy="1371600"/>
          </a:xfrm>
          <a:prstGeom prst="roundRect">
            <a:avLst>
              <a:gd name="adj" fmla="val 8000"/>
            </a:avLst>
          </a:prstGeom>
          <a:solidFill>
            <a:schemeClr val="tx2"/>
          </a:solidFill>
          <a:ln/>
        </p:spPr>
      </p:sp>
      <p:sp>
        <p:nvSpPr>
          <p:cNvPr id="21" name="Text 15"/>
          <p:cNvSpPr txBox="1"/>
          <p:nvPr/>
        </p:nvSpPr>
        <p:spPr>
          <a:xfrm>
            <a:off x="6537960" y="1554480"/>
            <a:ext cx="640080" cy="100584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1</a:t>
            </a:r>
            <a:endParaRPr lang="en-US" sz="4800" dirty="0"/>
          </a:p>
        </p:txBody>
      </p:sp>
      <p:sp>
        <p:nvSpPr>
          <p:cNvPr id="22" name="Text 16"/>
          <p:cNvSpPr txBox="1"/>
          <p:nvPr/>
        </p:nvSpPr>
        <p:spPr>
          <a:xfrm>
            <a:off x="7315200" y="1572768"/>
            <a:ext cx="411480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SPOT it</a:t>
            </a:r>
            <a:endParaRPr lang="en-US" sz="2200" dirty="0"/>
          </a:p>
        </p:txBody>
      </p:sp>
      <p:sp>
        <p:nvSpPr>
          <p:cNvPr id="23" name="Text 17"/>
          <p:cNvSpPr txBox="1"/>
          <p:nvPr/>
        </p:nvSpPr>
        <p:spPr>
          <a:xfrm>
            <a:off x="7315200" y="2057400"/>
            <a:ext cx="4114800" cy="548640"/>
          </a:xfrm>
          <a:prstGeom prst="rect">
            <a:avLst/>
          </a:prstGeom>
          <a:noFill/>
          <a:ln/>
        </p:spPr>
        <p:txBody>
          <a:bodyPr wrap="square" lIns="0" tIns="0" rIns="0" bIns="0" rtlCol="0" anchor="t"/>
          <a:lstStyle/>
          <a:p>
            <a:pPr indent="0" marL="0">
              <a:buNone/>
            </a:pPr>
            <a:r>
              <a:rPr lang="en-US" sz="1500" dirty="0">
                <a:solidFill>
                  <a:schemeClr val="bg1"/>
                </a:solidFill>
              </a:rPr>
              <a:t>Recognise the signs of phishing, smishing and impersonation</a:t>
            </a:r>
            <a:endParaRPr lang="en-US" sz="1500" dirty="0"/>
          </a:p>
        </p:txBody>
      </p:sp>
      <p:sp>
        <p:nvSpPr>
          <p:cNvPr id="24" name="card"/>
          <p:cNvSpPr/>
          <p:nvPr/>
        </p:nvSpPr>
        <p:spPr>
          <a:xfrm>
            <a:off x="6309360" y="2971800"/>
            <a:ext cx="5303520" cy="1371600"/>
          </a:xfrm>
          <a:prstGeom prst="roundRect">
            <a:avLst>
              <a:gd name="adj" fmla="val 8000"/>
            </a:avLst>
          </a:prstGeom>
          <a:solidFill>
            <a:schemeClr val="tx2"/>
          </a:solidFill>
          <a:ln/>
        </p:spPr>
      </p:sp>
      <p:sp>
        <p:nvSpPr>
          <p:cNvPr id="25" name="Text 19"/>
          <p:cNvSpPr txBox="1"/>
          <p:nvPr/>
        </p:nvSpPr>
        <p:spPr>
          <a:xfrm>
            <a:off x="6537960" y="3154680"/>
            <a:ext cx="640080" cy="1005840"/>
          </a:xfrm>
          <a:prstGeom prst="rect">
            <a:avLst/>
          </a:prstGeom>
          <a:noFill/>
          <a:ln/>
        </p:spPr>
        <p:txBody>
          <a:bodyPr wrap="square" lIns="0" tIns="0" rIns="0" bIns="0" rtlCol="0" anchor="t"/>
          <a:lstStyle/>
          <a:p>
            <a:pPr indent="0" marL="0">
              <a:buNone/>
            </a:pPr>
            <a:r>
              <a:rPr lang="en-US" sz="4800" b="1" dirty="0">
                <a:solidFill>
                  <a:schemeClr val="accent3"/>
                </a:solidFill>
                <a:latin typeface="Arial" pitchFamily="34" charset="0"/>
                <a:ea typeface="Arial" pitchFamily="34" charset="-122"/>
                <a:cs typeface="Arial" pitchFamily="34" charset="-120"/>
              </a:rPr>
              <a:t>2</a:t>
            </a:r>
            <a:endParaRPr lang="en-US" sz="4800" dirty="0"/>
          </a:p>
        </p:txBody>
      </p:sp>
      <p:sp>
        <p:nvSpPr>
          <p:cNvPr id="26" name="Text 20"/>
          <p:cNvSpPr txBox="1"/>
          <p:nvPr/>
        </p:nvSpPr>
        <p:spPr>
          <a:xfrm>
            <a:off x="7315200" y="3172968"/>
            <a:ext cx="4114800" cy="457200"/>
          </a:xfrm>
          <a:prstGeom prst="rect">
            <a:avLst/>
          </a:prstGeom>
          <a:noFill/>
          <a:ln/>
        </p:spPr>
        <p:txBody>
          <a:bodyPr wrap="square" lIns="0" tIns="0" rIns="0" bIns="0" rtlCol="0" anchor="t"/>
          <a:lstStyle/>
          <a:p>
            <a:pPr indent="0" marL="0">
              <a:buNone/>
            </a:pPr>
            <a:r>
              <a:rPr lang="en-US" sz="2200" b="1" dirty="0">
                <a:solidFill>
                  <a:schemeClr val="accent3"/>
                </a:solidFill>
                <a:latin typeface="Arial" pitchFamily="34" charset="0"/>
                <a:ea typeface="Arial" pitchFamily="34" charset="-122"/>
                <a:cs typeface="Arial" pitchFamily="34" charset="-120"/>
              </a:rPr>
              <a:t>VERIFY it</a:t>
            </a:r>
            <a:endParaRPr lang="en-US" sz="2200" dirty="0"/>
          </a:p>
        </p:txBody>
      </p:sp>
      <p:sp>
        <p:nvSpPr>
          <p:cNvPr id="27" name="Text 21"/>
          <p:cNvSpPr txBox="1"/>
          <p:nvPr/>
        </p:nvSpPr>
        <p:spPr>
          <a:xfrm>
            <a:off x="7315200" y="3657600"/>
            <a:ext cx="4114800" cy="548640"/>
          </a:xfrm>
          <a:prstGeom prst="rect">
            <a:avLst/>
          </a:prstGeom>
          <a:noFill/>
          <a:ln/>
        </p:spPr>
        <p:txBody>
          <a:bodyPr wrap="square" lIns="0" tIns="0" rIns="0" bIns="0" rtlCol="0" anchor="t"/>
          <a:lstStyle/>
          <a:p>
            <a:pPr indent="0" marL="0">
              <a:buNone/>
            </a:pPr>
            <a:r>
              <a:rPr lang="en-US" sz="1500" dirty="0">
                <a:solidFill>
                  <a:schemeClr val="bg1"/>
                </a:solidFill>
              </a:rPr>
              <a:t>Check through a trusted route: open the app yourself, never the link</a:t>
            </a:r>
            <a:endParaRPr lang="en-US" sz="1500" dirty="0"/>
          </a:p>
        </p:txBody>
      </p:sp>
      <p:sp>
        <p:nvSpPr>
          <p:cNvPr id="28" name="card"/>
          <p:cNvSpPr/>
          <p:nvPr/>
        </p:nvSpPr>
        <p:spPr>
          <a:xfrm>
            <a:off x="6309360" y="4572000"/>
            <a:ext cx="5303520" cy="1371600"/>
          </a:xfrm>
          <a:prstGeom prst="roundRect">
            <a:avLst>
              <a:gd name="adj" fmla="val 8000"/>
            </a:avLst>
          </a:prstGeom>
          <a:solidFill>
            <a:schemeClr val="tx2"/>
          </a:solidFill>
          <a:ln/>
        </p:spPr>
      </p:sp>
      <p:sp>
        <p:nvSpPr>
          <p:cNvPr id="29" name="Text 23"/>
          <p:cNvSpPr txBox="1"/>
          <p:nvPr/>
        </p:nvSpPr>
        <p:spPr>
          <a:xfrm>
            <a:off x="6537960" y="4754880"/>
            <a:ext cx="640080" cy="1005840"/>
          </a:xfrm>
          <a:prstGeom prst="rect">
            <a:avLst/>
          </a:prstGeom>
          <a:noFill/>
          <a:ln/>
        </p:spPr>
        <p:txBody>
          <a:bodyPr wrap="square" lIns="0" tIns="0" rIns="0" bIns="0" rtlCol="0" anchor="t"/>
          <a:lstStyle/>
          <a:p>
            <a:pPr indent="0" marL="0">
              <a:buNone/>
            </a:pPr>
            <a:r>
              <a:rPr lang="en-US" sz="4800" b="1" dirty="0">
                <a:solidFill>
                  <a:schemeClr val="accent2"/>
                </a:solidFill>
                <a:latin typeface="Arial" pitchFamily="34" charset="0"/>
                <a:ea typeface="Arial" pitchFamily="34" charset="-122"/>
                <a:cs typeface="Arial" pitchFamily="34" charset="-120"/>
              </a:rPr>
              <a:t>3</a:t>
            </a:r>
            <a:endParaRPr lang="en-US" sz="4800" dirty="0"/>
          </a:p>
        </p:txBody>
      </p:sp>
      <p:sp>
        <p:nvSpPr>
          <p:cNvPr id="30" name="Text 24"/>
          <p:cNvSpPr txBox="1"/>
          <p:nvPr/>
        </p:nvSpPr>
        <p:spPr>
          <a:xfrm>
            <a:off x="7315200" y="4773168"/>
            <a:ext cx="411480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REPORT it</a:t>
            </a:r>
            <a:endParaRPr lang="en-US" sz="2200" dirty="0"/>
          </a:p>
        </p:txBody>
      </p:sp>
      <p:sp>
        <p:nvSpPr>
          <p:cNvPr id="31" name="Text 25"/>
          <p:cNvSpPr txBox="1"/>
          <p:nvPr/>
        </p:nvSpPr>
        <p:spPr>
          <a:xfrm>
            <a:off x="7315200" y="5257800"/>
            <a:ext cx="4114800" cy="548640"/>
          </a:xfrm>
          <a:prstGeom prst="rect">
            <a:avLst/>
          </a:prstGeom>
          <a:noFill/>
          <a:ln/>
        </p:spPr>
        <p:txBody>
          <a:bodyPr wrap="square" lIns="0" tIns="0" rIns="0" bIns="0" rtlCol="0" anchor="t"/>
          <a:lstStyle/>
          <a:p>
            <a:pPr indent="0" marL="0">
              <a:buNone/>
            </a:pPr>
            <a:r>
              <a:rPr lang="en-US" sz="1500" dirty="0">
                <a:solidFill>
                  <a:schemeClr val="bg1"/>
                </a:solidFill>
              </a:rPr>
              <a:t>Stop, secure the account, tell IT or the platform</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One campaign, three parts</a:t>
            </a:r>
            <a:endParaRPr lang="en-US" sz="3400" dirty="0"/>
          </a:p>
        </p:txBody>
      </p:sp>
      <p:sp>
        <p:nvSpPr>
          <p:cNvPr id="3" name="card"/>
          <p:cNvSpPr/>
          <p:nvPr/>
        </p:nvSpPr>
        <p:spPr>
          <a:xfrm>
            <a:off x="548640" y="1417320"/>
            <a:ext cx="3429000" cy="3063240"/>
          </a:xfrm>
          <a:prstGeom prst="roundRect">
            <a:avLst>
              <a:gd name="adj" fmla="val 3582"/>
            </a:avLst>
          </a:prstGeom>
          <a:solidFill>
            <a:schemeClr val="tx2"/>
          </a:solidFill>
          <a:ln/>
        </p:spPr>
      </p:sp>
      <p:sp>
        <p:nvSpPr>
          <p:cNvPr id="4" name="icon-bg-shield"/>
          <p:cNvSpPr/>
          <p:nvPr/>
        </p:nvSpPr>
        <p:spPr>
          <a:xfrm>
            <a:off x="868680" y="1691640"/>
            <a:ext cx="685800" cy="685800"/>
          </a:xfrm>
          <a:prstGeom prst="ellipse">
            <a:avLst/>
          </a:prstGeom>
          <a:solidFill>
            <a:schemeClr val="accent5"/>
          </a:solidFill>
          <a:ln/>
        </p:spPr>
      </p:sp>
      <p:pic>
        <p:nvPicPr>
          <p:cNvPr id="5" name="icon-shield" descr="preencoded.png">    </p:cNvPr>
          <p:cNvPicPr>
            <a:picLocks noChangeAspect="1"/>
          </p:cNvPicPr>
          <p:nvPr/>
        </p:nvPicPr>
        <p:blipFill>
          <a:blip r:embed="rId1"/>
          <a:stretch>
            <a:fillRect/>
          </a:stretch>
        </p:blipFill>
        <p:spPr>
          <a:xfrm>
            <a:off x="1019556" y="1842516"/>
            <a:ext cx="384048" cy="384048"/>
          </a:xfrm>
          <a:prstGeom prst="rect">
            <a:avLst/>
          </a:prstGeom>
        </p:spPr>
      </p:pic>
      <p:sp>
        <p:nvSpPr>
          <p:cNvPr id="6" name="Text 3"/>
          <p:cNvSpPr txBox="1"/>
          <p:nvPr/>
        </p:nvSpPr>
        <p:spPr>
          <a:xfrm>
            <a:off x="868680" y="2560320"/>
            <a:ext cx="2834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CONTENT</a:t>
            </a:r>
            <a:endParaRPr lang="en-US" sz="1200" dirty="0"/>
          </a:p>
        </p:txBody>
      </p:sp>
      <p:sp>
        <p:nvSpPr>
          <p:cNvPr id="7" name="Text 4"/>
          <p:cNvSpPr txBox="1"/>
          <p:nvPr/>
        </p:nvSpPr>
        <p:spPr>
          <a:xfrm>
            <a:off x="868680" y="2834640"/>
            <a:ext cx="283464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ClickWise</a:t>
            </a:r>
            <a:endParaRPr lang="en-US" sz="2200" dirty="0"/>
          </a:p>
        </p:txBody>
      </p:sp>
      <p:sp>
        <p:nvSpPr>
          <p:cNvPr id="8" name="Text 5"/>
          <p:cNvSpPr txBox="1"/>
          <p:nvPr/>
        </p:nvSpPr>
        <p:spPr>
          <a:xfrm>
            <a:off x="868680" y="3337560"/>
            <a:ext cx="2834640" cy="1005840"/>
          </a:xfrm>
          <a:prstGeom prst="rect">
            <a:avLst/>
          </a:prstGeom>
          <a:noFill/>
          <a:ln/>
        </p:spPr>
        <p:txBody>
          <a:bodyPr wrap="square" lIns="0" tIns="0" rIns="0" bIns="0" rtlCol="0" anchor="t"/>
          <a:lstStyle/>
          <a:p>
            <a:pPr indent="0" marL="0">
              <a:buNone/>
            </a:pPr>
            <a:r>
              <a:rPr lang="en-US" sz="1400" dirty="0">
                <a:solidFill>
                  <a:schemeClr val="accent4"/>
                </a:solidFill>
              </a:rPr>
              <a:t>4-part poster and infographic series: passwords, phishing email, OTP scams, what to do</a:t>
            </a:r>
            <a:endParaRPr lang="en-US" sz="1400" dirty="0"/>
          </a:p>
        </p:txBody>
      </p:sp>
      <p:pic>
        <p:nvPicPr>
          <p:cNvPr id="9" name="arrow" descr="preencoded.png">    </p:cNvPr>
          <p:cNvPicPr>
            <a:picLocks noChangeAspect="1"/>
          </p:cNvPicPr>
          <p:nvPr/>
        </p:nvPicPr>
        <p:blipFill>
          <a:blip r:embed="rId2"/>
          <a:stretch>
            <a:fillRect/>
          </a:stretch>
        </p:blipFill>
        <p:spPr>
          <a:xfrm>
            <a:off x="4023360" y="2743200"/>
            <a:ext cx="320040" cy="320040"/>
          </a:xfrm>
          <a:prstGeom prst="rect">
            <a:avLst/>
          </a:prstGeom>
        </p:spPr>
      </p:pic>
      <p:sp>
        <p:nvSpPr>
          <p:cNvPr id="10" name="card"/>
          <p:cNvSpPr/>
          <p:nvPr/>
        </p:nvSpPr>
        <p:spPr>
          <a:xfrm>
            <a:off x="4389120" y="1417320"/>
            <a:ext cx="3429000" cy="3063240"/>
          </a:xfrm>
          <a:prstGeom prst="roundRect">
            <a:avLst>
              <a:gd name="adj" fmla="val 3582"/>
            </a:avLst>
          </a:prstGeom>
          <a:solidFill>
            <a:schemeClr val="tx2"/>
          </a:solidFill>
          <a:ln/>
        </p:spPr>
      </p:sp>
      <p:sp>
        <p:nvSpPr>
          <p:cNvPr id="11" name="icon-bg-phone"/>
          <p:cNvSpPr/>
          <p:nvPr/>
        </p:nvSpPr>
        <p:spPr>
          <a:xfrm>
            <a:off x="4709160" y="1691640"/>
            <a:ext cx="685800" cy="685800"/>
          </a:xfrm>
          <a:prstGeom prst="ellipse">
            <a:avLst/>
          </a:prstGeom>
          <a:solidFill>
            <a:schemeClr val="accent5"/>
          </a:solidFill>
          <a:ln/>
        </p:spPr>
      </p:sp>
      <p:pic>
        <p:nvPicPr>
          <p:cNvPr id="12" name="icon-phone" descr="preencoded.png">    </p:cNvPr>
          <p:cNvPicPr>
            <a:picLocks noChangeAspect="1"/>
          </p:cNvPicPr>
          <p:nvPr/>
        </p:nvPicPr>
        <p:blipFill>
          <a:blip r:embed="rId3"/>
          <a:stretch>
            <a:fillRect/>
          </a:stretch>
        </p:blipFill>
        <p:spPr>
          <a:xfrm>
            <a:off x="4860036" y="1842516"/>
            <a:ext cx="384048" cy="384048"/>
          </a:xfrm>
          <a:prstGeom prst="rect">
            <a:avLst/>
          </a:prstGeom>
        </p:spPr>
      </p:pic>
      <p:sp>
        <p:nvSpPr>
          <p:cNvPr id="13" name="Text 8"/>
          <p:cNvSpPr txBox="1"/>
          <p:nvPr/>
        </p:nvSpPr>
        <p:spPr>
          <a:xfrm>
            <a:off x="4709160" y="2560320"/>
            <a:ext cx="283464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CHANNEL</a:t>
            </a:r>
            <a:endParaRPr lang="en-US" sz="1200" dirty="0"/>
          </a:p>
        </p:txBody>
      </p:sp>
      <p:sp>
        <p:nvSpPr>
          <p:cNvPr id="14" name="Text 9"/>
          <p:cNvSpPr txBox="1"/>
          <p:nvPr/>
        </p:nvSpPr>
        <p:spPr>
          <a:xfrm>
            <a:off x="4709160" y="2834640"/>
            <a:ext cx="283464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@cyber.decoded_</a:t>
            </a:r>
            <a:endParaRPr lang="en-US" sz="2200" dirty="0"/>
          </a:p>
        </p:txBody>
      </p:sp>
      <p:sp>
        <p:nvSpPr>
          <p:cNvPr id="15" name="Text 10"/>
          <p:cNvSpPr txBox="1"/>
          <p:nvPr/>
        </p:nvSpPr>
        <p:spPr>
          <a:xfrm>
            <a:off x="4709160" y="3337560"/>
            <a:ext cx="2834640" cy="1005840"/>
          </a:xfrm>
          <a:prstGeom prst="rect">
            <a:avLst/>
          </a:prstGeom>
          <a:noFill/>
          <a:ln/>
        </p:spPr>
        <p:txBody>
          <a:bodyPr wrap="square" lIns="0" tIns="0" rIns="0" bIns="0" rtlCol="0" anchor="t"/>
          <a:lstStyle/>
          <a:p>
            <a:pPr indent="0" marL="0">
              <a:buNone/>
            </a:pPr>
            <a:r>
              <a:rPr lang="en-US" sz="1400" dirty="0">
                <a:solidFill>
                  <a:schemeClr val="accent4"/>
                </a:solidFill>
              </a:rPr>
              <a:t>Instagram account: 5 posts, carousels with music, a decision flowchart</a:t>
            </a:r>
            <a:endParaRPr lang="en-US" sz="1400" dirty="0"/>
          </a:p>
        </p:txBody>
      </p:sp>
      <p:pic>
        <p:nvPicPr>
          <p:cNvPr id="16" name="arrow" descr="preencoded.png">    </p:cNvPr>
          <p:cNvPicPr>
            <a:picLocks noChangeAspect="1"/>
          </p:cNvPicPr>
          <p:nvPr/>
        </p:nvPicPr>
        <p:blipFill>
          <a:blip r:embed="rId4"/>
          <a:stretch>
            <a:fillRect/>
          </a:stretch>
        </p:blipFill>
        <p:spPr>
          <a:xfrm>
            <a:off x="7863840" y="2743200"/>
            <a:ext cx="320040" cy="320040"/>
          </a:xfrm>
          <a:prstGeom prst="rect">
            <a:avLst/>
          </a:prstGeom>
        </p:spPr>
      </p:pic>
      <p:sp>
        <p:nvSpPr>
          <p:cNvPr id="17" name="card"/>
          <p:cNvSpPr/>
          <p:nvPr/>
        </p:nvSpPr>
        <p:spPr>
          <a:xfrm>
            <a:off x="8229600" y="1417320"/>
            <a:ext cx="3429000" cy="3063240"/>
          </a:xfrm>
          <a:prstGeom prst="roundRect">
            <a:avLst>
              <a:gd name="adj" fmla="val 3582"/>
            </a:avLst>
          </a:prstGeom>
          <a:solidFill>
            <a:schemeClr val="tx2"/>
          </a:solidFill>
          <a:ln/>
        </p:spPr>
      </p:sp>
      <p:sp>
        <p:nvSpPr>
          <p:cNvPr id="18" name="icon-bg-chart"/>
          <p:cNvSpPr/>
          <p:nvPr/>
        </p:nvSpPr>
        <p:spPr>
          <a:xfrm>
            <a:off x="8549640" y="1691640"/>
            <a:ext cx="685800" cy="685800"/>
          </a:xfrm>
          <a:prstGeom prst="ellipse">
            <a:avLst/>
          </a:prstGeom>
          <a:solidFill>
            <a:schemeClr val="accent5"/>
          </a:solidFill>
          <a:ln/>
        </p:spPr>
      </p:sp>
      <p:pic>
        <p:nvPicPr>
          <p:cNvPr id="19" name="icon-chart" descr="preencoded.png">    </p:cNvPr>
          <p:cNvPicPr>
            <a:picLocks noChangeAspect="1"/>
          </p:cNvPicPr>
          <p:nvPr/>
        </p:nvPicPr>
        <p:blipFill>
          <a:blip r:embed="rId5"/>
          <a:stretch>
            <a:fillRect/>
          </a:stretch>
        </p:blipFill>
        <p:spPr>
          <a:xfrm>
            <a:off x="8700516" y="1842516"/>
            <a:ext cx="384048" cy="384048"/>
          </a:xfrm>
          <a:prstGeom prst="rect">
            <a:avLst/>
          </a:prstGeom>
        </p:spPr>
      </p:pic>
      <p:sp>
        <p:nvSpPr>
          <p:cNvPr id="20" name="Text 13"/>
          <p:cNvSpPr txBox="1"/>
          <p:nvPr/>
        </p:nvSpPr>
        <p:spPr>
          <a:xfrm>
            <a:off x="8549640" y="2560320"/>
            <a:ext cx="28346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MEASUREMENT</a:t>
            </a:r>
            <a:endParaRPr lang="en-US" sz="1200" dirty="0"/>
          </a:p>
        </p:txBody>
      </p:sp>
      <p:sp>
        <p:nvSpPr>
          <p:cNvPr id="21" name="Text 14"/>
          <p:cNvSpPr txBox="1"/>
          <p:nvPr/>
        </p:nvSpPr>
        <p:spPr>
          <a:xfrm>
            <a:off x="8549640" y="2834640"/>
            <a:ext cx="283464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HumanFactor</a:t>
            </a:r>
            <a:endParaRPr lang="en-US" sz="2200" dirty="0"/>
          </a:p>
        </p:txBody>
      </p:sp>
      <p:sp>
        <p:nvSpPr>
          <p:cNvPr id="22" name="Text 15"/>
          <p:cNvSpPr txBox="1"/>
          <p:nvPr/>
        </p:nvSpPr>
        <p:spPr>
          <a:xfrm>
            <a:off x="8549640" y="3337560"/>
            <a:ext cx="2834640" cy="1005840"/>
          </a:xfrm>
          <a:prstGeom prst="rect">
            <a:avLst/>
          </a:prstGeom>
          <a:noFill/>
          <a:ln/>
        </p:spPr>
        <p:txBody>
          <a:bodyPr wrap="square" lIns="0" tIns="0" rIns="0" bIns="0" rtlCol="0" anchor="t"/>
          <a:lstStyle/>
          <a:p>
            <a:pPr indent="0" marL="0">
              <a:buNone/>
            </a:pPr>
            <a:r>
              <a:rPr lang="en-US" sz="1400" dirty="0">
                <a:solidFill>
                  <a:schemeClr val="accent4"/>
                </a:solidFill>
              </a:rPr>
              <a:t>Web platform we built: anonymous PRE/POST survey and an analytics dashboard</a:t>
            </a:r>
            <a:endParaRPr lang="en-US" sz="1400" dirty="0"/>
          </a:p>
        </p:txBody>
      </p:sp>
      <p:sp>
        <p:nvSpPr>
          <p:cNvPr id="23" name="Text 16"/>
          <p:cNvSpPr txBox="1"/>
          <p:nvPr/>
        </p:nvSpPr>
        <p:spPr>
          <a:xfrm>
            <a:off x="548640" y="4800600"/>
            <a:ext cx="3657600" cy="320040"/>
          </a:xfrm>
          <a:prstGeom prst="rect">
            <a:avLst/>
          </a:prstGeom>
          <a:noFill/>
          <a:ln/>
        </p:spPr>
        <p:txBody>
          <a:bodyPr wrap="square" lIns="0" tIns="0" rIns="0" bIns="0" rtlCol="0" anchor="t"/>
          <a:lstStyle/>
          <a:p>
            <a:pPr indent="0" marL="0">
              <a:buNone/>
            </a:pPr>
            <a:r>
              <a:rPr lang="en-US" sz="1400" b="1" dirty="0">
                <a:solidFill>
                  <a:schemeClr val="accent4"/>
                </a:solidFill>
              </a:rPr>
              <a:t>How they connect</a:t>
            </a:r>
            <a:endParaRPr lang="en-US" sz="1400" dirty="0"/>
          </a:p>
        </p:txBody>
      </p:sp>
      <p:sp>
        <p:nvSpPr>
          <p:cNvPr id="24" name="flow-step"/>
          <p:cNvSpPr txBox="1"/>
          <p:nvPr/>
        </p:nvSpPr>
        <p:spPr>
          <a:xfrm>
            <a:off x="548640" y="5212080"/>
            <a:ext cx="2514600" cy="594360"/>
          </a:xfrm>
          <a:prstGeom prst="roundRect">
            <a:avLst>
              <a:gd name="adj" fmla="val 46154"/>
            </a:avLst>
          </a:prstGeom>
          <a:solidFill>
            <a:schemeClr val="accent5"/>
          </a:solidFill>
          <a:ln/>
        </p:spPr>
        <p:txBody>
          <a:bodyPr wrap="square" lIns="0" tIns="0" rIns="0" bIns="0" rtlCol="0" anchor="ctr"/>
          <a:lstStyle/>
          <a:p>
            <a:pPr algn="ctr" indent="0" marL="0">
              <a:buNone/>
            </a:pPr>
            <a:r>
              <a:rPr lang="en-US" sz="1500" b="1" dirty="0">
                <a:solidFill>
                  <a:schemeClr val="bg1"/>
                </a:solidFill>
              </a:rPr>
              <a:t>PRE survey</a:t>
            </a:r>
            <a:endParaRPr lang="en-US" sz="1500" dirty="0"/>
          </a:p>
        </p:txBody>
      </p:sp>
      <p:pic>
        <p:nvPicPr>
          <p:cNvPr id="25" name="arrow" descr="preencoded.png">    </p:cNvPr>
          <p:cNvPicPr>
            <a:picLocks noChangeAspect="1"/>
          </p:cNvPicPr>
          <p:nvPr/>
        </p:nvPicPr>
        <p:blipFill>
          <a:blip r:embed="rId6"/>
          <a:stretch>
            <a:fillRect/>
          </a:stretch>
        </p:blipFill>
        <p:spPr>
          <a:xfrm>
            <a:off x="3108960" y="5358384"/>
            <a:ext cx="292608" cy="292608"/>
          </a:xfrm>
          <a:prstGeom prst="rect">
            <a:avLst/>
          </a:prstGeom>
        </p:spPr>
      </p:pic>
      <p:sp>
        <p:nvSpPr>
          <p:cNvPr id="26" name="flow-step"/>
          <p:cNvSpPr txBox="1"/>
          <p:nvPr/>
        </p:nvSpPr>
        <p:spPr>
          <a:xfrm>
            <a:off x="3429000" y="5212080"/>
            <a:ext cx="2514600" cy="594360"/>
          </a:xfrm>
          <a:prstGeom prst="roundRect">
            <a:avLst>
              <a:gd name="adj" fmla="val 46154"/>
            </a:avLst>
          </a:prstGeom>
          <a:solidFill>
            <a:schemeClr val="bg2"/>
          </a:solidFill>
          <a:ln/>
        </p:spPr>
        <p:txBody>
          <a:bodyPr wrap="square" lIns="0" tIns="0" rIns="0" bIns="0" rtlCol="0" anchor="ctr"/>
          <a:lstStyle/>
          <a:p>
            <a:pPr algn="ctr" indent="0" marL="0">
              <a:buNone/>
            </a:pPr>
            <a:r>
              <a:rPr lang="en-US" sz="1500" b="1" dirty="0">
                <a:solidFill>
                  <a:schemeClr val="tx1"/>
                </a:solidFill>
              </a:rPr>
              <a:t>Campaign: posters + Instagram</a:t>
            </a:r>
            <a:endParaRPr lang="en-US" sz="1500" dirty="0"/>
          </a:p>
        </p:txBody>
      </p:sp>
      <p:pic>
        <p:nvPicPr>
          <p:cNvPr id="27" name="arrow" descr="preencoded.png">    </p:cNvPr>
          <p:cNvPicPr>
            <a:picLocks noChangeAspect="1"/>
          </p:cNvPicPr>
          <p:nvPr/>
        </p:nvPicPr>
        <p:blipFill>
          <a:blip r:embed="rId7"/>
          <a:stretch>
            <a:fillRect/>
          </a:stretch>
        </p:blipFill>
        <p:spPr>
          <a:xfrm>
            <a:off x="5989320" y="5358384"/>
            <a:ext cx="292608" cy="292608"/>
          </a:xfrm>
          <a:prstGeom prst="rect">
            <a:avLst/>
          </a:prstGeom>
        </p:spPr>
      </p:pic>
      <p:sp>
        <p:nvSpPr>
          <p:cNvPr id="28" name="flow-step"/>
          <p:cNvSpPr txBox="1"/>
          <p:nvPr/>
        </p:nvSpPr>
        <p:spPr>
          <a:xfrm>
            <a:off x="6309360" y="5212080"/>
            <a:ext cx="2514600" cy="594360"/>
          </a:xfrm>
          <a:prstGeom prst="roundRect">
            <a:avLst>
              <a:gd name="adj" fmla="val 46154"/>
            </a:avLst>
          </a:prstGeom>
          <a:solidFill>
            <a:schemeClr val="accent5"/>
          </a:solidFill>
          <a:ln/>
        </p:spPr>
        <p:txBody>
          <a:bodyPr wrap="square" lIns="0" tIns="0" rIns="0" bIns="0" rtlCol="0" anchor="ctr"/>
          <a:lstStyle/>
          <a:p>
            <a:pPr algn="ctr" indent="0" marL="0">
              <a:buNone/>
            </a:pPr>
            <a:r>
              <a:rPr lang="en-US" sz="1500" b="1" dirty="0">
                <a:solidFill>
                  <a:schemeClr val="bg1"/>
                </a:solidFill>
              </a:rPr>
              <a:t>POST survey</a:t>
            </a:r>
            <a:endParaRPr lang="en-US" sz="1500" dirty="0"/>
          </a:p>
        </p:txBody>
      </p:sp>
      <p:pic>
        <p:nvPicPr>
          <p:cNvPr id="29" name="arrow" descr="preencoded.png">    </p:cNvPr>
          <p:cNvPicPr>
            <a:picLocks noChangeAspect="1"/>
          </p:cNvPicPr>
          <p:nvPr/>
        </p:nvPicPr>
        <p:blipFill>
          <a:blip r:embed="rId8"/>
          <a:stretch>
            <a:fillRect/>
          </a:stretch>
        </p:blipFill>
        <p:spPr>
          <a:xfrm>
            <a:off x="8869680" y="5358384"/>
            <a:ext cx="292608" cy="292608"/>
          </a:xfrm>
          <a:prstGeom prst="rect">
            <a:avLst/>
          </a:prstGeom>
        </p:spPr>
      </p:pic>
      <p:sp>
        <p:nvSpPr>
          <p:cNvPr id="30" name="flow-step"/>
          <p:cNvSpPr txBox="1"/>
          <p:nvPr/>
        </p:nvSpPr>
        <p:spPr>
          <a:xfrm>
            <a:off x="9189720" y="5212080"/>
            <a:ext cx="2514600" cy="594360"/>
          </a:xfrm>
          <a:prstGeom prst="roundRect">
            <a:avLst>
              <a:gd name="adj" fmla="val 46154"/>
            </a:avLst>
          </a:prstGeom>
          <a:solidFill>
            <a:schemeClr val="accent5"/>
          </a:solidFill>
          <a:ln/>
        </p:spPr>
        <p:txBody>
          <a:bodyPr wrap="square" lIns="0" tIns="0" rIns="0" bIns="0" rtlCol="0" anchor="ctr"/>
          <a:lstStyle/>
          <a:p>
            <a:pPr algn="ctr" indent="0" marL="0">
              <a:buNone/>
            </a:pPr>
            <a:r>
              <a:rPr lang="en-US" sz="1500" b="1" dirty="0">
                <a:solidFill>
                  <a:schemeClr val="bg1"/>
                </a:solidFill>
              </a:rPr>
              <a:t>Paired analysis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ClickWise: four posters, four habits</a:t>
            </a:r>
            <a:endParaRPr lang="en-US" sz="3400" dirty="0"/>
          </a:p>
        </p:txBody>
      </p:sp>
      <p:sp>
        <p:nvSpPr>
          <p:cNvPr id="3" name="image-frame"/>
          <p:cNvSpPr/>
          <p:nvPr/>
        </p:nvSpPr>
        <p:spPr>
          <a:xfrm>
            <a:off x="475488" y="1345429"/>
            <a:ext cx="3712464" cy="4807223"/>
          </a:xfrm>
          <a:prstGeom prst="roundRect">
            <a:avLst>
              <a:gd name="adj" fmla="val 2463"/>
            </a:avLst>
          </a:prstGeom>
          <a:solidFill>
            <a:schemeClr val="accent5"/>
          </a:solidFill>
          <a:ln/>
          <a:effectLst>
            <a:outerShdw sx="100000" sy="100000" kx="0" ky="0" algn="bl" rotWithShape="0" blurRad="152400" dist="50800" dir="5400000">
              <a:srgbClr val="000000">
                <a:alpha val="45000"/>
              </a:srgbClr>
            </a:outerShdw>
          </a:effectLst>
        </p:spPr>
      </p:sp>
      <p:pic>
        <p:nvPicPr>
          <p:cNvPr id="4" name="image" descr="Poster: It looks real. But is it? Watch out for urgent language, suspicious links, unexpected attachments, requests for personal information.">    </p:cNvPr>
          <p:cNvPicPr>
            <a:picLocks noChangeAspect="1"/>
          </p:cNvPicPr>
          <p:nvPr/>
        </p:nvPicPr>
        <p:blipFill>
          <a:blip r:embed="rId1"/>
          <a:stretch>
            <a:fillRect/>
          </a:stretch>
        </p:blipFill>
        <p:spPr>
          <a:xfrm>
            <a:off x="548640" y="1418581"/>
            <a:ext cx="3566160" cy="4660919"/>
          </a:xfrm>
          <a:prstGeom prst="rect">
            <a:avLst/>
          </a:prstGeom>
        </p:spPr>
      </p:pic>
      <p:sp>
        <p:nvSpPr>
          <p:cNvPr id="5" name="image-frame"/>
          <p:cNvSpPr/>
          <p:nvPr/>
        </p:nvSpPr>
        <p:spPr>
          <a:xfrm>
            <a:off x="4453128" y="1298448"/>
            <a:ext cx="2903432" cy="2478024"/>
          </a:xfrm>
          <a:prstGeom prst="roundRect">
            <a:avLst>
              <a:gd name="adj" fmla="val 3690"/>
            </a:avLst>
          </a:prstGeom>
          <a:solidFill>
            <a:schemeClr val="accent5"/>
          </a:solidFill>
          <a:ln/>
          <a:effectLst>
            <a:outerShdw sx="100000" sy="100000" kx="0" ky="0" algn="bl" rotWithShape="0" blurRad="152400" dist="50800" dir="5400000">
              <a:srgbClr val="000000">
                <a:alpha val="45000"/>
              </a:srgbClr>
            </a:outerShdw>
          </a:effectLst>
        </p:spPr>
      </p:sp>
      <p:pic>
        <p:nvPicPr>
          <p:cNvPr id="6" name="image" descr="Poster: A stronger password, a stronger you. Tips: different password for every account, password manager, MFA.">    </p:cNvPr>
          <p:cNvPicPr>
            <a:picLocks noChangeAspect="1"/>
          </p:cNvPicPr>
          <p:nvPr/>
        </p:nvPicPr>
        <p:blipFill>
          <a:blip r:embed="rId2"/>
          <a:stretch>
            <a:fillRect/>
          </a:stretch>
        </p:blipFill>
        <p:spPr>
          <a:xfrm>
            <a:off x="4526280" y="1371600"/>
            <a:ext cx="2757128" cy="2331720"/>
          </a:xfrm>
          <a:prstGeom prst="rect">
            <a:avLst/>
          </a:prstGeom>
        </p:spPr>
      </p:pic>
      <p:sp>
        <p:nvSpPr>
          <p:cNvPr id="7" name="image-frame"/>
          <p:cNvSpPr/>
          <p:nvPr/>
        </p:nvSpPr>
        <p:spPr>
          <a:xfrm>
            <a:off x="8007950" y="1298448"/>
            <a:ext cx="3723802" cy="2478024"/>
          </a:xfrm>
          <a:prstGeom prst="roundRect">
            <a:avLst>
              <a:gd name="adj" fmla="val 3690"/>
            </a:avLst>
          </a:prstGeom>
          <a:solidFill>
            <a:schemeClr val="accent5"/>
          </a:solidFill>
          <a:ln/>
          <a:effectLst>
            <a:outerShdw sx="100000" sy="100000" kx="0" ky="0" algn="bl" rotWithShape="0" blurRad="152400" dist="50800" dir="5400000">
              <a:srgbClr val="000000">
                <a:alpha val="45000"/>
              </a:srgbClr>
            </a:outerShdw>
          </a:effectLst>
        </p:spPr>
      </p:sp>
      <p:pic>
        <p:nvPicPr>
          <p:cNvPr id="8" name="image" descr="Poster 3 of 4: They only need the OTP. Banks will never ask for your OTP.">    </p:cNvPr>
          <p:cNvPicPr>
            <a:picLocks noChangeAspect="1"/>
          </p:cNvPicPr>
          <p:nvPr/>
        </p:nvPicPr>
        <p:blipFill>
          <a:blip r:embed="rId3"/>
          <a:stretch>
            <a:fillRect/>
          </a:stretch>
        </p:blipFill>
        <p:spPr>
          <a:xfrm>
            <a:off x="8081102" y="1371600"/>
            <a:ext cx="3577498" cy="2331720"/>
          </a:xfrm>
          <a:prstGeom prst="rect">
            <a:avLst/>
          </a:prstGeom>
        </p:spPr>
      </p:pic>
      <p:sp>
        <p:nvSpPr>
          <p:cNvPr id="9" name="image-frame"/>
          <p:cNvSpPr/>
          <p:nvPr/>
        </p:nvSpPr>
        <p:spPr>
          <a:xfrm>
            <a:off x="4453128" y="3858768"/>
            <a:ext cx="3521664" cy="2340864"/>
          </a:xfrm>
          <a:prstGeom prst="roundRect">
            <a:avLst>
              <a:gd name="adj" fmla="val 3906"/>
            </a:avLst>
          </a:prstGeom>
          <a:solidFill>
            <a:schemeClr val="accent5"/>
          </a:solidFill>
          <a:ln/>
          <a:effectLst>
            <a:outerShdw sx="100000" sy="100000" kx="0" ky="0" algn="bl" rotWithShape="0" blurRad="152400" dist="50800" dir="5400000">
              <a:srgbClr val="000000">
                <a:alpha val="45000"/>
              </a:srgbClr>
            </a:outerShdw>
          </a:effectLst>
        </p:spPr>
      </p:sp>
      <p:pic>
        <p:nvPicPr>
          <p:cNvPr id="10" name="image" descr="Poster 4 of 4: Spotted something suspicious? Stop, Secure, Report, Stay alert.">    </p:cNvPr>
          <p:cNvPicPr>
            <a:picLocks noChangeAspect="1"/>
          </p:cNvPicPr>
          <p:nvPr/>
        </p:nvPicPr>
        <p:blipFill>
          <a:blip r:embed="rId4"/>
          <a:stretch>
            <a:fillRect/>
          </a:stretch>
        </p:blipFill>
        <p:spPr>
          <a:xfrm>
            <a:off x="4526280" y="3931920"/>
            <a:ext cx="3375360" cy="2194560"/>
          </a:xfrm>
          <a:prstGeom prst="rect">
            <a:avLst/>
          </a:prstGeom>
        </p:spPr>
      </p:pic>
      <p:sp>
        <p:nvSpPr>
          <p:cNvPr id="11" name="card"/>
          <p:cNvSpPr/>
          <p:nvPr/>
        </p:nvSpPr>
        <p:spPr>
          <a:xfrm>
            <a:off x="8366760" y="3886200"/>
            <a:ext cx="3291840" cy="2286000"/>
          </a:xfrm>
          <a:prstGeom prst="roundRect">
            <a:avLst>
              <a:gd name="adj" fmla="val 4800"/>
            </a:avLst>
          </a:prstGeom>
          <a:solidFill>
            <a:schemeClr val="tx2"/>
          </a:solidFill>
          <a:ln/>
        </p:spPr>
      </p:sp>
      <p:sp>
        <p:nvSpPr>
          <p:cNvPr id="12" name="Text 6"/>
          <p:cNvSpPr txBox="1"/>
          <p:nvPr/>
        </p:nvSpPr>
        <p:spPr>
          <a:xfrm>
            <a:off x="8595360" y="4041648"/>
            <a:ext cx="2926080" cy="365760"/>
          </a:xfrm>
          <a:prstGeom prst="rect">
            <a:avLst/>
          </a:prstGeom>
          <a:noFill/>
          <a:ln/>
        </p:spPr>
        <p:txBody>
          <a:bodyPr wrap="square" lIns="0" tIns="0" rIns="0" bIns="0" rtlCol="0" anchor="t"/>
          <a:lstStyle/>
          <a:p>
            <a:pPr indent="0" marL="0">
              <a:buNone/>
            </a:pPr>
            <a:r>
              <a:rPr lang="en-US" sz="1700" b="1" dirty="0">
                <a:solidFill>
                  <a:schemeClr val="accent2"/>
                </a:solidFill>
              </a:rPr>
              <a:t>Design choices</a:t>
            </a:r>
            <a:endParaRPr lang="en-US" sz="1700" dirty="0"/>
          </a:p>
        </p:txBody>
      </p:sp>
      <p:sp>
        <p:nvSpPr>
          <p:cNvPr id="13" name="Text 7"/>
          <p:cNvSpPr txBox="1"/>
          <p:nvPr/>
        </p:nvSpPr>
        <p:spPr>
          <a:xfrm>
            <a:off x="8595360" y="4462272"/>
            <a:ext cx="2926080" cy="16459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One message per poster</a:t>
            </a:r>
            <a:endParaRPr lang="en-US" sz="1400" dirty="0"/>
          </a:p>
          <a:p>
            <a:pPr marL="342900" indent="-342900">
              <a:spcAft>
                <a:spcPts val="400"/>
              </a:spcAft>
              <a:buSzPct val="100000"/>
              <a:buChar char="•"/>
            </a:pPr>
            <a:r>
              <a:rPr lang="en-US" sz="1400" dirty="0">
                <a:solidFill>
                  <a:schemeClr val="bg1"/>
                </a:solidFill>
              </a:rPr>
              <a:t>A concrete action, not just a warning</a:t>
            </a:r>
            <a:endParaRPr lang="en-US" sz="1400" dirty="0"/>
          </a:p>
          <a:p>
            <a:pPr marL="342900" indent="-342900">
              <a:spcAft>
                <a:spcPts val="400"/>
              </a:spcAft>
              <a:buSzPct val="100000"/>
              <a:buChar char="•"/>
            </a:pPr>
            <a:r>
              <a:rPr lang="en-US" sz="1400" dirty="0">
                <a:solidFill>
                  <a:schemeClr val="bg1"/>
                </a:solidFill>
              </a:rPr>
              <a:t>Real-looking examples: email, OTP SMS</a:t>
            </a:r>
            <a:endParaRPr lang="en-US" sz="1400" dirty="0"/>
          </a:p>
          <a:p>
            <a:pPr marL="342900" indent="-342900">
              <a:spcAft>
                <a:spcPts val="400"/>
              </a:spcAft>
              <a:buSzPct val="100000"/>
              <a:buChar char="•"/>
            </a:pPr>
            <a:r>
              <a:rPr lang="en-US" sz="1400" dirty="0">
                <a:solidFill>
                  <a:schemeClr val="bg1"/>
                </a:solidFill>
              </a:rPr>
              <a:t>Friendly hand-drawn style, not fear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@cyber.decoded_ on Instagram</a:t>
            </a:r>
            <a:endParaRPr lang="en-US" sz="3400" dirty="0"/>
          </a:p>
        </p:txBody>
      </p:sp>
      <p:sp>
        <p:nvSpPr>
          <p:cNvPr id="3" name="image-frame"/>
          <p:cNvSpPr/>
          <p:nvPr/>
        </p:nvSpPr>
        <p:spPr>
          <a:xfrm>
            <a:off x="563841" y="1252728"/>
            <a:ext cx="2804237" cy="5038344"/>
          </a:xfrm>
          <a:prstGeom prst="roundRect">
            <a:avLst>
              <a:gd name="adj" fmla="val 3261"/>
            </a:avLst>
          </a:prstGeom>
          <a:solidFill>
            <a:schemeClr val="accent5"/>
          </a:solidFill>
          <a:ln/>
          <a:effectLst>
            <a:outerShdw sx="100000" sy="100000" kx="0" ky="0" algn="bl" rotWithShape="0" blurRad="152400" dist="50800" dir="5400000">
              <a:srgbClr val="000000">
                <a:alpha val="45000"/>
              </a:srgbClr>
            </a:outerShdw>
          </a:effectLst>
        </p:spPr>
      </p:sp>
      <p:pic>
        <p:nvPicPr>
          <p:cNvPr id="4" name="image" descr="Instagram profile cyber.decoded_ with 5 posts, bio: Think. Check. Stay safe. Student-led awareness campaign.">    </p:cNvPr>
          <p:cNvPicPr>
            <a:picLocks noChangeAspect="1"/>
          </p:cNvPicPr>
          <p:nvPr/>
        </p:nvPicPr>
        <p:blipFill>
          <a:blip r:embed="rId1"/>
          <a:stretch>
            <a:fillRect/>
          </a:stretch>
        </p:blipFill>
        <p:spPr>
          <a:xfrm>
            <a:off x="636993" y="1325880"/>
            <a:ext cx="2657933" cy="4892040"/>
          </a:xfrm>
          <a:prstGeom prst="rect">
            <a:avLst/>
          </a:prstGeom>
        </p:spPr>
      </p:pic>
      <p:sp>
        <p:nvSpPr>
          <p:cNvPr id="5" name="image-frame"/>
          <p:cNvSpPr/>
          <p:nvPr/>
        </p:nvSpPr>
        <p:spPr>
          <a:xfrm>
            <a:off x="3721608" y="1301938"/>
            <a:ext cx="2478024" cy="3065404"/>
          </a:xfrm>
          <a:prstGeom prst="roundRect">
            <a:avLst>
              <a:gd name="adj" fmla="val 3690"/>
            </a:avLst>
          </a:prstGeom>
          <a:solidFill>
            <a:schemeClr val="accent5"/>
          </a:solidFill>
          <a:ln/>
          <a:effectLst>
            <a:outerShdw sx="100000" sy="100000" kx="0" ky="0" algn="bl" rotWithShape="0" blurRad="152400" dist="50800" dir="5400000">
              <a:srgbClr val="000000">
                <a:alpha val="45000"/>
              </a:srgbClr>
            </a:outerShdw>
          </a:effectLst>
        </p:spPr>
      </p:sp>
      <p:pic>
        <p:nvPicPr>
          <p:cNvPr id="6" name="image" descr="Carousel slide 1: Your password isn't as safe as you think.">    </p:cNvPr>
          <p:cNvPicPr>
            <a:picLocks noChangeAspect="1"/>
          </p:cNvPicPr>
          <p:nvPr/>
        </p:nvPicPr>
        <p:blipFill>
          <a:blip r:embed="rId2"/>
          <a:stretch>
            <a:fillRect/>
          </a:stretch>
        </p:blipFill>
        <p:spPr>
          <a:xfrm>
            <a:off x="3794760" y="1375090"/>
            <a:ext cx="2331720" cy="2919100"/>
          </a:xfrm>
          <a:prstGeom prst="rect">
            <a:avLst/>
          </a:prstGeom>
        </p:spPr>
      </p:pic>
      <p:sp>
        <p:nvSpPr>
          <p:cNvPr id="7" name="image-frame"/>
          <p:cNvSpPr/>
          <p:nvPr/>
        </p:nvSpPr>
        <p:spPr>
          <a:xfrm>
            <a:off x="6281928" y="1301938"/>
            <a:ext cx="2478024" cy="3065404"/>
          </a:xfrm>
          <a:prstGeom prst="roundRect">
            <a:avLst>
              <a:gd name="adj" fmla="val 3690"/>
            </a:avLst>
          </a:prstGeom>
          <a:solidFill>
            <a:schemeClr val="accent5"/>
          </a:solidFill>
          <a:ln/>
          <a:effectLst>
            <a:outerShdw sx="100000" sy="100000" kx="0" ky="0" algn="bl" rotWithShape="0" blurRad="152400" dist="50800" dir="5400000">
              <a:srgbClr val="000000">
                <a:alpha val="45000"/>
              </a:srgbClr>
            </a:outerShdw>
          </a:effectLst>
        </p:spPr>
      </p:sp>
      <p:pic>
        <p:nvPicPr>
          <p:cNvPr id="8" name="image" descr="Carousel slide 2: One password. All your accounts. One big risk.">    </p:cNvPr>
          <p:cNvPicPr>
            <a:picLocks noChangeAspect="1"/>
          </p:cNvPicPr>
          <p:nvPr/>
        </p:nvPicPr>
        <p:blipFill>
          <a:blip r:embed="rId3"/>
          <a:stretch>
            <a:fillRect/>
          </a:stretch>
        </p:blipFill>
        <p:spPr>
          <a:xfrm>
            <a:off x="6355080" y="1375090"/>
            <a:ext cx="2331720" cy="2919100"/>
          </a:xfrm>
          <a:prstGeom prst="rect">
            <a:avLst/>
          </a:prstGeom>
        </p:spPr>
      </p:pic>
      <p:sp>
        <p:nvSpPr>
          <p:cNvPr id="9" name="Text 4"/>
          <p:cNvSpPr txBox="1"/>
          <p:nvPr/>
        </p:nvSpPr>
        <p:spPr>
          <a:xfrm>
            <a:off x="3794760" y="4434840"/>
            <a:ext cx="4892040" cy="457200"/>
          </a:xfrm>
          <a:prstGeom prst="rect">
            <a:avLst/>
          </a:prstGeom>
          <a:noFill/>
          <a:ln/>
        </p:spPr>
        <p:txBody>
          <a:bodyPr wrap="square" lIns="0" tIns="0" rIns="0" bIns="0" rtlCol="0" anchor="t"/>
          <a:lstStyle/>
          <a:p>
            <a:pPr indent="0" marL="0">
              <a:buNone/>
            </a:pPr>
            <a:r>
              <a:rPr lang="en-US" sz="1300" dirty="0">
                <a:solidFill>
                  <a:schemeClr val="accent4"/>
                </a:solidFill>
              </a:rPr>
              <a:t>8-slide carousel "Cyber Aware Vol. 02": one reused password, four accounts at risk</a:t>
            </a:r>
            <a:endParaRPr lang="en-US" sz="1300" dirty="0"/>
          </a:p>
        </p:txBody>
      </p:sp>
      <p:sp>
        <p:nvSpPr>
          <p:cNvPr id="10" name="card"/>
          <p:cNvSpPr/>
          <p:nvPr/>
        </p:nvSpPr>
        <p:spPr>
          <a:xfrm>
            <a:off x="3794760" y="5074920"/>
            <a:ext cx="4892040" cy="1097280"/>
          </a:xfrm>
          <a:prstGeom prst="roundRect">
            <a:avLst>
              <a:gd name="adj" fmla="val 10000"/>
            </a:avLst>
          </a:prstGeom>
          <a:solidFill>
            <a:schemeClr val="tx2"/>
          </a:solidFill>
          <a:ln/>
        </p:spPr>
      </p:sp>
      <p:sp>
        <p:nvSpPr>
          <p:cNvPr id="11" name="Text 6"/>
          <p:cNvSpPr txBox="1"/>
          <p:nvPr/>
        </p:nvSpPr>
        <p:spPr>
          <a:xfrm>
            <a:off x="4023360" y="5212080"/>
            <a:ext cx="4480560" cy="822960"/>
          </a:xfrm>
          <a:prstGeom prst="rect">
            <a:avLst/>
          </a:prstGeom>
          <a:noFill/>
          <a:ln/>
        </p:spPr>
        <p:txBody>
          <a:bodyPr wrap="square" lIns="0" tIns="0" rIns="0" bIns="0" rtlCol="0" anchor="t"/>
          <a:lstStyle/>
          <a:p>
            <a:pPr indent="0" marL="0">
              <a:buNone/>
            </a:pPr>
            <a:r>
              <a:rPr lang="en-US" sz="1400" b="1" dirty="0">
                <a:solidFill>
                  <a:schemeClr val="accent1"/>
                </a:solidFill>
              </a:rPr>
              <a:t>Early reach, honestly: </a:t>
            </a:r>
            <a:pPr indent="0" marL="0">
              <a:buNone/>
            </a:pPr>
            <a:r>
              <a:rPr lang="en-US" sz="1400" dirty="0">
                <a:solidFill>
                  <a:schemeClr val="bg1"/>
                </a:solidFill>
              </a:rPr>
              <a:t>5 posts · 2 followers · about 1 like per post, measured 9–11 hours after posting.</a:t>
            </a:r>
            <a:endParaRPr lang="en-US" sz="1400" dirty="0"/>
          </a:p>
        </p:txBody>
      </p:sp>
      <p:sp>
        <p:nvSpPr>
          <p:cNvPr id="12" name="Text 7"/>
          <p:cNvSpPr txBox="1"/>
          <p:nvPr/>
        </p:nvSpPr>
        <p:spPr>
          <a:xfrm>
            <a:off x="9098280" y="1371600"/>
            <a:ext cx="2560320" cy="365760"/>
          </a:xfrm>
          <a:prstGeom prst="rect">
            <a:avLst/>
          </a:prstGeom>
          <a:noFill/>
          <a:ln/>
        </p:spPr>
        <p:txBody>
          <a:bodyPr wrap="square" lIns="0" tIns="0" rIns="0" bIns="0" rtlCol="0" anchor="t"/>
          <a:lstStyle/>
          <a:p>
            <a:pPr indent="0" marL="0">
              <a:buNone/>
            </a:pPr>
            <a:r>
              <a:rPr lang="en-US" sz="1700" b="1" dirty="0">
                <a:solidFill>
                  <a:schemeClr val="accent2"/>
                </a:solidFill>
              </a:rPr>
              <a:t>Platform playbook</a:t>
            </a:r>
            <a:endParaRPr lang="en-US" sz="1700" dirty="0"/>
          </a:p>
        </p:txBody>
      </p:sp>
      <p:sp>
        <p:nvSpPr>
          <p:cNvPr id="13" name="icon-bg-check"/>
          <p:cNvSpPr/>
          <p:nvPr/>
        </p:nvSpPr>
        <p:spPr>
          <a:xfrm>
            <a:off x="9098280" y="1874520"/>
            <a:ext cx="411480" cy="411480"/>
          </a:xfrm>
          <a:prstGeom prst="ellipse">
            <a:avLst/>
          </a:prstGeom>
          <a:solidFill>
            <a:schemeClr val="accent5"/>
          </a:solidFill>
          <a:ln/>
        </p:spPr>
      </p:sp>
      <p:pic>
        <p:nvPicPr>
          <p:cNvPr id="14" name="icon-check" descr="preencoded.png">    </p:cNvPr>
          <p:cNvPicPr>
            <a:picLocks noChangeAspect="1"/>
          </p:cNvPicPr>
          <p:nvPr/>
        </p:nvPicPr>
        <p:blipFill>
          <a:blip r:embed="rId4"/>
          <a:stretch>
            <a:fillRect/>
          </a:stretch>
        </p:blipFill>
        <p:spPr>
          <a:xfrm>
            <a:off x="9188806" y="1965046"/>
            <a:ext cx="230429" cy="230429"/>
          </a:xfrm>
          <a:prstGeom prst="rect">
            <a:avLst/>
          </a:prstGeom>
        </p:spPr>
      </p:pic>
      <p:sp>
        <p:nvSpPr>
          <p:cNvPr id="15" name="Text 9"/>
          <p:cNvSpPr txBox="1"/>
          <p:nvPr/>
        </p:nvSpPr>
        <p:spPr>
          <a:xfrm>
            <a:off x="9646920" y="1837944"/>
            <a:ext cx="2011680" cy="320040"/>
          </a:xfrm>
          <a:prstGeom prst="rect">
            <a:avLst/>
          </a:prstGeom>
          <a:noFill/>
          <a:ln/>
        </p:spPr>
        <p:txBody>
          <a:bodyPr wrap="square" lIns="0" tIns="0" rIns="0" bIns="0" rtlCol="0" anchor="t"/>
          <a:lstStyle/>
          <a:p>
            <a:pPr indent="0" marL="0">
              <a:buNone/>
            </a:pPr>
            <a:r>
              <a:rPr lang="en-US" sz="1500" b="1" dirty="0">
                <a:solidFill>
                  <a:schemeClr val="bg1"/>
                </a:solidFill>
              </a:rPr>
              <a:t>Swipeable carousels</a:t>
            </a:r>
            <a:endParaRPr lang="en-US" sz="1500" dirty="0"/>
          </a:p>
        </p:txBody>
      </p:sp>
      <p:sp>
        <p:nvSpPr>
          <p:cNvPr id="16" name="Text 10"/>
          <p:cNvSpPr txBox="1"/>
          <p:nvPr/>
        </p:nvSpPr>
        <p:spPr>
          <a:xfrm>
            <a:off x="9646920" y="2176272"/>
            <a:ext cx="2011680" cy="457200"/>
          </a:xfrm>
          <a:prstGeom prst="rect">
            <a:avLst/>
          </a:prstGeom>
          <a:noFill/>
          <a:ln/>
        </p:spPr>
        <p:txBody>
          <a:bodyPr wrap="square" lIns="0" tIns="0" rIns="0" bIns="0" rtlCol="0" anchor="t"/>
          <a:lstStyle/>
          <a:p>
            <a:pPr indent="0" marL="0">
              <a:buNone/>
            </a:pPr>
            <a:r>
              <a:rPr lang="en-US" sz="1300" dirty="0">
                <a:solidFill>
                  <a:schemeClr val="accent4"/>
                </a:solidFill>
              </a:rPr>
              <a:t>Story in 8 frames</a:t>
            </a:r>
            <a:endParaRPr lang="en-US" sz="1300" dirty="0"/>
          </a:p>
        </p:txBody>
      </p:sp>
      <p:sp>
        <p:nvSpPr>
          <p:cNvPr id="17" name="icon-bg-check"/>
          <p:cNvSpPr/>
          <p:nvPr/>
        </p:nvSpPr>
        <p:spPr>
          <a:xfrm>
            <a:off x="9098280" y="2953512"/>
            <a:ext cx="411480" cy="411480"/>
          </a:xfrm>
          <a:prstGeom prst="ellipse">
            <a:avLst/>
          </a:prstGeom>
          <a:solidFill>
            <a:schemeClr val="accent5"/>
          </a:solidFill>
          <a:ln/>
        </p:spPr>
      </p:sp>
      <p:pic>
        <p:nvPicPr>
          <p:cNvPr id="18" name="icon-check" descr="preencoded.png">    </p:cNvPr>
          <p:cNvPicPr>
            <a:picLocks noChangeAspect="1"/>
          </p:cNvPicPr>
          <p:nvPr/>
        </p:nvPicPr>
        <p:blipFill>
          <a:blip r:embed="rId5"/>
          <a:stretch>
            <a:fillRect/>
          </a:stretch>
        </p:blipFill>
        <p:spPr>
          <a:xfrm>
            <a:off x="9188806" y="3044038"/>
            <a:ext cx="230429" cy="230429"/>
          </a:xfrm>
          <a:prstGeom prst="rect">
            <a:avLst/>
          </a:prstGeom>
        </p:spPr>
      </p:pic>
      <p:sp>
        <p:nvSpPr>
          <p:cNvPr id="19" name="Text 12"/>
          <p:cNvSpPr txBox="1"/>
          <p:nvPr/>
        </p:nvSpPr>
        <p:spPr>
          <a:xfrm>
            <a:off x="9646920" y="2916936"/>
            <a:ext cx="2011680" cy="320040"/>
          </a:xfrm>
          <a:prstGeom prst="rect">
            <a:avLst/>
          </a:prstGeom>
          <a:noFill/>
          <a:ln/>
        </p:spPr>
        <p:txBody>
          <a:bodyPr wrap="square" lIns="0" tIns="0" rIns="0" bIns="0" rtlCol="0" anchor="t"/>
          <a:lstStyle/>
          <a:p>
            <a:pPr indent="0" marL="0">
              <a:buNone/>
            </a:pPr>
            <a:r>
              <a:rPr lang="en-US" sz="1500" b="1" dirty="0">
                <a:solidFill>
                  <a:schemeClr val="bg1"/>
                </a:solidFill>
              </a:rPr>
              <a:t>Scroll-stopping hooks</a:t>
            </a:r>
            <a:endParaRPr lang="en-US" sz="1500" dirty="0"/>
          </a:p>
        </p:txBody>
      </p:sp>
      <p:sp>
        <p:nvSpPr>
          <p:cNvPr id="20" name="Text 13"/>
          <p:cNvSpPr txBox="1"/>
          <p:nvPr/>
        </p:nvSpPr>
        <p:spPr>
          <a:xfrm>
            <a:off x="9646920" y="3255264"/>
            <a:ext cx="2011680" cy="457200"/>
          </a:xfrm>
          <a:prstGeom prst="rect">
            <a:avLst/>
          </a:prstGeom>
          <a:noFill/>
          <a:ln/>
        </p:spPr>
        <p:txBody>
          <a:bodyPr wrap="square" lIns="0" tIns="0" rIns="0" bIns="0" rtlCol="0" anchor="t"/>
          <a:lstStyle/>
          <a:p>
            <a:pPr indent="0" marL="0">
              <a:buNone/>
            </a:pPr>
            <a:r>
              <a:rPr lang="en-US" sz="1300" dirty="0">
                <a:solidFill>
                  <a:schemeClr val="accent4"/>
                </a:solidFill>
              </a:rPr>
              <a:t>"Don't get hooked."</a:t>
            </a:r>
            <a:endParaRPr lang="en-US" sz="1300" dirty="0"/>
          </a:p>
        </p:txBody>
      </p:sp>
      <p:sp>
        <p:nvSpPr>
          <p:cNvPr id="21" name="icon-bg-check"/>
          <p:cNvSpPr/>
          <p:nvPr/>
        </p:nvSpPr>
        <p:spPr>
          <a:xfrm>
            <a:off x="9098280" y="4032504"/>
            <a:ext cx="411480" cy="411480"/>
          </a:xfrm>
          <a:prstGeom prst="ellipse">
            <a:avLst/>
          </a:prstGeom>
          <a:solidFill>
            <a:schemeClr val="accent5"/>
          </a:solidFill>
          <a:ln/>
        </p:spPr>
      </p:sp>
      <p:pic>
        <p:nvPicPr>
          <p:cNvPr id="22" name="icon-check" descr="preencoded.png">    </p:cNvPr>
          <p:cNvPicPr>
            <a:picLocks noChangeAspect="1"/>
          </p:cNvPicPr>
          <p:nvPr/>
        </p:nvPicPr>
        <p:blipFill>
          <a:blip r:embed="rId6"/>
          <a:stretch>
            <a:fillRect/>
          </a:stretch>
        </p:blipFill>
        <p:spPr>
          <a:xfrm>
            <a:off x="9188806" y="4123030"/>
            <a:ext cx="230429" cy="230429"/>
          </a:xfrm>
          <a:prstGeom prst="rect">
            <a:avLst/>
          </a:prstGeom>
        </p:spPr>
      </p:pic>
      <p:sp>
        <p:nvSpPr>
          <p:cNvPr id="23" name="Text 15"/>
          <p:cNvSpPr txBox="1"/>
          <p:nvPr/>
        </p:nvSpPr>
        <p:spPr>
          <a:xfrm>
            <a:off x="9646920" y="3995928"/>
            <a:ext cx="2011680" cy="320040"/>
          </a:xfrm>
          <a:prstGeom prst="rect">
            <a:avLst/>
          </a:prstGeom>
          <a:noFill/>
          <a:ln/>
        </p:spPr>
        <p:txBody>
          <a:bodyPr wrap="square" lIns="0" tIns="0" rIns="0" bIns="0" rtlCol="0" anchor="t"/>
          <a:lstStyle/>
          <a:p>
            <a:pPr indent="0" marL="0">
              <a:buNone/>
            </a:pPr>
            <a:r>
              <a:rPr lang="en-US" sz="1500" b="1" dirty="0">
                <a:solidFill>
                  <a:schemeClr val="bg1"/>
                </a:solidFill>
              </a:rPr>
              <a:t>Trending audio</a:t>
            </a:r>
            <a:endParaRPr lang="en-US" sz="1500" dirty="0"/>
          </a:p>
        </p:txBody>
      </p:sp>
      <p:sp>
        <p:nvSpPr>
          <p:cNvPr id="24" name="Text 16"/>
          <p:cNvSpPr txBox="1"/>
          <p:nvPr/>
        </p:nvSpPr>
        <p:spPr>
          <a:xfrm>
            <a:off x="9646920" y="4334256"/>
            <a:ext cx="2011680" cy="457200"/>
          </a:xfrm>
          <a:prstGeom prst="rect">
            <a:avLst/>
          </a:prstGeom>
          <a:noFill/>
          <a:ln/>
        </p:spPr>
        <p:txBody>
          <a:bodyPr wrap="square" lIns="0" tIns="0" rIns="0" bIns="0" rtlCol="0" anchor="t"/>
          <a:lstStyle/>
          <a:p>
            <a:pPr indent="0" marL="0">
              <a:buNone/>
            </a:pPr>
            <a:r>
              <a:rPr lang="en-US" sz="1300" dirty="0">
                <a:solidFill>
                  <a:schemeClr val="accent4"/>
                </a:solidFill>
              </a:rPr>
              <a:t>Reels-style reach</a:t>
            </a:r>
            <a:endParaRPr lang="en-US" sz="1300" dirty="0"/>
          </a:p>
        </p:txBody>
      </p:sp>
      <p:sp>
        <p:nvSpPr>
          <p:cNvPr id="25" name="icon-bg-check"/>
          <p:cNvSpPr/>
          <p:nvPr/>
        </p:nvSpPr>
        <p:spPr>
          <a:xfrm>
            <a:off x="9098280" y="5111496"/>
            <a:ext cx="411480" cy="411480"/>
          </a:xfrm>
          <a:prstGeom prst="ellipse">
            <a:avLst/>
          </a:prstGeom>
          <a:solidFill>
            <a:schemeClr val="accent5"/>
          </a:solidFill>
          <a:ln/>
        </p:spPr>
      </p:sp>
      <p:pic>
        <p:nvPicPr>
          <p:cNvPr id="26" name="icon-check" descr="preencoded.png">    </p:cNvPr>
          <p:cNvPicPr>
            <a:picLocks noChangeAspect="1"/>
          </p:cNvPicPr>
          <p:nvPr/>
        </p:nvPicPr>
        <p:blipFill>
          <a:blip r:embed="rId7"/>
          <a:stretch>
            <a:fillRect/>
          </a:stretch>
        </p:blipFill>
        <p:spPr>
          <a:xfrm>
            <a:off x="9188806" y="5202022"/>
            <a:ext cx="230429" cy="230429"/>
          </a:xfrm>
          <a:prstGeom prst="rect">
            <a:avLst/>
          </a:prstGeom>
        </p:spPr>
      </p:pic>
      <p:sp>
        <p:nvSpPr>
          <p:cNvPr id="27" name="Text 18"/>
          <p:cNvSpPr txBox="1"/>
          <p:nvPr/>
        </p:nvSpPr>
        <p:spPr>
          <a:xfrm>
            <a:off x="9646920" y="5074920"/>
            <a:ext cx="2011680" cy="320040"/>
          </a:xfrm>
          <a:prstGeom prst="rect">
            <a:avLst/>
          </a:prstGeom>
          <a:noFill/>
          <a:ln/>
        </p:spPr>
        <p:txBody>
          <a:bodyPr wrap="square" lIns="0" tIns="0" rIns="0" bIns="0" rtlCol="0" anchor="t"/>
          <a:lstStyle/>
          <a:p>
            <a:pPr indent="0" marL="0">
              <a:buNone/>
            </a:pPr>
            <a:r>
              <a:rPr lang="en-US" sz="1500" b="1" dirty="0">
                <a:solidFill>
                  <a:schemeClr val="bg1"/>
                </a:solidFill>
              </a:rPr>
              <a:t>Decision flowchart</a:t>
            </a:r>
            <a:endParaRPr lang="en-US" sz="1500" dirty="0"/>
          </a:p>
        </p:txBody>
      </p:sp>
      <p:sp>
        <p:nvSpPr>
          <p:cNvPr id="28" name="Text 19"/>
          <p:cNvSpPr txBox="1"/>
          <p:nvPr/>
        </p:nvSpPr>
        <p:spPr>
          <a:xfrm>
            <a:off x="9646920" y="5413248"/>
            <a:ext cx="2011680" cy="457200"/>
          </a:xfrm>
          <a:prstGeom prst="rect">
            <a:avLst/>
          </a:prstGeom>
          <a:noFill/>
          <a:ln/>
        </p:spPr>
        <p:txBody>
          <a:bodyPr wrap="square" lIns="0" tIns="0" rIns="0" bIns="0" rtlCol="0" anchor="t"/>
          <a:lstStyle/>
          <a:p>
            <a:pPr indent="0" marL="0">
              <a:buNone/>
            </a:pPr>
            <a:r>
              <a:rPr lang="en-US" sz="1300" dirty="0">
                <a:solidFill>
                  <a:schemeClr val="accent4"/>
                </a:solidFill>
              </a:rPr>
              <a:t>Verify before you click</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Delivery plan and timeline</a:t>
            </a:r>
            <a:endParaRPr lang="en-US" sz="3400" dirty="0"/>
          </a:p>
        </p:txBody>
      </p:sp>
      <p:sp>
        <p:nvSpPr>
          <p:cNvPr id="3" name="sticky"/>
          <p:cNvSpPr txBox="1"/>
          <p:nvPr/>
        </p:nvSpPr>
        <p:spPr>
          <a:xfrm rot="120000">
            <a:off x="9692640" y="502920"/>
            <a:ext cx="1920240" cy="45720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300" b="1" dirty="0">
                <a:solidFill>
                  <a:schemeClr val="tx1"/>
                </a:solidFill>
              </a:rPr>
              <a:t>Planned schedule</a:t>
            </a:r>
            <a:endParaRPr lang="en-US" sz="1300" dirty="0"/>
          </a:p>
        </p:txBody>
      </p:sp>
      <p:sp>
        <p:nvSpPr>
          <p:cNvPr id="4" name="timeline-line"/>
          <p:cNvSpPr/>
          <p:nvPr/>
        </p:nvSpPr>
        <p:spPr>
          <a:xfrm>
            <a:off x="868680" y="1874520"/>
            <a:ext cx="10332720" cy="0"/>
          </a:xfrm>
          <a:prstGeom prst="line">
            <a:avLst/>
          </a:prstGeom>
          <a:noFill/>
          <a:ln w="38100">
            <a:solidFill>
              <a:schemeClr val="accent5"/>
            </a:solidFill>
            <a:prstDash val="solid"/>
          </a:ln>
        </p:spPr>
      </p:sp>
      <p:sp>
        <p:nvSpPr>
          <p:cNvPr id="5" name="icon-bg-clock"/>
          <p:cNvSpPr/>
          <p:nvPr/>
        </p:nvSpPr>
        <p:spPr>
          <a:xfrm>
            <a:off x="594360" y="1554480"/>
            <a:ext cx="640080" cy="640080"/>
          </a:xfrm>
          <a:prstGeom prst="ellipse">
            <a:avLst/>
          </a:prstGeom>
          <a:solidFill>
            <a:schemeClr val="accent5"/>
          </a:solidFill>
          <a:ln/>
        </p:spPr>
      </p:sp>
      <p:pic>
        <p:nvPicPr>
          <p:cNvPr id="6" name="icon-clock" descr="preencoded.png">    </p:cNvPr>
          <p:cNvPicPr>
            <a:picLocks noChangeAspect="1"/>
          </p:cNvPicPr>
          <p:nvPr/>
        </p:nvPicPr>
        <p:blipFill>
          <a:blip r:embed="rId1"/>
          <a:stretch>
            <a:fillRect/>
          </a:stretch>
        </p:blipFill>
        <p:spPr>
          <a:xfrm>
            <a:off x="735178" y="1695298"/>
            <a:ext cx="358445" cy="358445"/>
          </a:xfrm>
          <a:prstGeom prst="rect">
            <a:avLst/>
          </a:prstGeom>
        </p:spPr>
      </p:pic>
      <p:sp>
        <p:nvSpPr>
          <p:cNvPr id="7" name="Text 4"/>
          <p:cNvSpPr txBox="1"/>
          <p:nvPr/>
        </p:nvSpPr>
        <p:spPr>
          <a:xfrm>
            <a:off x="548640" y="237744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Week 0</a:t>
            </a:r>
            <a:endParaRPr lang="en-US" sz="1300" dirty="0"/>
          </a:p>
        </p:txBody>
      </p:sp>
      <p:sp>
        <p:nvSpPr>
          <p:cNvPr id="8" name="Text 5"/>
          <p:cNvSpPr txBox="1"/>
          <p:nvPr/>
        </p:nvSpPr>
        <p:spPr>
          <a:xfrm>
            <a:off x="548640" y="26974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PRE survey</a:t>
            </a:r>
            <a:endParaRPr lang="en-US" sz="1900" dirty="0"/>
          </a:p>
        </p:txBody>
      </p:sp>
      <p:sp>
        <p:nvSpPr>
          <p:cNvPr id="9" name="Text 6"/>
          <p:cNvSpPr txBox="1"/>
          <p:nvPr/>
        </p:nvSpPr>
        <p:spPr>
          <a:xfrm>
            <a:off x="548640" y="3154680"/>
            <a:ext cx="2011680" cy="1005840"/>
          </a:xfrm>
          <a:prstGeom prst="rect">
            <a:avLst/>
          </a:prstGeom>
          <a:noFill/>
          <a:ln/>
        </p:spPr>
        <p:txBody>
          <a:bodyPr wrap="square" lIns="0" tIns="0" rIns="0" bIns="0" rtlCol="0" anchor="t"/>
          <a:lstStyle/>
          <a:p>
            <a:pPr indent="0" marL="0">
              <a:buNone/>
            </a:pPr>
            <a:r>
              <a:rPr lang="en-US" sz="1400" dirty="0">
                <a:solidFill>
                  <a:schemeClr val="accent4"/>
                </a:solidFill>
              </a:rPr>
              <a:t>Link shared in class and group chats; QR code on posters</a:t>
            </a:r>
            <a:endParaRPr lang="en-US" sz="1400" dirty="0"/>
          </a:p>
        </p:txBody>
      </p:sp>
      <p:sp>
        <p:nvSpPr>
          <p:cNvPr id="10" name="icon-bg-phone"/>
          <p:cNvSpPr/>
          <p:nvPr/>
        </p:nvSpPr>
        <p:spPr>
          <a:xfrm>
            <a:off x="2880360" y="1554480"/>
            <a:ext cx="640080" cy="640080"/>
          </a:xfrm>
          <a:prstGeom prst="ellipse">
            <a:avLst/>
          </a:prstGeom>
          <a:solidFill>
            <a:schemeClr val="accent1"/>
          </a:solidFill>
          <a:ln/>
        </p:spPr>
      </p:sp>
      <p:pic>
        <p:nvPicPr>
          <p:cNvPr id="11" name="icon-phone" descr="preencoded.png">    </p:cNvPr>
          <p:cNvPicPr>
            <a:picLocks noChangeAspect="1"/>
          </p:cNvPicPr>
          <p:nvPr/>
        </p:nvPicPr>
        <p:blipFill>
          <a:blip r:embed="rId2"/>
          <a:stretch>
            <a:fillRect/>
          </a:stretch>
        </p:blipFill>
        <p:spPr>
          <a:xfrm>
            <a:off x="3021178" y="1695298"/>
            <a:ext cx="358445" cy="358445"/>
          </a:xfrm>
          <a:prstGeom prst="rect">
            <a:avLst/>
          </a:prstGeom>
        </p:spPr>
      </p:pic>
      <p:sp>
        <p:nvSpPr>
          <p:cNvPr id="12" name="Text 8"/>
          <p:cNvSpPr txBox="1"/>
          <p:nvPr/>
        </p:nvSpPr>
        <p:spPr>
          <a:xfrm>
            <a:off x="2834640" y="237744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Weeks 1–2</a:t>
            </a:r>
            <a:endParaRPr lang="en-US" sz="1300" dirty="0"/>
          </a:p>
        </p:txBody>
      </p:sp>
      <p:sp>
        <p:nvSpPr>
          <p:cNvPr id="13" name="Text 9"/>
          <p:cNvSpPr txBox="1"/>
          <p:nvPr/>
        </p:nvSpPr>
        <p:spPr>
          <a:xfrm>
            <a:off x="2834640" y="26974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Campaign live</a:t>
            </a:r>
            <a:endParaRPr lang="en-US" sz="1900" dirty="0"/>
          </a:p>
        </p:txBody>
      </p:sp>
      <p:sp>
        <p:nvSpPr>
          <p:cNvPr id="14" name="Text 10"/>
          <p:cNvSpPr txBox="1"/>
          <p:nvPr/>
        </p:nvSpPr>
        <p:spPr>
          <a:xfrm>
            <a:off x="2834640" y="3154680"/>
            <a:ext cx="2011680" cy="1005840"/>
          </a:xfrm>
          <a:prstGeom prst="rect">
            <a:avLst/>
          </a:prstGeom>
          <a:noFill/>
          <a:ln/>
        </p:spPr>
        <p:txBody>
          <a:bodyPr wrap="square" lIns="0" tIns="0" rIns="0" bIns="0" rtlCol="0" anchor="t"/>
          <a:lstStyle/>
          <a:p>
            <a:pPr indent="0" marL="0">
              <a:buNone/>
            </a:pPr>
            <a:r>
              <a:rPr lang="en-US" sz="1400" dirty="0">
                <a:solidFill>
                  <a:schemeClr val="accent4"/>
                </a:solidFill>
              </a:rPr>
              <a:t>Posters on noticeboards; Instagram posts and stories</a:t>
            </a:r>
            <a:endParaRPr lang="en-US" sz="1400" dirty="0"/>
          </a:p>
        </p:txBody>
      </p:sp>
      <p:sp>
        <p:nvSpPr>
          <p:cNvPr id="15" name="icon-bg-users"/>
          <p:cNvSpPr/>
          <p:nvPr/>
        </p:nvSpPr>
        <p:spPr>
          <a:xfrm>
            <a:off x="5166360" y="1554480"/>
            <a:ext cx="640080" cy="640080"/>
          </a:xfrm>
          <a:prstGeom prst="ellipse">
            <a:avLst/>
          </a:prstGeom>
          <a:solidFill>
            <a:schemeClr val="accent1"/>
          </a:solidFill>
          <a:ln/>
        </p:spPr>
      </p:sp>
      <p:pic>
        <p:nvPicPr>
          <p:cNvPr id="16" name="icon-users" descr="preencoded.png">    </p:cNvPr>
          <p:cNvPicPr>
            <a:picLocks noChangeAspect="1"/>
          </p:cNvPicPr>
          <p:nvPr/>
        </p:nvPicPr>
        <p:blipFill>
          <a:blip r:embed="rId3"/>
          <a:stretch>
            <a:fillRect/>
          </a:stretch>
        </p:blipFill>
        <p:spPr>
          <a:xfrm>
            <a:off x="5307178" y="1695298"/>
            <a:ext cx="358445" cy="358445"/>
          </a:xfrm>
          <a:prstGeom prst="rect">
            <a:avLst/>
          </a:prstGeom>
        </p:spPr>
      </p:pic>
      <p:sp>
        <p:nvSpPr>
          <p:cNvPr id="17" name="Text 12"/>
          <p:cNvSpPr txBox="1"/>
          <p:nvPr/>
        </p:nvSpPr>
        <p:spPr>
          <a:xfrm>
            <a:off x="5120640" y="237744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Week 2</a:t>
            </a:r>
            <a:endParaRPr lang="en-US" sz="1300" dirty="0"/>
          </a:p>
        </p:txBody>
      </p:sp>
      <p:sp>
        <p:nvSpPr>
          <p:cNvPr id="18" name="Text 13"/>
          <p:cNvSpPr txBox="1"/>
          <p:nvPr/>
        </p:nvSpPr>
        <p:spPr>
          <a:xfrm>
            <a:off x="5120640" y="26974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Engagement</a:t>
            </a:r>
            <a:endParaRPr lang="en-US" sz="1900" dirty="0"/>
          </a:p>
        </p:txBody>
      </p:sp>
      <p:sp>
        <p:nvSpPr>
          <p:cNvPr id="19" name="Text 14"/>
          <p:cNvSpPr txBox="1"/>
          <p:nvPr/>
        </p:nvSpPr>
        <p:spPr>
          <a:xfrm>
            <a:off x="5120640" y="3154680"/>
            <a:ext cx="2011680" cy="1005840"/>
          </a:xfrm>
          <a:prstGeom prst="rect">
            <a:avLst/>
          </a:prstGeom>
          <a:noFill/>
          <a:ln/>
        </p:spPr>
        <p:txBody>
          <a:bodyPr wrap="square" lIns="0" tIns="0" rIns="0" bIns="0" rtlCol="0" anchor="t"/>
          <a:lstStyle/>
          <a:p>
            <a:pPr indent="0" marL="0">
              <a:buNone/>
            </a:pPr>
            <a:r>
              <a:rPr lang="en-US" sz="1400" dirty="0">
                <a:solidFill>
                  <a:schemeClr val="accent4"/>
                </a:solidFill>
              </a:rPr>
              <a:t>Instagram poll and quiz stickers; reply to comments and DMs</a:t>
            </a:r>
            <a:endParaRPr lang="en-US" sz="1400" dirty="0"/>
          </a:p>
        </p:txBody>
      </p:sp>
      <p:sp>
        <p:nvSpPr>
          <p:cNvPr id="20" name="icon-bg-refresh"/>
          <p:cNvSpPr/>
          <p:nvPr/>
        </p:nvSpPr>
        <p:spPr>
          <a:xfrm>
            <a:off x="7452360" y="1554480"/>
            <a:ext cx="640080" cy="640080"/>
          </a:xfrm>
          <a:prstGeom prst="ellipse">
            <a:avLst/>
          </a:prstGeom>
          <a:solidFill>
            <a:schemeClr val="accent5"/>
          </a:solidFill>
          <a:ln/>
        </p:spPr>
      </p:sp>
      <p:pic>
        <p:nvPicPr>
          <p:cNvPr id="21" name="icon-refresh" descr="preencoded.png">    </p:cNvPr>
          <p:cNvPicPr>
            <a:picLocks noChangeAspect="1"/>
          </p:cNvPicPr>
          <p:nvPr/>
        </p:nvPicPr>
        <p:blipFill>
          <a:blip r:embed="rId4"/>
          <a:stretch>
            <a:fillRect/>
          </a:stretch>
        </p:blipFill>
        <p:spPr>
          <a:xfrm>
            <a:off x="7593178" y="1695298"/>
            <a:ext cx="358445" cy="358445"/>
          </a:xfrm>
          <a:prstGeom prst="rect">
            <a:avLst/>
          </a:prstGeom>
        </p:spPr>
      </p:pic>
      <p:sp>
        <p:nvSpPr>
          <p:cNvPr id="22" name="Text 16"/>
          <p:cNvSpPr txBox="1"/>
          <p:nvPr/>
        </p:nvSpPr>
        <p:spPr>
          <a:xfrm>
            <a:off x="7406640" y="237744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Week 3</a:t>
            </a:r>
            <a:endParaRPr lang="en-US" sz="1300" dirty="0"/>
          </a:p>
        </p:txBody>
      </p:sp>
      <p:sp>
        <p:nvSpPr>
          <p:cNvPr id="23" name="Text 17"/>
          <p:cNvSpPr txBox="1"/>
          <p:nvPr/>
        </p:nvSpPr>
        <p:spPr>
          <a:xfrm>
            <a:off x="7406640" y="26974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POST survey</a:t>
            </a:r>
            <a:endParaRPr lang="en-US" sz="1900" dirty="0"/>
          </a:p>
        </p:txBody>
      </p:sp>
      <p:sp>
        <p:nvSpPr>
          <p:cNvPr id="24" name="Text 18"/>
          <p:cNvSpPr txBox="1"/>
          <p:nvPr/>
        </p:nvSpPr>
        <p:spPr>
          <a:xfrm>
            <a:off x="7406640" y="3154680"/>
            <a:ext cx="2011680" cy="1005840"/>
          </a:xfrm>
          <a:prstGeom prst="rect">
            <a:avLst/>
          </a:prstGeom>
          <a:noFill/>
          <a:ln/>
        </p:spPr>
        <p:txBody>
          <a:bodyPr wrap="square" lIns="0" tIns="0" rIns="0" bIns="0" rtlCol="0" anchor="t"/>
          <a:lstStyle/>
          <a:p>
            <a:pPr indent="0" marL="0">
              <a:buNone/>
            </a:pPr>
            <a:r>
              <a:rPr lang="en-US" sz="1400" dirty="0">
                <a:solidFill>
                  <a:schemeClr val="accent4"/>
                </a:solidFill>
              </a:rPr>
              <a:t>Same scenarios, same anonymous code</a:t>
            </a:r>
            <a:endParaRPr lang="en-US" sz="1400" dirty="0"/>
          </a:p>
        </p:txBody>
      </p:sp>
      <p:sp>
        <p:nvSpPr>
          <p:cNvPr id="25" name="icon-bg-chart"/>
          <p:cNvSpPr/>
          <p:nvPr/>
        </p:nvSpPr>
        <p:spPr>
          <a:xfrm>
            <a:off x="9738360" y="1554480"/>
            <a:ext cx="640080" cy="640080"/>
          </a:xfrm>
          <a:prstGeom prst="ellipse">
            <a:avLst/>
          </a:prstGeom>
          <a:solidFill>
            <a:schemeClr val="accent5"/>
          </a:solidFill>
          <a:ln/>
        </p:spPr>
      </p:sp>
      <p:pic>
        <p:nvPicPr>
          <p:cNvPr id="26" name="icon-chart" descr="preencoded.png">    </p:cNvPr>
          <p:cNvPicPr>
            <a:picLocks noChangeAspect="1"/>
          </p:cNvPicPr>
          <p:nvPr/>
        </p:nvPicPr>
        <p:blipFill>
          <a:blip r:embed="rId5"/>
          <a:stretch>
            <a:fillRect/>
          </a:stretch>
        </p:blipFill>
        <p:spPr>
          <a:xfrm>
            <a:off x="9879178" y="1695298"/>
            <a:ext cx="358445" cy="358445"/>
          </a:xfrm>
          <a:prstGeom prst="rect">
            <a:avLst/>
          </a:prstGeom>
        </p:spPr>
      </p:pic>
      <p:sp>
        <p:nvSpPr>
          <p:cNvPr id="27" name="Text 20"/>
          <p:cNvSpPr txBox="1"/>
          <p:nvPr/>
        </p:nvSpPr>
        <p:spPr>
          <a:xfrm>
            <a:off x="9692640" y="2377440"/>
            <a:ext cx="2057400" cy="320040"/>
          </a:xfrm>
          <a:prstGeom prst="rect">
            <a:avLst/>
          </a:prstGeom>
          <a:noFill/>
          <a:ln/>
        </p:spPr>
        <p:txBody>
          <a:bodyPr wrap="square" lIns="0" tIns="0" rIns="0" bIns="0" rtlCol="0" anchor="t"/>
          <a:lstStyle/>
          <a:p>
            <a:pPr indent="0" marL="0">
              <a:buNone/>
            </a:pPr>
            <a:r>
              <a:rPr lang="en-US" sz="1300" b="1" dirty="0">
                <a:solidFill>
                  <a:schemeClr val="accent2"/>
                </a:solidFill>
              </a:rPr>
              <a:t>Week 4</a:t>
            </a:r>
            <a:endParaRPr lang="en-US" sz="1300" dirty="0"/>
          </a:p>
        </p:txBody>
      </p:sp>
      <p:sp>
        <p:nvSpPr>
          <p:cNvPr id="28" name="Text 21"/>
          <p:cNvSpPr txBox="1"/>
          <p:nvPr/>
        </p:nvSpPr>
        <p:spPr>
          <a:xfrm>
            <a:off x="9692640" y="26974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Analysis</a:t>
            </a:r>
            <a:endParaRPr lang="en-US" sz="1900" dirty="0"/>
          </a:p>
        </p:txBody>
      </p:sp>
      <p:sp>
        <p:nvSpPr>
          <p:cNvPr id="29" name="Text 22"/>
          <p:cNvSpPr txBox="1"/>
          <p:nvPr/>
        </p:nvSpPr>
        <p:spPr>
          <a:xfrm>
            <a:off x="9692640" y="3154680"/>
            <a:ext cx="2011680" cy="1005840"/>
          </a:xfrm>
          <a:prstGeom prst="rect">
            <a:avLst/>
          </a:prstGeom>
          <a:noFill/>
          <a:ln/>
        </p:spPr>
        <p:txBody>
          <a:bodyPr wrap="square" lIns="0" tIns="0" rIns="0" bIns="0" rtlCol="0" anchor="t"/>
          <a:lstStyle/>
          <a:p>
            <a:pPr indent="0" marL="0">
              <a:buNone/>
            </a:pPr>
            <a:r>
              <a:rPr lang="en-US" sz="1400" dirty="0">
                <a:solidFill>
                  <a:schemeClr val="accent4"/>
                </a:solidFill>
              </a:rPr>
              <a:t>Paired results, Instagram analytics, final report</a:t>
            </a:r>
            <a:endParaRPr lang="en-US" sz="1400" dirty="0"/>
          </a:p>
        </p:txBody>
      </p:sp>
      <p:sp>
        <p:nvSpPr>
          <p:cNvPr id="30" name="card"/>
          <p:cNvSpPr/>
          <p:nvPr/>
        </p:nvSpPr>
        <p:spPr>
          <a:xfrm>
            <a:off x="548640" y="4434840"/>
            <a:ext cx="11091672" cy="1691640"/>
          </a:xfrm>
          <a:prstGeom prst="roundRect">
            <a:avLst>
              <a:gd name="adj" fmla="val 6486"/>
            </a:avLst>
          </a:prstGeom>
          <a:solidFill>
            <a:schemeClr val="tx2"/>
          </a:solidFill>
          <a:ln/>
        </p:spPr>
      </p:sp>
      <p:sp>
        <p:nvSpPr>
          <p:cNvPr id="31" name="Text 24"/>
          <p:cNvSpPr txBox="1"/>
          <p:nvPr/>
        </p:nvSpPr>
        <p:spPr>
          <a:xfrm>
            <a:off x="822960" y="4617720"/>
            <a:ext cx="2743200" cy="365760"/>
          </a:xfrm>
          <a:prstGeom prst="rect">
            <a:avLst/>
          </a:prstGeom>
          <a:noFill/>
          <a:ln/>
        </p:spPr>
        <p:txBody>
          <a:bodyPr wrap="square" lIns="0" tIns="0" rIns="0" bIns="0" rtlCol="0" anchor="t"/>
          <a:lstStyle/>
          <a:p>
            <a:pPr indent="0" marL="0">
              <a:buNone/>
            </a:pPr>
            <a:r>
              <a:rPr lang="en-US" sz="1700" b="1" dirty="0">
                <a:solidFill>
                  <a:schemeClr val="accent3"/>
                </a:solidFill>
              </a:rPr>
              <a:t>Posting schedule</a:t>
            </a:r>
            <a:endParaRPr lang="en-US" sz="1700" dirty="0"/>
          </a:p>
        </p:txBody>
      </p:sp>
      <p:sp>
        <p:nvSpPr>
          <p:cNvPr id="32" name="Text 25"/>
          <p:cNvSpPr txBox="1"/>
          <p:nvPr/>
        </p:nvSpPr>
        <p:spPr>
          <a:xfrm>
            <a:off x="822960" y="5074920"/>
            <a:ext cx="2560320" cy="411480"/>
          </a:xfrm>
          <a:prstGeom prst="rect">
            <a:avLst/>
          </a:prstGeom>
          <a:noFill/>
          <a:ln/>
        </p:spPr>
        <p:txBody>
          <a:bodyPr wrap="square" lIns="0" tIns="0" rIns="0" bIns="0" rtlCol="0" anchor="t"/>
          <a:lstStyle/>
          <a:p>
            <a:pPr indent="0" marL="0">
              <a:buNone/>
            </a:pPr>
            <a:r>
              <a:rPr lang="en-US" sz="1800" b="1" dirty="0">
                <a:solidFill>
                  <a:schemeClr val="bg1"/>
                </a:solidFill>
              </a:rPr>
              <a:t>3 posts a week</a:t>
            </a:r>
            <a:endParaRPr lang="en-US" sz="1800" dirty="0"/>
          </a:p>
        </p:txBody>
      </p:sp>
      <p:sp>
        <p:nvSpPr>
          <p:cNvPr id="33" name="Text 26"/>
          <p:cNvSpPr txBox="1"/>
          <p:nvPr/>
        </p:nvSpPr>
        <p:spPr>
          <a:xfrm>
            <a:off x="822960" y="5486400"/>
            <a:ext cx="2560320" cy="457200"/>
          </a:xfrm>
          <a:prstGeom prst="rect">
            <a:avLst/>
          </a:prstGeom>
          <a:noFill/>
          <a:ln/>
        </p:spPr>
        <p:txBody>
          <a:bodyPr wrap="square" lIns="0" tIns="0" rIns="0" bIns="0" rtlCol="0" anchor="t"/>
          <a:lstStyle/>
          <a:p>
            <a:pPr indent="0" marL="0">
              <a:buNone/>
            </a:pPr>
            <a:r>
              <a:rPr lang="en-US" sz="1300" dirty="0">
                <a:solidFill>
                  <a:schemeClr val="accent4"/>
                </a:solidFill>
              </a:rPr>
              <a:t>Mon · Wed · Fri</a:t>
            </a:r>
            <a:endParaRPr lang="en-US" sz="1300" dirty="0"/>
          </a:p>
        </p:txBody>
      </p:sp>
      <p:sp>
        <p:nvSpPr>
          <p:cNvPr id="34" name="Text 27"/>
          <p:cNvSpPr txBox="1"/>
          <p:nvPr/>
        </p:nvSpPr>
        <p:spPr>
          <a:xfrm>
            <a:off x="3520440" y="5074920"/>
            <a:ext cx="2560320" cy="411480"/>
          </a:xfrm>
          <a:prstGeom prst="rect">
            <a:avLst/>
          </a:prstGeom>
          <a:noFill/>
          <a:ln/>
        </p:spPr>
        <p:txBody>
          <a:bodyPr wrap="square" lIns="0" tIns="0" rIns="0" bIns="0" rtlCol="0" anchor="t"/>
          <a:lstStyle/>
          <a:p>
            <a:pPr indent="0" marL="0">
              <a:buNone/>
            </a:pPr>
            <a:r>
              <a:rPr lang="en-US" sz="1800" b="1" dirty="0">
                <a:solidFill>
                  <a:schemeClr val="bg1"/>
                </a:solidFill>
              </a:rPr>
              <a:t>7–9 pm</a:t>
            </a:r>
            <a:endParaRPr lang="en-US" sz="1800" dirty="0"/>
          </a:p>
        </p:txBody>
      </p:sp>
      <p:sp>
        <p:nvSpPr>
          <p:cNvPr id="35" name="Text 28"/>
          <p:cNvSpPr txBox="1"/>
          <p:nvPr/>
        </p:nvSpPr>
        <p:spPr>
          <a:xfrm>
            <a:off x="3520440" y="5486400"/>
            <a:ext cx="2560320" cy="457200"/>
          </a:xfrm>
          <a:prstGeom prst="rect">
            <a:avLst/>
          </a:prstGeom>
          <a:noFill/>
          <a:ln/>
        </p:spPr>
        <p:txBody>
          <a:bodyPr wrap="square" lIns="0" tIns="0" rIns="0" bIns="0" rtlCol="0" anchor="t"/>
          <a:lstStyle/>
          <a:p>
            <a:pPr indent="0" marL="0">
              <a:buNone/>
            </a:pPr>
            <a:r>
              <a:rPr lang="en-US" sz="1300" dirty="0">
                <a:solidFill>
                  <a:schemeClr val="accent4"/>
                </a:solidFill>
              </a:rPr>
              <a:t>When students scroll most</a:t>
            </a:r>
            <a:endParaRPr lang="en-US" sz="1300" dirty="0"/>
          </a:p>
        </p:txBody>
      </p:sp>
      <p:sp>
        <p:nvSpPr>
          <p:cNvPr id="36" name="Text 29"/>
          <p:cNvSpPr txBox="1"/>
          <p:nvPr/>
        </p:nvSpPr>
        <p:spPr>
          <a:xfrm>
            <a:off x="6217920" y="5074920"/>
            <a:ext cx="2560320" cy="411480"/>
          </a:xfrm>
          <a:prstGeom prst="rect">
            <a:avLst/>
          </a:prstGeom>
          <a:noFill/>
          <a:ln/>
        </p:spPr>
        <p:txBody>
          <a:bodyPr wrap="square" lIns="0" tIns="0" rIns="0" bIns="0" rtlCol="0" anchor="t"/>
          <a:lstStyle/>
          <a:p>
            <a:pPr indent="0" marL="0">
              <a:buNone/>
            </a:pPr>
            <a:r>
              <a:rPr lang="en-US" sz="1800" b="1" dirty="0">
                <a:solidFill>
                  <a:schemeClr val="bg1"/>
                </a:solidFill>
              </a:rPr>
              <a:t>Daily stories</a:t>
            </a:r>
            <a:endParaRPr lang="en-US" sz="1800" dirty="0"/>
          </a:p>
        </p:txBody>
      </p:sp>
      <p:sp>
        <p:nvSpPr>
          <p:cNvPr id="37" name="Text 30"/>
          <p:cNvSpPr txBox="1"/>
          <p:nvPr/>
        </p:nvSpPr>
        <p:spPr>
          <a:xfrm>
            <a:off x="6217920" y="5486400"/>
            <a:ext cx="2560320" cy="457200"/>
          </a:xfrm>
          <a:prstGeom prst="rect">
            <a:avLst/>
          </a:prstGeom>
          <a:noFill/>
          <a:ln/>
        </p:spPr>
        <p:txBody>
          <a:bodyPr wrap="square" lIns="0" tIns="0" rIns="0" bIns="0" rtlCol="0" anchor="t"/>
          <a:lstStyle/>
          <a:p>
            <a:pPr indent="0" marL="0">
              <a:buNone/>
            </a:pPr>
            <a:r>
              <a:rPr lang="en-US" sz="1300" dirty="0">
                <a:solidFill>
                  <a:schemeClr val="accent4"/>
                </a:solidFill>
              </a:rPr>
              <a:t>Re-share, polls, reminders</a:t>
            </a:r>
            <a:endParaRPr lang="en-US" sz="1300" dirty="0"/>
          </a:p>
        </p:txBody>
      </p:sp>
      <p:sp>
        <p:nvSpPr>
          <p:cNvPr id="38" name="Text 31"/>
          <p:cNvSpPr txBox="1"/>
          <p:nvPr/>
        </p:nvSpPr>
        <p:spPr>
          <a:xfrm>
            <a:off x="8915400" y="5074920"/>
            <a:ext cx="2560320" cy="411480"/>
          </a:xfrm>
          <a:prstGeom prst="rect">
            <a:avLst/>
          </a:prstGeom>
          <a:noFill/>
          <a:ln/>
        </p:spPr>
        <p:txBody>
          <a:bodyPr wrap="square" lIns="0" tIns="0" rIns="0" bIns="0" rtlCol="0" anchor="t"/>
          <a:lstStyle/>
          <a:p>
            <a:pPr indent="0" marL="0">
              <a:buNone/>
            </a:pPr>
            <a:r>
              <a:rPr lang="en-US" sz="1800" b="1" dirty="0">
                <a:solidFill>
                  <a:schemeClr val="bg1"/>
                </a:solidFill>
              </a:rPr>
              <a:t>Hashtags</a:t>
            </a:r>
            <a:endParaRPr lang="en-US" sz="1800" dirty="0"/>
          </a:p>
        </p:txBody>
      </p:sp>
      <p:sp>
        <p:nvSpPr>
          <p:cNvPr id="39" name="Text 32"/>
          <p:cNvSpPr txBox="1"/>
          <p:nvPr/>
        </p:nvSpPr>
        <p:spPr>
          <a:xfrm>
            <a:off x="8915400" y="5486400"/>
            <a:ext cx="2560320" cy="457200"/>
          </a:xfrm>
          <a:prstGeom prst="rect">
            <a:avLst/>
          </a:prstGeom>
          <a:noFill/>
          <a:ln/>
        </p:spPr>
        <p:txBody>
          <a:bodyPr wrap="square" lIns="0" tIns="0" rIns="0" bIns="0" rtlCol="0" anchor="t"/>
          <a:lstStyle/>
          <a:p>
            <a:pPr indent="0" marL="0">
              <a:buNone/>
            </a:pPr>
            <a:r>
              <a:rPr lang="en-US" sz="1300" dirty="0">
                <a:solidFill>
                  <a:schemeClr val="accent4"/>
                </a:solidFill>
              </a:rPr>
              <a:t>#CyberAware #ThinkBeforeYouClick</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Measuring knowledge, not just opinions</a:t>
            </a:r>
            <a:endParaRPr lang="en-US" sz="3400" dirty="0"/>
          </a:p>
        </p:txBody>
      </p:sp>
      <p:sp>
        <p:nvSpPr>
          <p:cNvPr id="3" name="image-frame"/>
          <p:cNvSpPr/>
          <p:nvPr/>
        </p:nvSpPr>
        <p:spPr>
          <a:xfrm>
            <a:off x="557441" y="1252728"/>
            <a:ext cx="2405559" cy="5038344"/>
          </a:xfrm>
          <a:prstGeom prst="roundRect">
            <a:avLst>
              <a:gd name="adj" fmla="val 3801"/>
            </a:avLst>
          </a:prstGeom>
          <a:solidFill>
            <a:schemeClr val="accent5"/>
          </a:solidFill>
          <a:ln/>
          <a:effectLst>
            <a:outerShdw sx="100000" sy="100000" kx="0" ky="0" algn="bl" rotWithShape="0" blurRad="152400" dist="50800" dir="5400000">
              <a:srgbClr val="000000">
                <a:alpha val="45000"/>
              </a:srgbClr>
            </a:outerShdw>
          </a:effectLst>
        </p:spPr>
      </p:sp>
      <p:pic>
        <p:nvPicPr>
          <p:cNvPr id="4" name="image" descr="HumanFactor survey on a phone: a scenario showing an account-suspension email with answer options.">    </p:cNvPr>
          <p:cNvPicPr>
            <a:picLocks noChangeAspect="1"/>
          </p:cNvPicPr>
          <p:nvPr/>
        </p:nvPicPr>
        <p:blipFill>
          <a:blip r:embed="rId1"/>
          <a:stretch>
            <a:fillRect/>
          </a:stretch>
        </p:blipFill>
        <p:spPr>
          <a:xfrm>
            <a:off x="630593" y="1325880"/>
            <a:ext cx="2259255" cy="4892040"/>
          </a:xfrm>
          <a:prstGeom prst="rect">
            <a:avLst/>
          </a:prstGeom>
        </p:spPr>
      </p:pic>
      <p:sp>
        <p:nvSpPr>
          <p:cNvPr id="5" name="card"/>
          <p:cNvSpPr/>
          <p:nvPr/>
        </p:nvSpPr>
        <p:spPr>
          <a:xfrm>
            <a:off x="3429000" y="1371600"/>
            <a:ext cx="3931920" cy="2011680"/>
          </a:xfrm>
          <a:prstGeom prst="roundRect">
            <a:avLst>
              <a:gd name="adj" fmla="val 5455"/>
            </a:avLst>
          </a:prstGeom>
          <a:solidFill>
            <a:schemeClr val="tx2"/>
          </a:solidFill>
          <a:ln/>
        </p:spPr>
      </p:sp>
      <p:sp>
        <p:nvSpPr>
          <p:cNvPr id="6" name="icon-bg-mail"/>
          <p:cNvSpPr/>
          <p:nvPr/>
        </p:nvSpPr>
        <p:spPr>
          <a:xfrm>
            <a:off x="3703320" y="1645920"/>
            <a:ext cx="502920" cy="502920"/>
          </a:xfrm>
          <a:prstGeom prst="ellipse">
            <a:avLst/>
          </a:prstGeom>
          <a:solidFill>
            <a:schemeClr val="accent5"/>
          </a:solidFill>
          <a:ln/>
        </p:spPr>
      </p:sp>
      <p:pic>
        <p:nvPicPr>
          <p:cNvPr id="7" name="icon-mail" descr="preencoded.png">    </p:cNvPr>
          <p:cNvPicPr>
            <a:picLocks noChangeAspect="1"/>
          </p:cNvPicPr>
          <p:nvPr/>
        </p:nvPicPr>
        <p:blipFill>
          <a:blip r:embed="rId2"/>
          <a:stretch>
            <a:fillRect/>
          </a:stretch>
        </p:blipFill>
        <p:spPr>
          <a:xfrm>
            <a:off x="3813962" y="1756562"/>
            <a:ext cx="281635" cy="281635"/>
          </a:xfrm>
          <a:prstGeom prst="rect">
            <a:avLst/>
          </a:prstGeom>
        </p:spPr>
      </p:pic>
      <p:sp>
        <p:nvSpPr>
          <p:cNvPr id="8" name="Text 4"/>
          <p:cNvSpPr txBox="1"/>
          <p:nvPr/>
        </p:nvSpPr>
        <p:spPr>
          <a:xfrm>
            <a:off x="4343400" y="1627632"/>
            <a:ext cx="2834640" cy="640080"/>
          </a:xfrm>
          <a:prstGeom prst="rect">
            <a:avLst/>
          </a:prstGeom>
          <a:noFill/>
          <a:ln/>
        </p:spPr>
        <p:txBody>
          <a:bodyPr wrap="square" lIns="0" tIns="0" rIns="0" bIns="0" rtlCol="0" anchor="t"/>
          <a:lstStyle/>
          <a:p>
            <a:pPr indent="0" marL="0">
              <a:buNone/>
            </a:pPr>
            <a:r>
              <a:rPr lang="en-US" sz="1600" b="1" dirty="0">
                <a:solidFill>
                  <a:schemeClr val="bg1"/>
                </a:solidFill>
              </a:rPr>
              <a:t>Same 10 scenarios at PRE and POST</a:t>
            </a:r>
            <a:endParaRPr lang="en-US" sz="1600" dirty="0"/>
          </a:p>
        </p:txBody>
      </p:sp>
      <p:sp>
        <p:nvSpPr>
          <p:cNvPr id="9" name="Text 5"/>
          <p:cNvSpPr txBox="1"/>
          <p:nvPr/>
        </p:nvSpPr>
        <p:spPr>
          <a:xfrm>
            <a:off x="3703320" y="2331720"/>
            <a:ext cx="3429000" cy="960120"/>
          </a:xfrm>
          <a:prstGeom prst="rect">
            <a:avLst/>
          </a:prstGeom>
          <a:noFill/>
          <a:ln/>
        </p:spPr>
        <p:txBody>
          <a:bodyPr wrap="square" lIns="0" tIns="0" rIns="0" bIns="0" rtlCol="0" anchor="t"/>
          <a:lstStyle/>
          <a:p>
            <a:pPr indent="0" marL="0">
              <a:buNone/>
            </a:pPr>
            <a:r>
              <a:rPr lang="en-US" sz="1400" dirty="0">
                <a:solidFill>
                  <a:schemeClr val="accent4"/>
                </a:solidFill>
              </a:rPr>
              <a:t>Real-looking emails, texts, URLs and QR codes. Answer options shuffled for each person</a:t>
            </a:r>
            <a:endParaRPr lang="en-US" sz="1400" dirty="0"/>
          </a:p>
        </p:txBody>
      </p:sp>
      <p:sp>
        <p:nvSpPr>
          <p:cNvPr id="10" name="card"/>
          <p:cNvSpPr/>
          <p:nvPr/>
        </p:nvSpPr>
        <p:spPr>
          <a:xfrm>
            <a:off x="7589520" y="1371600"/>
            <a:ext cx="3931920" cy="2011680"/>
          </a:xfrm>
          <a:prstGeom prst="roundRect">
            <a:avLst>
              <a:gd name="adj" fmla="val 5455"/>
            </a:avLst>
          </a:prstGeom>
          <a:solidFill>
            <a:schemeClr val="tx2"/>
          </a:solidFill>
          <a:ln/>
        </p:spPr>
      </p:sp>
      <p:sp>
        <p:nvSpPr>
          <p:cNvPr id="11" name="icon-bg-key"/>
          <p:cNvSpPr/>
          <p:nvPr/>
        </p:nvSpPr>
        <p:spPr>
          <a:xfrm>
            <a:off x="7863840" y="1645920"/>
            <a:ext cx="502920" cy="502920"/>
          </a:xfrm>
          <a:prstGeom prst="ellipse">
            <a:avLst/>
          </a:prstGeom>
          <a:solidFill>
            <a:schemeClr val="accent5"/>
          </a:solidFill>
          <a:ln/>
        </p:spPr>
      </p:sp>
      <p:pic>
        <p:nvPicPr>
          <p:cNvPr id="12" name="icon-key" descr="preencoded.png">    </p:cNvPr>
          <p:cNvPicPr>
            <a:picLocks noChangeAspect="1"/>
          </p:cNvPicPr>
          <p:nvPr/>
        </p:nvPicPr>
        <p:blipFill>
          <a:blip r:embed="rId3"/>
          <a:stretch>
            <a:fillRect/>
          </a:stretch>
        </p:blipFill>
        <p:spPr>
          <a:xfrm>
            <a:off x="7974482" y="1756562"/>
            <a:ext cx="281635" cy="281635"/>
          </a:xfrm>
          <a:prstGeom prst="rect">
            <a:avLst/>
          </a:prstGeom>
        </p:spPr>
      </p:pic>
      <p:sp>
        <p:nvSpPr>
          <p:cNvPr id="13" name="Text 8"/>
          <p:cNvSpPr txBox="1"/>
          <p:nvPr/>
        </p:nvSpPr>
        <p:spPr>
          <a:xfrm>
            <a:off x="8503920" y="1627632"/>
            <a:ext cx="2834640" cy="640080"/>
          </a:xfrm>
          <a:prstGeom prst="rect">
            <a:avLst/>
          </a:prstGeom>
          <a:noFill/>
          <a:ln/>
        </p:spPr>
        <p:txBody>
          <a:bodyPr wrap="square" lIns="0" tIns="0" rIns="0" bIns="0" rtlCol="0" anchor="t"/>
          <a:lstStyle/>
          <a:p>
            <a:pPr indent="0" marL="0">
              <a:buNone/>
            </a:pPr>
            <a:r>
              <a:rPr lang="en-US" sz="1600" b="1" dirty="0">
                <a:solidFill>
                  <a:schemeClr val="bg1"/>
                </a:solidFill>
              </a:rPr>
              <a:t>An anonymous code links PRE to POST</a:t>
            </a:r>
            <a:endParaRPr lang="en-US" sz="1600" dirty="0"/>
          </a:p>
        </p:txBody>
      </p:sp>
      <p:sp>
        <p:nvSpPr>
          <p:cNvPr id="14" name="Text 9"/>
          <p:cNvSpPr txBox="1"/>
          <p:nvPr/>
        </p:nvSpPr>
        <p:spPr>
          <a:xfrm>
            <a:off x="7863840" y="2331720"/>
            <a:ext cx="3429000" cy="960120"/>
          </a:xfrm>
          <a:prstGeom prst="rect">
            <a:avLst/>
          </a:prstGeom>
          <a:noFill/>
          <a:ln/>
        </p:spPr>
        <p:txBody>
          <a:bodyPr wrap="square" lIns="0" tIns="0" rIns="0" bIns="0" rtlCol="0" anchor="t"/>
          <a:lstStyle/>
          <a:p>
            <a:pPr indent="0" marL="0">
              <a:buNone/>
            </a:pPr>
            <a:r>
              <a:rPr lang="en-US" sz="1400" dirty="0">
                <a:solidFill>
                  <a:schemeClr val="accent4"/>
                </a:solidFill>
              </a:rPr>
              <a:t>A random code issued at PRE, no names or emails, so we can compare each person's two attempts</a:t>
            </a:r>
            <a:endParaRPr lang="en-US" sz="1400" dirty="0"/>
          </a:p>
        </p:txBody>
      </p:sp>
      <p:sp>
        <p:nvSpPr>
          <p:cNvPr id="15" name="card"/>
          <p:cNvSpPr/>
          <p:nvPr/>
        </p:nvSpPr>
        <p:spPr>
          <a:xfrm>
            <a:off x="3429000" y="3611880"/>
            <a:ext cx="3931920" cy="2011680"/>
          </a:xfrm>
          <a:prstGeom prst="roundRect">
            <a:avLst>
              <a:gd name="adj" fmla="val 5455"/>
            </a:avLst>
          </a:prstGeom>
          <a:solidFill>
            <a:schemeClr val="tx2"/>
          </a:solidFill>
          <a:ln/>
        </p:spPr>
      </p:sp>
      <p:sp>
        <p:nvSpPr>
          <p:cNvPr id="16" name="icon-bg-chart"/>
          <p:cNvSpPr/>
          <p:nvPr/>
        </p:nvSpPr>
        <p:spPr>
          <a:xfrm>
            <a:off x="3703320" y="3886200"/>
            <a:ext cx="502920" cy="502920"/>
          </a:xfrm>
          <a:prstGeom prst="ellipse">
            <a:avLst/>
          </a:prstGeom>
          <a:solidFill>
            <a:schemeClr val="accent5"/>
          </a:solidFill>
          <a:ln/>
        </p:spPr>
      </p:sp>
      <p:pic>
        <p:nvPicPr>
          <p:cNvPr id="17" name="icon-chart" descr="preencoded.png">    </p:cNvPr>
          <p:cNvPicPr>
            <a:picLocks noChangeAspect="1"/>
          </p:cNvPicPr>
          <p:nvPr/>
        </p:nvPicPr>
        <p:blipFill>
          <a:blip r:embed="rId4"/>
          <a:stretch>
            <a:fillRect/>
          </a:stretch>
        </p:blipFill>
        <p:spPr>
          <a:xfrm>
            <a:off x="3813962" y="3996842"/>
            <a:ext cx="281635" cy="281635"/>
          </a:xfrm>
          <a:prstGeom prst="rect">
            <a:avLst/>
          </a:prstGeom>
        </p:spPr>
      </p:pic>
      <p:sp>
        <p:nvSpPr>
          <p:cNvPr id="18" name="Text 12"/>
          <p:cNvSpPr txBox="1"/>
          <p:nvPr/>
        </p:nvSpPr>
        <p:spPr>
          <a:xfrm>
            <a:off x="4343400" y="3867912"/>
            <a:ext cx="2834640" cy="640080"/>
          </a:xfrm>
          <a:prstGeom prst="rect">
            <a:avLst/>
          </a:prstGeom>
          <a:noFill/>
          <a:ln/>
        </p:spPr>
        <p:txBody>
          <a:bodyPr wrap="square" lIns="0" tIns="0" rIns="0" bIns="0" rtlCol="0" anchor="t"/>
          <a:lstStyle/>
          <a:p>
            <a:pPr indent="0" marL="0">
              <a:buNone/>
            </a:pPr>
            <a:r>
              <a:rPr lang="en-US" sz="1600" b="1" dirty="0">
                <a:solidFill>
                  <a:schemeClr val="bg1"/>
                </a:solidFill>
              </a:rPr>
              <a:t>Knowledge kept separate from confidence</a:t>
            </a:r>
            <a:endParaRPr lang="en-US" sz="1600" dirty="0"/>
          </a:p>
        </p:txBody>
      </p:sp>
      <p:sp>
        <p:nvSpPr>
          <p:cNvPr id="19" name="Text 13"/>
          <p:cNvSpPr txBox="1"/>
          <p:nvPr/>
        </p:nvSpPr>
        <p:spPr>
          <a:xfrm>
            <a:off x="3703320" y="4572000"/>
            <a:ext cx="3429000" cy="960120"/>
          </a:xfrm>
          <a:prstGeom prst="rect">
            <a:avLst/>
          </a:prstGeom>
          <a:noFill/>
          <a:ln/>
        </p:spPr>
        <p:txBody>
          <a:bodyPr wrap="square" lIns="0" tIns="0" rIns="0" bIns="0" rtlCol="0" anchor="t"/>
          <a:lstStyle/>
          <a:p>
            <a:pPr indent="0" marL="0">
              <a:buNone/>
            </a:pPr>
            <a:r>
              <a:rPr lang="en-US" sz="1400" dirty="0">
                <a:solidFill>
                  <a:schemeClr val="accent4"/>
                </a:solidFill>
              </a:rPr>
              <a:t>Confidence asked before the scenarios, estimated score asked after, so we can measure overconfidence</a:t>
            </a:r>
            <a:endParaRPr lang="en-US" sz="1400" dirty="0"/>
          </a:p>
        </p:txBody>
      </p:sp>
      <p:sp>
        <p:nvSpPr>
          <p:cNvPr id="20" name="card"/>
          <p:cNvSpPr/>
          <p:nvPr/>
        </p:nvSpPr>
        <p:spPr>
          <a:xfrm>
            <a:off x="7589520" y="3611880"/>
            <a:ext cx="3931920" cy="2011680"/>
          </a:xfrm>
          <a:prstGeom prst="roundRect">
            <a:avLst>
              <a:gd name="adj" fmla="val 5455"/>
            </a:avLst>
          </a:prstGeom>
          <a:solidFill>
            <a:schemeClr val="tx2"/>
          </a:solidFill>
          <a:ln/>
        </p:spPr>
      </p:sp>
      <p:sp>
        <p:nvSpPr>
          <p:cNvPr id="21" name="icon-bg-eyeOff"/>
          <p:cNvSpPr/>
          <p:nvPr/>
        </p:nvSpPr>
        <p:spPr>
          <a:xfrm>
            <a:off x="7863840" y="3886200"/>
            <a:ext cx="502920" cy="502920"/>
          </a:xfrm>
          <a:prstGeom prst="ellipse">
            <a:avLst/>
          </a:prstGeom>
          <a:solidFill>
            <a:schemeClr val="accent5"/>
          </a:solidFill>
          <a:ln/>
        </p:spPr>
      </p:sp>
      <p:pic>
        <p:nvPicPr>
          <p:cNvPr id="22" name="icon-eyeOff" descr="preencoded.png">    </p:cNvPr>
          <p:cNvPicPr>
            <a:picLocks noChangeAspect="1"/>
          </p:cNvPicPr>
          <p:nvPr/>
        </p:nvPicPr>
        <p:blipFill>
          <a:blip r:embed="rId5"/>
          <a:stretch>
            <a:fillRect/>
          </a:stretch>
        </p:blipFill>
        <p:spPr>
          <a:xfrm>
            <a:off x="7974482" y="3996842"/>
            <a:ext cx="281635" cy="281635"/>
          </a:xfrm>
          <a:prstGeom prst="rect">
            <a:avLst/>
          </a:prstGeom>
        </p:spPr>
      </p:pic>
      <p:sp>
        <p:nvSpPr>
          <p:cNvPr id="23" name="Text 16"/>
          <p:cNvSpPr txBox="1"/>
          <p:nvPr/>
        </p:nvSpPr>
        <p:spPr>
          <a:xfrm>
            <a:off x="8503920" y="3867912"/>
            <a:ext cx="2834640" cy="640080"/>
          </a:xfrm>
          <a:prstGeom prst="rect">
            <a:avLst/>
          </a:prstGeom>
          <a:noFill/>
          <a:ln/>
        </p:spPr>
        <p:txBody>
          <a:bodyPr wrap="square" lIns="0" tIns="0" rIns="0" bIns="0" rtlCol="0" anchor="t"/>
          <a:lstStyle/>
          <a:p>
            <a:pPr indent="0" marL="0">
              <a:buNone/>
            </a:pPr>
            <a:r>
              <a:rPr lang="en-US" sz="1600" b="1" dirty="0">
                <a:solidFill>
                  <a:schemeClr val="bg1"/>
                </a:solidFill>
              </a:rPr>
              <a:t>Scored on the server, never shown</a:t>
            </a:r>
            <a:endParaRPr lang="en-US" sz="1600" dirty="0"/>
          </a:p>
        </p:txBody>
      </p:sp>
      <p:sp>
        <p:nvSpPr>
          <p:cNvPr id="24" name="Text 17"/>
          <p:cNvSpPr txBox="1"/>
          <p:nvPr/>
        </p:nvSpPr>
        <p:spPr>
          <a:xfrm>
            <a:off x="7863840" y="4572000"/>
            <a:ext cx="3429000" cy="960120"/>
          </a:xfrm>
          <a:prstGeom prst="rect">
            <a:avLst/>
          </a:prstGeom>
          <a:noFill/>
          <a:ln/>
        </p:spPr>
        <p:txBody>
          <a:bodyPr wrap="square" lIns="0" tIns="0" rIns="0" bIns="0" rtlCol="0" anchor="t"/>
          <a:lstStyle/>
          <a:p>
            <a:pPr indent="0" marL="0">
              <a:buNone/>
            </a:pPr>
            <a:r>
              <a:rPr lang="en-US" sz="1400" dirty="0">
                <a:solidFill>
                  <a:schemeClr val="accent4"/>
                </a:solidFill>
              </a:rPr>
              <a:t>Participants don't see answers or scores, so the survey itself doesn't teach</a:t>
            </a:r>
            <a:endParaRPr lang="en-US" sz="1400" dirty="0"/>
          </a:p>
        </p:txBody>
      </p:sp>
      <p:sp>
        <p:nvSpPr>
          <p:cNvPr id="25" name="Text 18"/>
          <p:cNvSpPr txBox="1"/>
          <p:nvPr/>
        </p:nvSpPr>
        <p:spPr>
          <a:xfrm>
            <a:off x="3429000" y="5897880"/>
            <a:ext cx="8092440" cy="320040"/>
          </a:xfrm>
          <a:prstGeom prst="rect">
            <a:avLst/>
          </a:prstGeom>
          <a:noFill/>
          <a:ln/>
        </p:spPr>
        <p:txBody>
          <a:bodyPr wrap="square" lIns="0" tIns="0" rIns="0" bIns="0" rtlCol="0" anchor="t"/>
          <a:lstStyle/>
          <a:p>
            <a:pPr indent="0" marL="0">
              <a:buNone/>
            </a:pPr>
            <a:r>
              <a:rPr lang="en-US" sz="1300" dirty="0">
                <a:solidFill>
                  <a:schemeClr val="accent4"/>
                </a:solidFill>
              </a:rPr>
              <a:t>PRE: 15 questions, about 7 min  ·  POST: 13 questions, about 6 min  ·  10 scored items, 1 point each</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Why these 10 questions</a:t>
            </a:r>
            <a:endParaRPr lang="en-US" sz="3400" dirty="0"/>
          </a:p>
        </p:txBody>
      </p:sp>
      <p:sp>
        <p:nvSpPr>
          <p:cNvPr id="3" name="Text 1"/>
          <p:cNvSpPr txBox="1"/>
          <p:nvPr/>
        </p:nvSpPr>
        <p:spPr>
          <a:xfrm>
            <a:off x="548640" y="1280160"/>
            <a:ext cx="64008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5 TOPICS × 2 SCENARIOS, EACH MATCHED TO CAMPAIGN CONTENT</a:t>
            </a:r>
            <a:endParaRPr lang="en-US" sz="1200" dirty="0"/>
          </a:p>
        </p:txBody>
      </p:sp>
      <p:sp>
        <p:nvSpPr>
          <p:cNvPr id="4" name="card"/>
          <p:cNvSpPr/>
          <p:nvPr/>
        </p:nvSpPr>
        <p:spPr>
          <a:xfrm>
            <a:off x="548640" y="1691640"/>
            <a:ext cx="6400800" cy="786384"/>
          </a:xfrm>
          <a:prstGeom prst="roundRect">
            <a:avLst>
              <a:gd name="adj" fmla="val 13953"/>
            </a:avLst>
          </a:prstGeom>
          <a:solidFill>
            <a:schemeClr val="tx2"/>
          </a:solidFill>
          <a:ln/>
        </p:spPr>
      </p:sp>
      <p:sp>
        <p:nvSpPr>
          <p:cNvPr id="5" name="Text 3"/>
          <p:cNvSpPr txBox="1"/>
          <p:nvPr/>
        </p:nvSpPr>
        <p:spPr>
          <a:xfrm>
            <a:off x="777240" y="1801368"/>
            <a:ext cx="1828800" cy="320040"/>
          </a:xfrm>
          <a:prstGeom prst="rect">
            <a:avLst/>
          </a:prstGeom>
          <a:noFill/>
          <a:ln/>
        </p:spPr>
        <p:txBody>
          <a:bodyPr wrap="square" lIns="0" tIns="0" rIns="0" bIns="0" rtlCol="0" anchor="t"/>
          <a:lstStyle/>
          <a:p>
            <a:pPr indent="0" marL="0">
              <a:buNone/>
            </a:pPr>
            <a:r>
              <a:rPr lang="en-US" sz="1500" b="1" dirty="0">
                <a:solidFill>
                  <a:schemeClr val="accent1"/>
                </a:solidFill>
              </a:rPr>
              <a:t>Email phishing</a:t>
            </a:r>
            <a:endParaRPr lang="en-US" sz="1500" dirty="0"/>
          </a:p>
        </p:txBody>
      </p:sp>
      <p:sp>
        <p:nvSpPr>
          <p:cNvPr id="6" name="Text 4"/>
          <p:cNvSpPr txBox="1"/>
          <p:nvPr/>
        </p:nvSpPr>
        <p:spPr>
          <a:xfrm>
            <a:off x="777240" y="2121408"/>
            <a:ext cx="3291840" cy="292608"/>
          </a:xfrm>
          <a:prstGeom prst="rect">
            <a:avLst/>
          </a:prstGeom>
          <a:noFill/>
          <a:ln/>
        </p:spPr>
        <p:txBody>
          <a:bodyPr wrap="square" lIns="0" tIns="0" rIns="0" bIns="0" rtlCol="0" anchor="t"/>
          <a:lstStyle/>
          <a:p>
            <a:pPr indent="0" marL="0">
              <a:buNone/>
            </a:pPr>
            <a:r>
              <a:rPr lang="en-US" sz="1200" dirty="0">
                <a:solidFill>
                  <a:schemeClr val="accent4"/>
                </a:solidFill>
              </a:rPr>
              <a:t>→ "It looks real. But is it?" poster</a:t>
            </a:r>
            <a:endParaRPr lang="en-US" sz="1200" dirty="0"/>
          </a:p>
        </p:txBody>
      </p:sp>
      <p:sp>
        <p:nvSpPr>
          <p:cNvPr id="7" name="item-chip"/>
          <p:cNvSpPr txBox="1"/>
          <p:nvPr/>
        </p:nvSpPr>
        <p:spPr>
          <a:xfrm>
            <a:off x="3977640" y="1874520"/>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1 Suspension email</a:t>
            </a:r>
            <a:endParaRPr lang="en-US" sz="1100" dirty="0"/>
          </a:p>
        </p:txBody>
      </p:sp>
      <p:sp>
        <p:nvSpPr>
          <p:cNvPr id="8" name="item-chip"/>
          <p:cNvSpPr txBox="1"/>
          <p:nvPr/>
        </p:nvSpPr>
        <p:spPr>
          <a:xfrm>
            <a:off x="5440680" y="1874520"/>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4 Warning signs</a:t>
            </a:r>
            <a:endParaRPr lang="en-US" sz="1100" dirty="0"/>
          </a:p>
        </p:txBody>
      </p:sp>
      <p:sp>
        <p:nvSpPr>
          <p:cNvPr id="9" name="card"/>
          <p:cNvSpPr/>
          <p:nvPr/>
        </p:nvSpPr>
        <p:spPr>
          <a:xfrm>
            <a:off x="548640" y="2587752"/>
            <a:ext cx="6400800" cy="786384"/>
          </a:xfrm>
          <a:prstGeom prst="roundRect">
            <a:avLst>
              <a:gd name="adj" fmla="val 13953"/>
            </a:avLst>
          </a:prstGeom>
          <a:solidFill>
            <a:schemeClr val="tx2"/>
          </a:solidFill>
          <a:ln/>
        </p:spPr>
      </p:sp>
      <p:sp>
        <p:nvSpPr>
          <p:cNvPr id="10" name="Text 8"/>
          <p:cNvSpPr txBox="1"/>
          <p:nvPr/>
        </p:nvSpPr>
        <p:spPr>
          <a:xfrm>
            <a:off x="777240" y="2697480"/>
            <a:ext cx="1828800" cy="320040"/>
          </a:xfrm>
          <a:prstGeom prst="rect">
            <a:avLst/>
          </a:prstGeom>
          <a:noFill/>
          <a:ln/>
        </p:spPr>
        <p:txBody>
          <a:bodyPr wrap="square" lIns="0" tIns="0" rIns="0" bIns="0" rtlCol="0" anchor="t"/>
          <a:lstStyle/>
          <a:p>
            <a:pPr indent="0" marL="0">
              <a:buNone/>
            </a:pPr>
            <a:r>
              <a:rPr lang="en-US" sz="1500" b="1" dirty="0">
                <a:solidFill>
                  <a:schemeClr val="accent3"/>
                </a:solidFill>
              </a:rPr>
              <a:t>Links &amp; websites</a:t>
            </a:r>
            <a:endParaRPr lang="en-US" sz="1500" dirty="0"/>
          </a:p>
        </p:txBody>
      </p:sp>
      <p:sp>
        <p:nvSpPr>
          <p:cNvPr id="11" name="Text 9"/>
          <p:cNvSpPr txBox="1"/>
          <p:nvPr/>
        </p:nvSpPr>
        <p:spPr>
          <a:xfrm>
            <a:off x="777240" y="3017520"/>
            <a:ext cx="3291840" cy="292608"/>
          </a:xfrm>
          <a:prstGeom prst="rect">
            <a:avLst/>
          </a:prstGeom>
          <a:noFill/>
          <a:ln/>
        </p:spPr>
        <p:txBody>
          <a:bodyPr wrap="square" lIns="0" tIns="0" rIns="0" bIns="0" rtlCol="0" anchor="t"/>
          <a:lstStyle/>
          <a:p>
            <a:pPr indent="0" marL="0">
              <a:buNone/>
            </a:pPr>
            <a:r>
              <a:rPr lang="en-US" sz="1200" dirty="0">
                <a:solidFill>
                  <a:schemeClr val="accent4"/>
                </a:solidFill>
              </a:rPr>
              <a:t>→ "Verify before you click" post</a:t>
            </a:r>
            <a:endParaRPr lang="en-US" sz="1200" dirty="0"/>
          </a:p>
        </p:txBody>
      </p:sp>
      <p:sp>
        <p:nvSpPr>
          <p:cNvPr id="12" name="item-chip"/>
          <p:cNvSpPr txBox="1"/>
          <p:nvPr/>
        </p:nvSpPr>
        <p:spPr>
          <a:xfrm>
            <a:off x="3977640" y="2770632"/>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2 Reading a URL</a:t>
            </a:r>
            <a:endParaRPr lang="en-US" sz="1100" dirty="0"/>
          </a:p>
        </p:txBody>
      </p:sp>
      <p:sp>
        <p:nvSpPr>
          <p:cNvPr id="13" name="item-chip"/>
          <p:cNvSpPr txBox="1"/>
          <p:nvPr/>
        </p:nvSpPr>
        <p:spPr>
          <a:xfrm>
            <a:off x="5440680" y="2770632"/>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3 The padlock</a:t>
            </a:r>
            <a:endParaRPr lang="en-US" sz="1100" dirty="0"/>
          </a:p>
        </p:txBody>
      </p:sp>
      <p:sp>
        <p:nvSpPr>
          <p:cNvPr id="14" name="card"/>
          <p:cNvSpPr/>
          <p:nvPr/>
        </p:nvSpPr>
        <p:spPr>
          <a:xfrm>
            <a:off x="548640" y="3483864"/>
            <a:ext cx="6400800" cy="786384"/>
          </a:xfrm>
          <a:prstGeom prst="roundRect">
            <a:avLst>
              <a:gd name="adj" fmla="val 13953"/>
            </a:avLst>
          </a:prstGeom>
          <a:solidFill>
            <a:schemeClr val="tx2"/>
          </a:solidFill>
          <a:ln/>
        </p:spPr>
      </p:sp>
      <p:sp>
        <p:nvSpPr>
          <p:cNvPr id="15" name="Text 13"/>
          <p:cNvSpPr txBox="1"/>
          <p:nvPr/>
        </p:nvSpPr>
        <p:spPr>
          <a:xfrm>
            <a:off x="777240" y="3593592"/>
            <a:ext cx="1828800" cy="320040"/>
          </a:xfrm>
          <a:prstGeom prst="rect">
            <a:avLst/>
          </a:prstGeom>
          <a:noFill/>
          <a:ln/>
        </p:spPr>
        <p:txBody>
          <a:bodyPr wrap="square" lIns="0" tIns="0" rIns="0" bIns="0" rtlCol="0" anchor="t"/>
          <a:lstStyle/>
          <a:p>
            <a:pPr indent="0" marL="0">
              <a:buNone/>
            </a:pPr>
            <a:r>
              <a:rPr lang="en-US" sz="1500" b="1" dirty="0">
                <a:solidFill>
                  <a:schemeClr val="accent6"/>
                </a:solidFill>
              </a:rPr>
              <a:t>SMS &amp; QR scams</a:t>
            </a:r>
            <a:endParaRPr lang="en-US" sz="1500" dirty="0"/>
          </a:p>
        </p:txBody>
      </p:sp>
      <p:sp>
        <p:nvSpPr>
          <p:cNvPr id="16" name="Text 14"/>
          <p:cNvSpPr txBox="1"/>
          <p:nvPr/>
        </p:nvSpPr>
        <p:spPr>
          <a:xfrm>
            <a:off x="777240" y="3913632"/>
            <a:ext cx="3291840" cy="292608"/>
          </a:xfrm>
          <a:prstGeom prst="rect">
            <a:avLst/>
          </a:prstGeom>
          <a:noFill/>
          <a:ln/>
        </p:spPr>
        <p:txBody>
          <a:bodyPr wrap="square" lIns="0" tIns="0" rIns="0" bIns="0" rtlCol="0" anchor="t"/>
          <a:lstStyle/>
          <a:p>
            <a:pPr indent="0" marL="0">
              <a:buNone/>
            </a:pPr>
            <a:r>
              <a:rPr lang="en-US" sz="1200" dirty="0">
                <a:solidFill>
                  <a:schemeClr val="accent4"/>
                </a:solidFill>
              </a:rPr>
              <a:t>→ "Don't get hooked" post</a:t>
            </a:r>
            <a:endParaRPr lang="en-US" sz="1200" dirty="0"/>
          </a:p>
        </p:txBody>
      </p:sp>
      <p:sp>
        <p:nvSpPr>
          <p:cNvPr id="17" name="item-chip"/>
          <p:cNvSpPr txBox="1"/>
          <p:nvPr/>
        </p:nvSpPr>
        <p:spPr>
          <a:xfrm>
            <a:off x="3977640" y="3666744"/>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5 Parcel-fee text</a:t>
            </a:r>
            <a:endParaRPr lang="en-US" sz="1100" dirty="0"/>
          </a:p>
        </p:txBody>
      </p:sp>
      <p:sp>
        <p:nvSpPr>
          <p:cNvPr id="18" name="item-chip"/>
          <p:cNvSpPr txBox="1"/>
          <p:nvPr/>
        </p:nvSpPr>
        <p:spPr>
          <a:xfrm>
            <a:off x="5440680" y="3666744"/>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9 QR sticker</a:t>
            </a:r>
            <a:endParaRPr lang="en-US" sz="1100" dirty="0"/>
          </a:p>
        </p:txBody>
      </p:sp>
      <p:sp>
        <p:nvSpPr>
          <p:cNvPr id="19" name="card"/>
          <p:cNvSpPr/>
          <p:nvPr/>
        </p:nvSpPr>
        <p:spPr>
          <a:xfrm>
            <a:off x="548640" y="4379976"/>
            <a:ext cx="6400800" cy="786384"/>
          </a:xfrm>
          <a:prstGeom prst="roundRect">
            <a:avLst>
              <a:gd name="adj" fmla="val 13953"/>
            </a:avLst>
          </a:prstGeom>
          <a:solidFill>
            <a:schemeClr val="tx2"/>
          </a:solidFill>
          <a:ln/>
        </p:spPr>
      </p:sp>
      <p:sp>
        <p:nvSpPr>
          <p:cNvPr id="20" name="Text 18"/>
          <p:cNvSpPr txBox="1"/>
          <p:nvPr/>
        </p:nvSpPr>
        <p:spPr>
          <a:xfrm>
            <a:off x="777240" y="4489704"/>
            <a:ext cx="1828800" cy="320040"/>
          </a:xfrm>
          <a:prstGeom prst="rect">
            <a:avLst/>
          </a:prstGeom>
          <a:noFill/>
          <a:ln/>
        </p:spPr>
        <p:txBody>
          <a:bodyPr wrap="square" lIns="0" tIns="0" rIns="0" bIns="0" rtlCol="0" anchor="t"/>
          <a:lstStyle/>
          <a:p>
            <a:pPr indent="0" marL="0">
              <a:buNone/>
            </a:pPr>
            <a:r>
              <a:rPr lang="en-US" sz="1500" b="1" dirty="0">
                <a:solidFill>
                  <a:schemeClr val="accent2"/>
                </a:solidFill>
              </a:rPr>
              <a:t>Account security</a:t>
            </a:r>
            <a:endParaRPr lang="en-US" sz="1500" dirty="0"/>
          </a:p>
        </p:txBody>
      </p:sp>
      <p:sp>
        <p:nvSpPr>
          <p:cNvPr id="21" name="Text 19"/>
          <p:cNvSpPr txBox="1"/>
          <p:nvPr/>
        </p:nvSpPr>
        <p:spPr>
          <a:xfrm>
            <a:off x="777240" y="4809744"/>
            <a:ext cx="3291840" cy="292608"/>
          </a:xfrm>
          <a:prstGeom prst="rect">
            <a:avLst/>
          </a:prstGeom>
          <a:noFill/>
          <a:ln/>
        </p:spPr>
        <p:txBody>
          <a:bodyPr wrap="square" lIns="0" tIns="0" rIns="0" bIns="0" rtlCol="0" anchor="t"/>
          <a:lstStyle/>
          <a:p>
            <a:pPr indent="0" marL="0">
              <a:buNone/>
            </a:pPr>
            <a:r>
              <a:rPr lang="en-US" sz="1200" dirty="0">
                <a:solidFill>
                  <a:schemeClr val="accent4"/>
                </a:solidFill>
              </a:rPr>
              <a:t>→ "Spotted something suspicious?" poster</a:t>
            </a:r>
            <a:endParaRPr lang="en-US" sz="1200" dirty="0"/>
          </a:p>
        </p:txBody>
      </p:sp>
      <p:sp>
        <p:nvSpPr>
          <p:cNvPr id="22" name="item-chip"/>
          <p:cNvSpPr txBox="1"/>
          <p:nvPr/>
        </p:nvSpPr>
        <p:spPr>
          <a:xfrm>
            <a:off x="3977640" y="4562856"/>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6 Sign-in prompts</a:t>
            </a:r>
            <a:endParaRPr lang="en-US" sz="1100" dirty="0"/>
          </a:p>
        </p:txBody>
      </p:sp>
      <p:sp>
        <p:nvSpPr>
          <p:cNvPr id="23" name="item-chip"/>
          <p:cNvSpPr txBox="1"/>
          <p:nvPr/>
        </p:nvSpPr>
        <p:spPr>
          <a:xfrm>
            <a:off x="5440680" y="4562856"/>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10 After a leak</a:t>
            </a:r>
            <a:endParaRPr lang="en-US" sz="1100" dirty="0"/>
          </a:p>
        </p:txBody>
      </p:sp>
      <p:sp>
        <p:nvSpPr>
          <p:cNvPr id="24" name="card"/>
          <p:cNvSpPr/>
          <p:nvPr/>
        </p:nvSpPr>
        <p:spPr>
          <a:xfrm>
            <a:off x="548640" y="5276088"/>
            <a:ext cx="6400800" cy="786384"/>
          </a:xfrm>
          <a:prstGeom prst="roundRect">
            <a:avLst>
              <a:gd name="adj" fmla="val 13953"/>
            </a:avLst>
          </a:prstGeom>
          <a:solidFill>
            <a:schemeClr val="tx2"/>
          </a:solidFill>
          <a:ln/>
        </p:spPr>
      </p:sp>
      <p:sp>
        <p:nvSpPr>
          <p:cNvPr id="25" name="Text 23"/>
          <p:cNvSpPr txBox="1"/>
          <p:nvPr/>
        </p:nvSpPr>
        <p:spPr>
          <a:xfrm>
            <a:off x="777240" y="5385816"/>
            <a:ext cx="1828800" cy="320040"/>
          </a:xfrm>
          <a:prstGeom prst="rect">
            <a:avLst/>
          </a:prstGeom>
          <a:noFill/>
          <a:ln/>
        </p:spPr>
        <p:txBody>
          <a:bodyPr wrap="square" lIns="0" tIns="0" rIns="0" bIns="0" rtlCol="0" anchor="t"/>
          <a:lstStyle/>
          <a:p>
            <a:pPr indent="0" marL="0">
              <a:buNone/>
            </a:pPr>
            <a:r>
              <a:rPr lang="en-US" sz="1500" b="1" dirty="0">
                <a:solidFill>
                  <a:schemeClr val="bg2"/>
                </a:solidFill>
              </a:rPr>
              <a:t>Impersonation</a:t>
            </a:r>
            <a:endParaRPr lang="en-US" sz="1500" dirty="0"/>
          </a:p>
        </p:txBody>
      </p:sp>
      <p:sp>
        <p:nvSpPr>
          <p:cNvPr id="26" name="Text 24"/>
          <p:cNvSpPr txBox="1"/>
          <p:nvPr/>
        </p:nvSpPr>
        <p:spPr>
          <a:xfrm>
            <a:off x="777240" y="5705856"/>
            <a:ext cx="3291840" cy="292608"/>
          </a:xfrm>
          <a:prstGeom prst="rect">
            <a:avLst/>
          </a:prstGeom>
          <a:noFill/>
          <a:ln/>
        </p:spPr>
        <p:txBody>
          <a:bodyPr wrap="square" lIns="0" tIns="0" rIns="0" bIns="0" rtlCol="0" anchor="t"/>
          <a:lstStyle/>
          <a:p>
            <a:pPr indent="0" marL="0">
              <a:buNone/>
            </a:pPr>
            <a:r>
              <a:rPr lang="en-US" sz="1200" dirty="0">
                <a:solidFill>
                  <a:schemeClr val="accent4"/>
                </a:solidFill>
              </a:rPr>
              <a:t>→ "They only need the OTP" poster</a:t>
            </a:r>
            <a:endParaRPr lang="en-US" sz="1200" dirty="0"/>
          </a:p>
        </p:txBody>
      </p:sp>
      <p:sp>
        <p:nvSpPr>
          <p:cNvPr id="27" name="item-chip"/>
          <p:cNvSpPr txBox="1"/>
          <p:nvPr/>
        </p:nvSpPr>
        <p:spPr>
          <a:xfrm>
            <a:off x="3977640" y="5458968"/>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7 Friend's code</a:t>
            </a:r>
            <a:endParaRPr lang="en-US" sz="1100" dirty="0"/>
          </a:p>
        </p:txBody>
      </p:sp>
      <p:sp>
        <p:nvSpPr>
          <p:cNvPr id="28" name="item-chip"/>
          <p:cNvSpPr txBox="1"/>
          <p:nvPr/>
        </p:nvSpPr>
        <p:spPr>
          <a:xfrm>
            <a:off x="5440680" y="5458968"/>
            <a:ext cx="1371600"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100" b="1" dirty="0">
                <a:solidFill>
                  <a:schemeClr val="bg1"/>
                </a:solidFill>
              </a:rPr>
              <a:t>8 Lecturer gift card</a:t>
            </a:r>
            <a:endParaRPr lang="en-US" sz="1100" dirty="0"/>
          </a:p>
        </p:txBody>
      </p:sp>
      <p:sp>
        <p:nvSpPr>
          <p:cNvPr id="29" name="Text 27"/>
          <p:cNvSpPr txBox="1"/>
          <p:nvPr/>
        </p:nvSpPr>
        <p:spPr>
          <a:xfrm>
            <a:off x="7360920" y="1280160"/>
            <a:ext cx="4297680" cy="365760"/>
          </a:xfrm>
          <a:prstGeom prst="rect">
            <a:avLst/>
          </a:prstGeom>
          <a:noFill/>
          <a:ln/>
        </p:spPr>
        <p:txBody>
          <a:bodyPr wrap="square" lIns="0" tIns="0" rIns="0" bIns="0" rtlCol="0" anchor="t"/>
          <a:lstStyle/>
          <a:p>
            <a:pPr indent="0" marL="0">
              <a:buNone/>
            </a:pPr>
            <a:r>
              <a:rPr lang="en-US" sz="1700" b="1" dirty="0">
                <a:solidFill>
                  <a:schemeClr val="accent2"/>
                </a:solidFill>
              </a:rPr>
              <a:t>How each item was chosen</a:t>
            </a:r>
            <a:endParaRPr lang="en-US" sz="1700" dirty="0"/>
          </a:p>
        </p:txBody>
      </p:sp>
      <p:sp>
        <p:nvSpPr>
          <p:cNvPr id="30" name="rule-number"/>
          <p:cNvSpPr txBox="1"/>
          <p:nvPr/>
        </p:nvSpPr>
        <p:spPr>
          <a:xfrm>
            <a:off x="7360920" y="1755648"/>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accent2"/>
                </a:solidFill>
              </a:rPr>
              <a:t>1</a:t>
            </a:r>
            <a:endParaRPr lang="en-US" sz="1300" dirty="0"/>
          </a:p>
        </p:txBody>
      </p:sp>
      <p:sp>
        <p:nvSpPr>
          <p:cNvPr id="31" name="Text 29"/>
          <p:cNvSpPr txBox="1"/>
          <p:nvPr/>
        </p:nvSpPr>
        <p:spPr>
          <a:xfrm>
            <a:off x="7882128" y="1737360"/>
            <a:ext cx="3749040" cy="310896"/>
          </a:xfrm>
          <a:prstGeom prst="rect">
            <a:avLst/>
          </a:prstGeom>
          <a:noFill/>
          <a:ln/>
        </p:spPr>
        <p:txBody>
          <a:bodyPr wrap="square" lIns="0" tIns="0" rIns="0" bIns="0" rtlCol="0" anchor="t"/>
          <a:lstStyle/>
          <a:p>
            <a:pPr indent="0" marL="0">
              <a:buNone/>
            </a:pPr>
            <a:r>
              <a:rPr lang="en-US" sz="1500" b="1" dirty="0">
                <a:solidFill>
                  <a:schemeClr val="bg1"/>
                </a:solidFill>
              </a:rPr>
              <a:t>The attacks students actually get</a:t>
            </a:r>
            <a:endParaRPr lang="en-US" sz="1500" dirty="0"/>
          </a:p>
        </p:txBody>
      </p:sp>
      <p:sp>
        <p:nvSpPr>
          <p:cNvPr id="32" name="Text 30"/>
          <p:cNvSpPr txBox="1"/>
          <p:nvPr/>
        </p:nvSpPr>
        <p:spPr>
          <a:xfrm>
            <a:off x="7882128" y="2048256"/>
            <a:ext cx="3749040" cy="502920"/>
          </a:xfrm>
          <a:prstGeom prst="rect">
            <a:avLst/>
          </a:prstGeom>
          <a:noFill/>
          <a:ln/>
        </p:spPr>
        <p:txBody>
          <a:bodyPr wrap="square" lIns="0" tIns="0" rIns="0" bIns="0" rtlCol="0" anchor="t"/>
          <a:lstStyle/>
          <a:p>
            <a:pPr indent="0" marL="0">
              <a:buNone/>
            </a:pPr>
            <a:r>
              <a:rPr lang="en-US" sz="1300" dirty="0">
                <a:solidFill>
                  <a:schemeClr val="accent4"/>
                </a:solidFill>
              </a:rPr>
              <a:t>Every scenario copies a real email, text, DM or QR sticker</a:t>
            </a:r>
            <a:endParaRPr lang="en-US" sz="1300" dirty="0"/>
          </a:p>
        </p:txBody>
      </p:sp>
      <p:sp>
        <p:nvSpPr>
          <p:cNvPr id="33" name="rule-number"/>
          <p:cNvSpPr txBox="1"/>
          <p:nvPr/>
        </p:nvSpPr>
        <p:spPr>
          <a:xfrm>
            <a:off x="7360920" y="2651760"/>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accent2"/>
                </a:solidFill>
              </a:rPr>
              <a:t>2</a:t>
            </a:r>
            <a:endParaRPr lang="en-US" sz="1300" dirty="0"/>
          </a:p>
        </p:txBody>
      </p:sp>
      <p:sp>
        <p:nvSpPr>
          <p:cNvPr id="34" name="Text 32"/>
          <p:cNvSpPr txBox="1"/>
          <p:nvPr/>
        </p:nvSpPr>
        <p:spPr>
          <a:xfrm>
            <a:off x="7882128" y="2633472"/>
            <a:ext cx="3749040" cy="310896"/>
          </a:xfrm>
          <a:prstGeom prst="rect">
            <a:avLst/>
          </a:prstGeom>
          <a:noFill/>
          <a:ln/>
        </p:spPr>
        <p:txBody>
          <a:bodyPr wrap="square" lIns="0" tIns="0" rIns="0" bIns="0" rtlCol="0" anchor="t"/>
          <a:lstStyle/>
          <a:p>
            <a:pPr indent="0" marL="0">
              <a:buNone/>
            </a:pPr>
            <a:r>
              <a:rPr lang="en-US" sz="1500" b="1" dirty="0">
                <a:solidFill>
                  <a:schemeClr val="bg1"/>
                </a:solidFill>
              </a:rPr>
              <a:t>Tests an action, not a definition</a:t>
            </a:r>
            <a:endParaRPr lang="en-US" sz="1500" dirty="0"/>
          </a:p>
        </p:txBody>
      </p:sp>
      <p:sp>
        <p:nvSpPr>
          <p:cNvPr id="35" name="Text 33"/>
          <p:cNvSpPr txBox="1"/>
          <p:nvPr/>
        </p:nvSpPr>
        <p:spPr>
          <a:xfrm>
            <a:off x="7882128" y="2944368"/>
            <a:ext cx="3749040" cy="502920"/>
          </a:xfrm>
          <a:prstGeom prst="rect">
            <a:avLst/>
          </a:prstGeom>
          <a:noFill/>
          <a:ln/>
        </p:spPr>
        <p:txBody>
          <a:bodyPr wrap="square" lIns="0" tIns="0" rIns="0" bIns="0" rtlCol="0" anchor="t"/>
          <a:lstStyle/>
          <a:p>
            <a:pPr indent="0" marL="0">
              <a:buNone/>
            </a:pPr>
            <a:r>
              <a:rPr lang="en-US" sz="1300" dirty="0">
                <a:solidFill>
                  <a:schemeClr val="accent4"/>
                </a:solidFill>
              </a:rPr>
              <a:t>"What should you do?", with one defensible best answer</a:t>
            </a:r>
            <a:endParaRPr lang="en-US" sz="1300" dirty="0"/>
          </a:p>
        </p:txBody>
      </p:sp>
      <p:sp>
        <p:nvSpPr>
          <p:cNvPr id="36" name="rule-number"/>
          <p:cNvSpPr txBox="1"/>
          <p:nvPr/>
        </p:nvSpPr>
        <p:spPr>
          <a:xfrm>
            <a:off x="7360920" y="3547872"/>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accent2"/>
                </a:solidFill>
              </a:rPr>
              <a:t>3</a:t>
            </a:r>
            <a:endParaRPr lang="en-US" sz="1300" dirty="0"/>
          </a:p>
        </p:txBody>
      </p:sp>
      <p:sp>
        <p:nvSpPr>
          <p:cNvPr id="37" name="Text 35"/>
          <p:cNvSpPr txBox="1"/>
          <p:nvPr/>
        </p:nvSpPr>
        <p:spPr>
          <a:xfrm>
            <a:off x="7882128" y="3529584"/>
            <a:ext cx="3749040" cy="310896"/>
          </a:xfrm>
          <a:prstGeom prst="rect">
            <a:avLst/>
          </a:prstGeom>
          <a:noFill/>
          <a:ln/>
        </p:spPr>
        <p:txBody>
          <a:bodyPr wrap="square" lIns="0" tIns="0" rIns="0" bIns="0" rtlCol="0" anchor="t"/>
          <a:lstStyle/>
          <a:p>
            <a:pPr indent="0" marL="0">
              <a:buNone/>
            </a:pPr>
            <a:r>
              <a:rPr lang="en-US" sz="1500" b="1" dirty="0">
                <a:solidFill>
                  <a:schemeClr val="bg1"/>
                </a:solidFill>
              </a:rPr>
              <a:t>Wrong answers are diagnostic</a:t>
            </a:r>
            <a:endParaRPr lang="en-US" sz="1500" dirty="0"/>
          </a:p>
        </p:txBody>
      </p:sp>
      <p:sp>
        <p:nvSpPr>
          <p:cNvPr id="38" name="Text 36"/>
          <p:cNvSpPr txBox="1"/>
          <p:nvPr/>
        </p:nvSpPr>
        <p:spPr>
          <a:xfrm>
            <a:off x="7882128" y="3840480"/>
            <a:ext cx="3749040" cy="502920"/>
          </a:xfrm>
          <a:prstGeom prst="rect">
            <a:avLst/>
          </a:prstGeom>
          <a:noFill/>
          <a:ln/>
        </p:spPr>
        <p:txBody>
          <a:bodyPr wrap="square" lIns="0" tIns="0" rIns="0" bIns="0" rtlCol="0" anchor="t"/>
          <a:lstStyle/>
          <a:p>
            <a:pPr indent="0" marL="0">
              <a:buNone/>
            </a:pPr>
            <a:r>
              <a:rPr lang="en-US" sz="1300" dirty="0">
                <a:solidFill>
                  <a:schemeClr val="accent4"/>
                </a:solidFill>
              </a:rPr>
              <a:t>Each distractor is a real misconception, e.g. "padlock = safe"</a:t>
            </a:r>
            <a:endParaRPr lang="en-US" sz="1300" dirty="0"/>
          </a:p>
        </p:txBody>
      </p:sp>
      <p:sp>
        <p:nvSpPr>
          <p:cNvPr id="39" name="rule-number"/>
          <p:cNvSpPr txBox="1"/>
          <p:nvPr/>
        </p:nvSpPr>
        <p:spPr>
          <a:xfrm>
            <a:off x="7360920" y="4443984"/>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accent2"/>
                </a:solidFill>
              </a:rPr>
              <a:t>4</a:t>
            </a:r>
            <a:endParaRPr lang="en-US" sz="1300" dirty="0"/>
          </a:p>
        </p:txBody>
      </p:sp>
      <p:sp>
        <p:nvSpPr>
          <p:cNvPr id="40" name="Text 38"/>
          <p:cNvSpPr txBox="1"/>
          <p:nvPr/>
        </p:nvSpPr>
        <p:spPr>
          <a:xfrm>
            <a:off x="7882128" y="4425696"/>
            <a:ext cx="3749040" cy="310896"/>
          </a:xfrm>
          <a:prstGeom prst="rect">
            <a:avLst/>
          </a:prstGeom>
          <a:noFill/>
          <a:ln/>
        </p:spPr>
        <p:txBody>
          <a:bodyPr wrap="square" lIns="0" tIns="0" rIns="0" bIns="0" rtlCol="0" anchor="t"/>
          <a:lstStyle/>
          <a:p>
            <a:pPr indent="0" marL="0">
              <a:buNone/>
            </a:pPr>
            <a:r>
              <a:rPr lang="en-US" sz="1500" b="1" dirty="0">
                <a:solidFill>
                  <a:schemeClr val="bg1"/>
                </a:solidFill>
              </a:rPr>
              <a:t>Fair to everyone</a:t>
            </a:r>
            <a:endParaRPr lang="en-US" sz="1500" dirty="0"/>
          </a:p>
        </p:txBody>
      </p:sp>
      <p:sp>
        <p:nvSpPr>
          <p:cNvPr id="41" name="Text 39"/>
          <p:cNvSpPr txBox="1"/>
          <p:nvPr/>
        </p:nvSpPr>
        <p:spPr>
          <a:xfrm>
            <a:off x="7882128" y="4736592"/>
            <a:ext cx="3749040" cy="502920"/>
          </a:xfrm>
          <a:prstGeom prst="rect">
            <a:avLst/>
          </a:prstGeom>
          <a:noFill/>
          <a:ln/>
        </p:spPr>
        <p:txBody>
          <a:bodyPr wrap="square" lIns="0" tIns="0" rIns="0" bIns="0" rtlCol="0" anchor="t"/>
          <a:lstStyle/>
          <a:p>
            <a:pPr indent="0" marL="0">
              <a:buNone/>
            </a:pPr>
            <a:r>
              <a:rPr lang="en-US" sz="1300" dirty="0">
                <a:solidFill>
                  <a:schemeClr val="accent4"/>
                </a:solidFill>
              </a:rPr>
              <a:t>No jargon, no leading cues, balanced option lengths, an "I'm not sure" option</a:t>
            </a:r>
            <a:endParaRPr lang="en-US" sz="1300" dirty="0"/>
          </a:p>
        </p:txBody>
      </p:sp>
      <p:sp>
        <p:nvSpPr>
          <p:cNvPr id="42" name="rule-number"/>
          <p:cNvSpPr txBox="1"/>
          <p:nvPr/>
        </p:nvSpPr>
        <p:spPr>
          <a:xfrm>
            <a:off x="7360920" y="5340096"/>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accent2"/>
                </a:solidFill>
              </a:rPr>
              <a:t>5</a:t>
            </a:r>
            <a:endParaRPr lang="en-US" sz="1300" dirty="0"/>
          </a:p>
        </p:txBody>
      </p:sp>
      <p:sp>
        <p:nvSpPr>
          <p:cNvPr id="43" name="Text 41"/>
          <p:cNvSpPr txBox="1"/>
          <p:nvPr/>
        </p:nvSpPr>
        <p:spPr>
          <a:xfrm>
            <a:off x="7882128" y="5321808"/>
            <a:ext cx="3749040" cy="310896"/>
          </a:xfrm>
          <a:prstGeom prst="rect">
            <a:avLst/>
          </a:prstGeom>
          <a:noFill/>
          <a:ln/>
        </p:spPr>
        <p:txBody>
          <a:bodyPr wrap="square" lIns="0" tIns="0" rIns="0" bIns="0" rtlCol="0" anchor="t"/>
          <a:lstStyle/>
          <a:p>
            <a:pPr indent="0" marL="0">
              <a:buNone/>
            </a:pPr>
            <a:r>
              <a:rPr lang="en-US" sz="1500" b="1" dirty="0">
                <a:solidFill>
                  <a:schemeClr val="bg1"/>
                </a:solidFill>
              </a:rPr>
              <a:t>The same items PRE and POST</a:t>
            </a:r>
            <a:endParaRPr lang="en-US" sz="1500" dirty="0"/>
          </a:p>
        </p:txBody>
      </p:sp>
      <p:sp>
        <p:nvSpPr>
          <p:cNvPr id="44" name="Text 42"/>
          <p:cNvSpPr txBox="1"/>
          <p:nvPr/>
        </p:nvSpPr>
        <p:spPr>
          <a:xfrm>
            <a:off x="7882128" y="5632704"/>
            <a:ext cx="3749040" cy="502920"/>
          </a:xfrm>
          <a:prstGeom prst="rect">
            <a:avLst/>
          </a:prstGeom>
          <a:noFill/>
          <a:ln/>
        </p:spPr>
        <p:txBody>
          <a:bodyPr wrap="square" lIns="0" tIns="0" rIns="0" bIns="0" rtlCol="0" anchor="t"/>
          <a:lstStyle/>
          <a:p>
            <a:pPr indent="0" marL="0">
              <a:buNone/>
            </a:pPr>
            <a:r>
              <a:rPr lang="en-US" sz="1300" dirty="0">
                <a:solidFill>
                  <a:schemeClr val="accent4"/>
                </a:solidFill>
              </a:rPr>
              <a:t>The most defensible comparison at n ≈ 30; options shuffled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Ethical and accessible by design</a:t>
            </a:r>
            <a:endParaRPr lang="en-US" sz="3400" dirty="0"/>
          </a:p>
        </p:txBody>
      </p:sp>
      <p:sp>
        <p:nvSpPr>
          <p:cNvPr id="3" name="Text 1"/>
          <p:cNvSpPr txBox="1"/>
          <p:nvPr/>
        </p:nvSpPr>
        <p:spPr>
          <a:xfrm>
            <a:off x="548640" y="1325880"/>
            <a:ext cx="4114800" cy="365760"/>
          </a:xfrm>
          <a:prstGeom prst="rect">
            <a:avLst/>
          </a:prstGeom>
          <a:noFill/>
          <a:ln/>
        </p:spPr>
        <p:txBody>
          <a:bodyPr wrap="square" lIns="0" tIns="0" rIns="0" bIns="0" rtlCol="0" anchor="t"/>
          <a:lstStyle/>
          <a:p>
            <a:pPr indent="0" marL="0">
              <a:buNone/>
            </a:pPr>
            <a:r>
              <a:rPr lang="en-US" sz="1800" b="1" dirty="0">
                <a:solidFill>
                  <a:schemeClr val="accent1"/>
                </a:solidFill>
              </a:rPr>
              <a:t>Ethics</a:t>
            </a:r>
            <a:endParaRPr lang="en-US" sz="1800" dirty="0"/>
          </a:p>
        </p:txBody>
      </p:sp>
      <p:sp>
        <p:nvSpPr>
          <p:cNvPr id="4" name="icon-bg-shield"/>
          <p:cNvSpPr/>
          <p:nvPr/>
        </p:nvSpPr>
        <p:spPr>
          <a:xfrm>
            <a:off x="548640" y="1810512"/>
            <a:ext cx="457200" cy="457200"/>
          </a:xfrm>
          <a:prstGeom prst="ellipse">
            <a:avLst/>
          </a:prstGeom>
          <a:solidFill>
            <a:schemeClr val="accent5"/>
          </a:solidFill>
          <a:ln/>
        </p:spPr>
      </p:sp>
      <p:pic>
        <p:nvPicPr>
          <p:cNvPr id="5" name="icon-shield" descr="preencoded.png">    </p:cNvPr>
          <p:cNvPicPr>
            <a:picLocks noChangeAspect="1"/>
          </p:cNvPicPr>
          <p:nvPr/>
        </p:nvPicPr>
        <p:blipFill>
          <a:blip r:embed="rId1"/>
          <a:stretch>
            <a:fillRect/>
          </a:stretch>
        </p:blipFill>
        <p:spPr>
          <a:xfrm>
            <a:off x="649224" y="1911096"/>
            <a:ext cx="256032" cy="256032"/>
          </a:xfrm>
          <a:prstGeom prst="rect">
            <a:avLst/>
          </a:prstGeom>
        </p:spPr>
      </p:pic>
      <p:sp>
        <p:nvSpPr>
          <p:cNvPr id="6" name="Text 3"/>
          <p:cNvSpPr txBox="1"/>
          <p:nvPr/>
        </p:nvSpPr>
        <p:spPr>
          <a:xfrm>
            <a:off x="1188720" y="1773936"/>
            <a:ext cx="3566160" cy="320040"/>
          </a:xfrm>
          <a:prstGeom prst="rect">
            <a:avLst/>
          </a:prstGeom>
          <a:noFill/>
          <a:ln/>
        </p:spPr>
        <p:txBody>
          <a:bodyPr wrap="square" lIns="0" tIns="0" rIns="0" bIns="0" rtlCol="0" anchor="t"/>
          <a:lstStyle/>
          <a:p>
            <a:pPr indent="0" marL="0">
              <a:buNone/>
            </a:pPr>
            <a:r>
              <a:rPr lang="en-US" sz="1500" b="1" dirty="0">
                <a:solidFill>
                  <a:schemeClr val="bg1"/>
                </a:solidFill>
              </a:rPr>
              <a:t>Informed consent first</a:t>
            </a:r>
            <a:endParaRPr lang="en-US" sz="1500" dirty="0"/>
          </a:p>
        </p:txBody>
      </p:sp>
      <p:sp>
        <p:nvSpPr>
          <p:cNvPr id="7" name="Text 4"/>
          <p:cNvSpPr txBox="1"/>
          <p:nvPr/>
        </p:nvSpPr>
        <p:spPr>
          <a:xfrm>
            <a:off x="1188720" y="2093976"/>
            <a:ext cx="3566160" cy="502920"/>
          </a:xfrm>
          <a:prstGeom prst="rect">
            <a:avLst/>
          </a:prstGeom>
          <a:noFill/>
          <a:ln/>
        </p:spPr>
        <p:txBody>
          <a:bodyPr wrap="square" lIns="0" tIns="0" rIns="0" bIns="0" rtlCol="0" anchor="t"/>
          <a:lstStyle/>
          <a:p>
            <a:pPr indent="0" marL="0">
              <a:buNone/>
            </a:pPr>
            <a:r>
              <a:rPr lang="en-US" sz="1300" dirty="0">
                <a:solidFill>
                  <a:schemeClr val="accent4"/>
                </a:solidFill>
              </a:rPr>
              <a:t>Plain-language notice and an 18+ confirmation before any question</a:t>
            </a:r>
            <a:endParaRPr lang="en-US" sz="1300" dirty="0"/>
          </a:p>
        </p:txBody>
      </p:sp>
      <p:sp>
        <p:nvSpPr>
          <p:cNvPr id="8" name="icon-bg-eyeOff"/>
          <p:cNvSpPr/>
          <p:nvPr/>
        </p:nvSpPr>
        <p:spPr>
          <a:xfrm>
            <a:off x="548640" y="2679192"/>
            <a:ext cx="457200" cy="457200"/>
          </a:xfrm>
          <a:prstGeom prst="ellipse">
            <a:avLst/>
          </a:prstGeom>
          <a:solidFill>
            <a:schemeClr val="accent5"/>
          </a:solidFill>
          <a:ln/>
        </p:spPr>
      </p:sp>
      <p:pic>
        <p:nvPicPr>
          <p:cNvPr id="9" name="icon-eyeOff" descr="preencoded.png">    </p:cNvPr>
          <p:cNvPicPr>
            <a:picLocks noChangeAspect="1"/>
          </p:cNvPicPr>
          <p:nvPr/>
        </p:nvPicPr>
        <p:blipFill>
          <a:blip r:embed="rId2"/>
          <a:stretch>
            <a:fillRect/>
          </a:stretch>
        </p:blipFill>
        <p:spPr>
          <a:xfrm>
            <a:off x="649224" y="2779776"/>
            <a:ext cx="256032" cy="256032"/>
          </a:xfrm>
          <a:prstGeom prst="rect">
            <a:avLst/>
          </a:prstGeom>
        </p:spPr>
      </p:pic>
      <p:sp>
        <p:nvSpPr>
          <p:cNvPr id="10" name="Text 6"/>
          <p:cNvSpPr txBox="1"/>
          <p:nvPr/>
        </p:nvSpPr>
        <p:spPr>
          <a:xfrm>
            <a:off x="1188720" y="2642616"/>
            <a:ext cx="3566160" cy="320040"/>
          </a:xfrm>
          <a:prstGeom prst="rect">
            <a:avLst/>
          </a:prstGeom>
          <a:noFill/>
          <a:ln/>
        </p:spPr>
        <p:txBody>
          <a:bodyPr wrap="square" lIns="0" tIns="0" rIns="0" bIns="0" rtlCol="0" anchor="t"/>
          <a:lstStyle/>
          <a:p>
            <a:pPr indent="0" marL="0">
              <a:buNone/>
            </a:pPr>
            <a:r>
              <a:rPr lang="en-US" sz="1500" b="1" dirty="0">
                <a:solidFill>
                  <a:schemeClr val="bg1"/>
                </a:solidFill>
              </a:rPr>
              <a:t>Anonymous</a:t>
            </a:r>
            <a:endParaRPr lang="en-US" sz="1500" dirty="0"/>
          </a:p>
        </p:txBody>
      </p:sp>
      <p:sp>
        <p:nvSpPr>
          <p:cNvPr id="11" name="Text 7"/>
          <p:cNvSpPr txBox="1"/>
          <p:nvPr/>
        </p:nvSpPr>
        <p:spPr>
          <a:xfrm>
            <a:off x="1188720" y="2962656"/>
            <a:ext cx="3566160" cy="502920"/>
          </a:xfrm>
          <a:prstGeom prst="rect">
            <a:avLst/>
          </a:prstGeom>
          <a:noFill/>
          <a:ln/>
        </p:spPr>
        <p:txBody>
          <a:bodyPr wrap="square" lIns="0" tIns="0" rIns="0" bIns="0" rtlCol="0" anchor="t"/>
          <a:lstStyle/>
          <a:p>
            <a:pPr indent="0" marL="0">
              <a:buNone/>
            </a:pPr>
            <a:r>
              <a:rPr lang="en-US" sz="1300" dirty="0">
                <a:solidFill>
                  <a:schemeClr val="accent4"/>
                </a:solidFill>
              </a:rPr>
              <a:t>No names, emails, student IDs or IP addresses</a:t>
            </a:r>
            <a:endParaRPr lang="en-US" sz="1300" dirty="0"/>
          </a:p>
        </p:txBody>
      </p:sp>
      <p:sp>
        <p:nvSpPr>
          <p:cNvPr id="12" name="icon-bg-undo"/>
          <p:cNvSpPr/>
          <p:nvPr/>
        </p:nvSpPr>
        <p:spPr>
          <a:xfrm>
            <a:off x="548640" y="3547872"/>
            <a:ext cx="457200" cy="457200"/>
          </a:xfrm>
          <a:prstGeom prst="ellipse">
            <a:avLst/>
          </a:prstGeom>
          <a:solidFill>
            <a:schemeClr val="accent5"/>
          </a:solidFill>
          <a:ln/>
        </p:spPr>
      </p:sp>
      <p:pic>
        <p:nvPicPr>
          <p:cNvPr id="13" name="icon-undo" descr="preencoded.png">    </p:cNvPr>
          <p:cNvPicPr>
            <a:picLocks noChangeAspect="1"/>
          </p:cNvPicPr>
          <p:nvPr/>
        </p:nvPicPr>
        <p:blipFill>
          <a:blip r:embed="rId3"/>
          <a:stretch>
            <a:fillRect/>
          </a:stretch>
        </p:blipFill>
        <p:spPr>
          <a:xfrm>
            <a:off x="649224" y="3648456"/>
            <a:ext cx="256032" cy="256032"/>
          </a:xfrm>
          <a:prstGeom prst="rect">
            <a:avLst/>
          </a:prstGeom>
        </p:spPr>
      </p:pic>
      <p:sp>
        <p:nvSpPr>
          <p:cNvPr id="14" name="Text 9"/>
          <p:cNvSpPr txBox="1"/>
          <p:nvPr/>
        </p:nvSpPr>
        <p:spPr>
          <a:xfrm>
            <a:off x="1188720" y="3511296"/>
            <a:ext cx="3566160" cy="320040"/>
          </a:xfrm>
          <a:prstGeom prst="rect">
            <a:avLst/>
          </a:prstGeom>
          <a:noFill/>
          <a:ln/>
        </p:spPr>
        <p:txBody>
          <a:bodyPr wrap="square" lIns="0" tIns="0" rIns="0" bIns="0" rtlCol="0" anchor="t"/>
          <a:lstStyle/>
          <a:p>
            <a:pPr indent="0" marL="0">
              <a:buNone/>
            </a:pPr>
            <a:r>
              <a:rPr lang="en-US" sz="1500" b="1" dirty="0">
                <a:solidFill>
                  <a:schemeClr val="bg1"/>
                </a:solidFill>
              </a:rPr>
              <a:t>Voluntary</a:t>
            </a:r>
            <a:endParaRPr lang="en-US" sz="1500" dirty="0"/>
          </a:p>
        </p:txBody>
      </p:sp>
      <p:sp>
        <p:nvSpPr>
          <p:cNvPr id="15" name="Text 10"/>
          <p:cNvSpPr txBox="1"/>
          <p:nvPr/>
        </p:nvSpPr>
        <p:spPr>
          <a:xfrm>
            <a:off x="1188720" y="3831336"/>
            <a:ext cx="3566160" cy="502920"/>
          </a:xfrm>
          <a:prstGeom prst="rect">
            <a:avLst/>
          </a:prstGeom>
          <a:noFill/>
          <a:ln/>
        </p:spPr>
        <p:txBody>
          <a:bodyPr wrap="square" lIns="0" tIns="0" rIns="0" bIns="0" rtlCol="0" anchor="t"/>
          <a:lstStyle/>
          <a:p>
            <a:pPr indent="0" marL="0">
              <a:buNone/>
            </a:pPr>
            <a:r>
              <a:rPr lang="en-US" sz="1300" dirty="0">
                <a:solidFill>
                  <a:schemeClr val="accent4"/>
                </a:solidFill>
              </a:rPr>
              <a:t>Stop at any time; withdraw later by quoting your code</a:t>
            </a:r>
            <a:endParaRPr lang="en-US" sz="1300" dirty="0"/>
          </a:p>
        </p:txBody>
      </p:sp>
      <p:sp>
        <p:nvSpPr>
          <p:cNvPr id="16" name="icon-bg-lock"/>
          <p:cNvSpPr/>
          <p:nvPr/>
        </p:nvSpPr>
        <p:spPr>
          <a:xfrm>
            <a:off x="548640" y="4416552"/>
            <a:ext cx="457200" cy="457200"/>
          </a:xfrm>
          <a:prstGeom prst="ellipse">
            <a:avLst/>
          </a:prstGeom>
          <a:solidFill>
            <a:schemeClr val="accent5"/>
          </a:solidFill>
          <a:ln/>
        </p:spPr>
      </p:sp>
      <p:pic>
        <p:nvPicPr>
          <p:cNvPr id="17" name="icon-lock" descr="preencoded.png">    </p:cNvPr>
          <p:cNvPicPr>
            <a:picLocks noChangeAspect="1"/>
          </p:cNvPicPr>
          <p:nvPr/>
        </p:nvPicPr>
        <p:blipFill>
          <a:blip r:embed="rId4"/>
          <a:stretch>
            <a:fillRect/>
          </a:stretch>
        </p:blipFill>
        <p:spPr>
          <a:xfrm>
            <a:off x="649224" y="4517136"/>
            <a:ext cx="256032" cy="256032"/>
          </a:xfrm>
          <a:prstGeom prst="rect">
            <a:avLst/>
          </a:prstGeom>
        </p:spPr>
      </p:pic>
      <p:sp>
        <p:nvSpPr>
          <p:cNvPr id="18" name="Text 12"/>
          <p:cNvSpPr txBox="1"/>
          <p:nvPr/>
        </p:nvSpPr>
        <p:spPr>
          <a:xfrm>
            <a:off x="1188720" y="4379976"/>
            <a:ext cx="3566160" cy="320040"/>
          </a:xfrm>
          <a:prstGeom prst="rect">
            <a:avLst/>
          </a:prstGeom>
          <a:noFill/>
          <a:ln/>
        </p:spPr>
        <p:txBody>
          <a:bodyPr wrap="square" lIns="0" tIns="0" rIns="0" bIns="0" rtlCol="0" anchor="t"/>
          <a:lstStyle/>
          <a:p>
            <a:pPr indent="0" marL="0">
              <a:buNone/>
            </a:pPr>
            <a:r>
              <a:rPr lang="en-US" sz="1500" b="1" dirty="0">
                <a:solidFill>
                  <a:schemeClr val="bg1"/>
                </a:solidFill>
              </a:rPr>
              <a:t>Restricted access</a:t>
            </a:r>
            <a:endParaRPr lang="en-US" sz="1500" dirty="0"/>
          </a:p>
        </p:txBody>
      </p:sp>
      <p:sp>
        <p:nvSpPr>
          <p:cNvPr id="19" name="Text 13"/>
          <p:cNvSpPr txBox="1"/>
          <p:nvPr/>
        </p:nvSpPr>
        <p:spPr>
          <a:xfrm>
            <a:off x="1188720" y="4700016"/>
            <a:ext cx="3566160" cy="502920"/>
          </a:xfrm>
          <a:prstGeom prst="rect">
            <a:avLst/>
          </a:prstGeom>
          <a:noFill/>
          <a:ln/>
        </p:spPr>
        <p:txBody>
          <a:bodyPr wrap="square" lIns="0" tIns="0" rIns="0" bIns="0" rtlCol="0" anchor="t"/>
          <a:lstStyle/>
          <a:p>
            <a:pPr indent="0" marL="0">
              <a:buNone/>
            </a:pPr>
            <a:r>
              <a:rPr lang="en-US" sz="1300" dirty="0">
                <a:solidFill>
                  <a:schemeClr val="accent4"/>
                </a:solidFill>
              </a:rPr>
              <a:t>Password-protected dashboard, group-level reporting only</a:t>
            </a:r>
            <a:endParaRPr lang="en-US" sz="1300" dirty="0"/>
          </a:p>
        </p:txBody>
      </p:sp>
      <p:sp>
        <p:nvSpPr>
          <p:cNvPr id="20" name="icon-bg-info"/>
          <p:cNvSpPr/>
          <p:nvPr/>
        </p:nvSpPr>
        <p:spPr>
          <a:xfrm>
            <a:off x="548640" y="5285232"/>
            <a:ext cx="457200" cy="457200"/>
          </a:xfrm>
          <a:prstGeom prst="ellipse">
            <a:avLst/>
          </a:prstGeom>
          <a:solidFill>
            <a:schemeClr val="accent5"/>
          </a:solidFill>
          <a:ln/>
        </p:spPr>
      </p:sp>
      <p:pic>
        <p:nvPicPr>
          <p:cNvPr id="21" name="icon-info" descr="preencoded.png">    </p:cNvPr>
          <p:cNvPicPr>
            <a:picLocks noChangeAspect="1"/>
          </p:cNvPicPr>
          <p:nvPr/>
        </p:nvPicPr>
        <p:blipFill>
          <a:blip r:embed="rId5"/>
          <a:stretch>
            <a:fillRect/>
          </a:stretch>
        </p:blipFill>
        <p:spPr>
          <a:xfrm>
            <a:off x="649224" y="5385816"/>
            <a:ext cx="256032" cy="256032"/>
          </a:xfrm>
          <a:prstGeom prst="rect">
            <a:avLst/>
          </a:prstGeom>
        </p:spPr>
      </p:pic>
      <p:sp>
        <p:nvSpPr>
          <p:cNvPr id="22" name="Text 15"/>
          <p:cNvSpPr txBox="1"/>
          <p:nvPr/>
        </p:nvSpPr>
        <p:spPr>
          <a:xfrm>
            <a:off x="1188720" y="5248656"/>
            <a:ext cx="3566160" cy="320040"/>
          </a:xfrm>
          <a:prstGeom prst="rect">
            <a:avLst/>
          </a:prstGeom>
          <a:noFill/>
          <a:ln/>
        </p:spPr>
        <p:txBody>
          <a:bodyPr wrap="square" lIns="0" tIns="0" rIns="0" bIns="0" rtlCol="0" anchor="t"/>
          <a:lstStyle/>
          <a:p>
            <a:pPr indent="0" marL="0">
              <a:buNone/>
            </a:pPr>
            <a:r>
              <a:rPr lang="en-US" sz="1500" b="1" dirty="0">
                <a:solidFill>
                  <a:schemeClr val="bg1"/>
                </a:solidFill>
              </a:rPr>
              <a:t>No answers shown</a:t>
            </a:r>
            <a:endParaRPr lang="en-US" sz="1500" dirty="0"/>
          </a:p>
        </p:txBody>
      </p:sp>
      <p:sp>
        <p:nvSpPr>
          <p:cNvPr id="23" name="Text 16"/>
          <p:cNvSpPr txBox="1"/>
          <p:nvPr/>
        </p:nvSpPr>
        <p:spPr>
          <a:xfrm>
            <a:off x="1188720" y="5568696"/>
            <a:ext cx="3566160" cy="502920"/>
          </a:xfrm>
          <a:prstGeom prst="rect">
            <a:avLst/>
          </a:prstGeom>
          <a:noFill/>
          <a:ln/>
        </p:spPr>
        <p:txBody>
          <a:bodyPr wrap="square" lIns="0" tIns="0" rIns="0" bIns="0" rtlCol="0" anchor="t"/>
          <a:lstStyle/>
          <a:p>
            <a:pPr indent="0" marL="0">
              <a:buNone/>
            </a:pPr>
            <a:r>
              <a:rPr lang="en-US" sz="1300" dirty="0">
                <a:solidFill>
                  <a:schemeClr val="accent4"/>
                </a:solidFill>
              </a:rPr>
              <a:t>So the PRE survey doesn't teach the answers</a:t>
            </a:r>
            <a:endParaRPr lang="en-US" sz="1300" dirty="0"/>
          </a:p>
        </p:txBody>
      </p:sp>
      <p:sp>
        <p:nvSpPr>
          <p:cNvPr id="24" name="Text 17"/>
          <p:cNvSpPr txBox="1"/>
          <p:nvPr/>
        </p:nvSpPr>
        <p:spPr>
          <a:xfrm>
            <a:off x="5074920" y="1325880"/>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Accessibility</a:t>
            </a:r>
            <a:endParaRPr lang="en-US" sz="1800" dirty="0"/>
          </a:p>
        </p:txBody>
      </p:sp>
      <p:sp>
        <p:nvSpPr>
          <p:cNvPr id="25" name="icon-bg-check"/>
          <p:cNvSpPr/>
          <p:nvPr/>
        </p:nvSpPr>
        <p:spPr>
          <a:xfrm>
            <a:off x="5074920" y="1810512"/>
            <a:ext cx="457200" cy="457200"/>
          </a:xfrm>
          <a:prstGeom prst="ellipse">
            <a:avLst/>
          </a:prstGeom>
          <a:solidFill>
            <a:schemeClr val="accent5"/>
          </a:solidFill>
          <a:ln/>
        </p:spPr>
      </p:sp>
      <p:pic>
        <p:nvPicPr>
          <p:cNvPr id="26" name="icon-check" descr="preencoded.png">    </p:cNvPr>
          <p:cNvPicPr>
            <a:picLocks noChangeAspect="1"/>
          </p:cNvPicPr>
          <p:nvPr/>
        </p:nvPicPr>
        <p:blipFill>
          <a:blip r:embed="rId6"/>
          <a:stretch>
            <a:fillRect/>
          </a:stretch>
        </p:blipFill>
        <p:spPr>
          <a:xfrm>
            <a:off x="5175504" y="1911096"/>
            <a:ext cx="256032" cy="256032"/>
          </a:xfrm>
          <a:prstGeom prst="rect">
            <a:avLst/>
          </a:prstGeom>
        </p:spPr>
      </p:pic>
      <p:sp>
        <p:nvSpPr>
          <p:cNvPr id="27" name="Text 19"/>
          <p:cNvSpPr txBox="1"/>
          <p:nvPr/>
        </p:nvSpPr>
        <p:spPr>
          <a:xfrm>
            <a:off x="5715000" y="1773936"/>
            <a:ext cx="3108960" cy="320040"/>
          </a:xfrm>
          <a:prstGeom prst="rect">
            <a:avLst/>
          </a:prstGeom>
          <a:noFill/>
          <a:ln/>
        </p:spPr>
        <p:txBody>
          <a:bodyPr wrap="square" lIns="0" tIns="0" rIns="0" bIns="0" rtlCol="0" anchor="t"/>
          <a:lstStyle/>
          <a:p>
            <a:pPr indent="0" marL="0">
              <a:buNone/>
            </a:pPr>
            <a:r>
              <a:rPr lang="en-US" sz="1500" b="1" dirty="0">
                <a:solidFill>
                  <a:schemeClr val="bg1"/>
                </a:solidFill>
              </a:rPr>
              <a:t>Keyboard and screen reader</a:t>
            </a:r>
            <a:endParaRPr lang="en-US" sz="1500" dirty="0"/>
          </a:p>
        </p:txBody>
      </p:sp>
      <p:sp>
        <p:nvSpPr>
          <p:cNvPr id="28" name="Text 20"/>
          <p:cNvSpPr txBox="1"/>
          <p:nvPr/>
        </p:nvSpPr>
        <p:spPr>
          <a:xfrm>
            <a:off x="5715000" y="2093976"/>
            <a:ext cx="3108960" cy="502920"/>
          </a:xfrm>
          <a:prstGeom prst="rect">
            <a:avLst/>
          </a:prstGeom>
          <a:noFill/>
          <a:ln/>
        </p:spPr>
        <p:txBody>
          <a:bodyPr wrap="square" lIns="0" tIns="0" rIns="0" bIns="0" rtlCol="0" anchor="t"/>
          <a:lstStyle/>
          <a:p>
            <a:pPr indent="0" marL="0">
              <a:buNone/>
            </a:pPr>
            <a:r>
              <a:rPr lang="en-US" sz="1300" dirty="0">
                <a:solidFill>
                  <a:schemeClr val="accent4"/>
                </a:solidFill>
              </a:rPr>
              <a:t>Every control reachable and labelled</a:t>
            </a:r>
            <a:endParaRPr lang="en-US" sz="1300" dirty="0"/>
          </a:p>
        </p:txBody>
      </p:sp>
      <p:sp>
        <p:nvSpPr>
          <p:cNvPr id="29" name="icon-bg-check"/>
          <p:cNvSpPr/>
          <p:nvPr/>
        </p:nvSpPr>
        <p:spPr>
          <a:xfrm>
            <a:off x="5074920" y="2889504"/>
            <a:ext cx="457200" cy="457200"/>
          </a:xfrm>
          <a:prstGeom prst="ellipse">
            <a:avLst/>
          </a:prstGeom>
          <a:solidFill>
            <a:schemeClr val="accent5"/>
          </a:solidFill>
          <a:ln/>
        </p:spPr>
      </p:sp>
      <p:pic>
        <p:nvPicPr>
          <p:cNvPr id="30" name="icon-check" descr="preencoded.png">    </p:cNvPr>
          <p:cNvPicPr>
            <a:picLocks noChangeAspect="1"/>
          </p:cNvPicPr>
          <p:nvPr/>
        </p:nvPicPr>
        <p:blipFill>
          <a:blip r:embed="rId7"/>
          <a:stretch>
            <a:fillRect/>
          </a:stretch>
        </p:blipFill>
        <p:spPr>
          <a:xfrm>
            <a:off x="5175504" y="2990088"/>
            <a:ext cx="256032" cy="256032"/>
          </a:xfrm>
          <a:prstGeom prst="rect">
            <a:avLst/>
          </a:prstGeom>
        </p:spPr>
      </p:pic>
      <p:sp>
        <p:nvSpPr>
          <p:cNvPr id="31" name="Text 22"/>
          <p:cNvSpPr txBox="1"/>
          <p:nvPr/>
        </p:nvSpPr>
        <p:spPr>
          <a:xfrm>
            <a:off x="5715000" y="2852928"/>
            <a:ext cx="3108960" cy="320040"/>
          </a:xfrm>
          <a:prstGeom prst="rect">
            <a:avLst/>
          </a:prstGeom>
          <a:noFill/>
          <a:ln/>
        </p:spPr>
        <p:txBody>
          <a:bodyPr wrap="square" lIns="0" tIns="0" rIns="0" bIns="0" rtlCol="0" anchor="t"/>
          <a:lstStyle/>
          <a:p>
            <a:pPr indent="0" marL="0">
              <a:buNone/>
            </a:pPr>
            <a:r>
              <a:rPr lang="en-US" sz="1500" b="1" dirty="0">
                <a:solidFill>
                  <a:schemeClr val="bg1"/>
                </a:solidFill>
              </a:rPr>
              <a:t>High contrast</a:t>
            </a:r>
            <a:endParaRPr lang="en-US" sz="1500" dirty="0"/>
          </a:p>
        </p:txBody>
      </p:sp>
      <p:sp>
        <p:nvSpPr>
          <p:cNvPr id="32" name="Text 23"/>
          <p:cNvSpPr txBox="1"/>
          <p:nvPr/>
        </p:nvSpPr>
        <p:spPr>
          <a:xfrm>
            <a:off x="5715000" y="3172968"/>
            <a:ext cx="3108960" cy="502920"/>
          </a:xfrm>
          <a:prstGeom prst="rect">
            <a:avLst/>
          </a:prstGeom>
          <a:noFill/>
          <a:ln/>
        </p:spPr>
        <p:txBody>
          <a:bodyPr wrap="square" lIns="0" tIns="0" rIns="0" bIns="0" rtlCol="0" anchor="t"/>
          <a:lstStyle/>
          <a:p>
            <a:pPr indent="0" marL="0">
              <a:buNone/>
            </a:pPr>
            <a:r>
              <a:rPr lang="en-US" sz="1300" dirty="0">
                <a:solidFill>
                  <a:schemeClr val="accent4"/>
                </a:solidFill>
              </a:rPr>
              <a:t>WCAG AA colours, light and dark mode</a:t>
            </a:r>
            <a:endParaRPr lang="en-US" sz="1300" dirty="0"/>
          </a:p>
        </p:txBody>
      </p:sp>
      <p:sp>
        <p:nvSpPr>
          <p:cNvPr id="33" name="icon-bg-check"/>
          <p:cNvSpPr/>
          <p:nvPr/>
        </p:nvSpPr>
        <p:spPr>
          <a:xfrm>
            <a:off x="5074920" y="3968496"/>
            <a:ext cx="457200" cy="457200"/>
          </a:xfrm>
          <a:prstGeom prst="ellipse">
            <a:avLst/>
          </a:prstGeom>
          <a:solidFill>
            <a:schemeClr val="accent5"/>
          </a:solidFill>
          <a:ln/>
        </p:spPr>
      </p:sp>
      <p:pic>
        <p:nvPicPr>
          <p:cNvPr id="34" name="icon-check" descr="preencoded.png">    </p:cNvPr>
          <p:cNvPicPr>
            <a:picLocks noChangeAspect="1"/>
          </p:cNvPicPr>
          <p:nvPr/>
        </p:nvPicPr>
        <p:blipFill>
          <a:blip r:embed="rId8"/>
          <a:stretch>
            <a:fillRect/>
          </a:stretch>
        </p:blipFill>
        <p:spPr>
          <a:xfrm>
            <a:off x="5175504" y="4069080"/>
            <a:ext cx="256032" cy="256032"/>
          </a:xfrm>
          <a:prstGeom prst="rect">
            <a:avLst/>
          </a:prstGeom>
        </p:spPr>
      </p:pic>
      <p:sp>
        <p:nvSpPr>
          <p:cNvPr id="35" name="Text 25"/>
          <p:cNvSpPr txBox="1"/>
          <p:nvPr/>
        </p:nvSpPr>
        <p:spPr>
          <a:xfrm>
            <a:off x="5715000" y="3931920"/>
            <a:ext cx="3108960" cy="320040"/>
          </a:xfrm>
          <a:prstGeom prst="rect">
            <a:avLst/>
          </a:prstGeom>
          <a:noFill/>
          <a:ln/>
        </p:spPr>
        <p:txBody>
          <a:bodyPr wrap="square" lIns="0" tIns="0" rIns="0" bIns="0" rtlCol="0" anchor="t"/>
          <a:lstStyle/>
          <a:p>
            <a:pPr indent="0" marL="0">
              <a:buNone/>
            </a:pPr>
            <a:r>
              <a:rPr lang="en-US" sz="1500" b="1" dirty="0">
                <a:solidFill>
                  <a:schemeClr val="bg1"/>
                </a:solidFill>
              </a:rPr>
              <a:t>Mobile-first</a:t>
            </a:r>
            <a:endParaRPr lang="en-US" sz="1500" dirty="0"/>
          </a:p>
        </p:txBody>
      </p:sp>
      <p:sp>
        <p:nvSpPr>
          <p:cNvPr id="36" name="Text 26"/>
          <p:cNvSpPr txBox="1"/>
          <p:nvPr/>
        </p:nvSpPr>
        <p:spPr>
          <a:xfrm>
            <a:off x="5715000" y="4251960"/>
            <a:ext cx="3108960" cy="502920"/>
          </a:xfrm>
          <a:prstGeom prst="rect">
            <a:avLst/>
          </a:prstGeom>
          <a:noFill/>
          <a:ln/>
        </p:spPr>
        <p:txBody>
          <a:bodyPr wrap="square" lIns="0" tIns="0" rIns="0" bIns="0" rtlCol="0" anchor="t"/>
          <a:lstStyle/>
          <a:p>
            <a:pPr indent="0" marL="0">
              <a:buNone/>
            </a:pPr>
            <a:r>
              <a:rPr lang="en-US" sz="1300" dirty="0">
                <a:solidFill>
                  <a:schemeClr val="accent4"/>
                </a:solidFill>
              </a:rPr>
              <a:t>Large touch targets for most students on phones</a:t>
            </a:r>
            <a:endParaRPr lang="en-US" sz="1300" dirty="0"/>
          </a:p>
        </p:txBody>
      </p:sp>
      <p:sp>
        <p:nvSpPr>
          <p:cNvPr id="37" name="icon-bg-check"/>
          <p:cNvSpPr/>
          <p:nvPr/>
        </p:nvSpPr>
        <p:spPr>
          <a:xfrm>
            <a:off x="5074920" y="5047488"/>
            <a:ext cx="457200" cy="457200"/>
          </a:xfrm>
          <a:prstGeom prst="ellipse">
            <a:avLst/>
          </a:prstGeom>
          <a:solidFill>
            <a:schemeClr val="accent5"/>
          </a:solidFill>
          <a:ln/>
        </p:spPr>
      </p:sp>
      <p:pic>
        <p:nvPicPr>
          <p:cNvPr id="38" name="icon-check" descr="preencoded.png">    </p:cNvPr>
          <p:cNvPicPr>
            <a:picLocks noChangeAspect="1"/>
          </p:cNvPicPr>
          <p:nvPr/>
        </p:nvPicPr>
        <p:blipFill>
          <a:blip r:embed="rId9"/>
          <a:stretch>
            <a:fillRect/>
          </a:stretch>
        </p:blipFill>
        <p:spPr>
          <a:xfrm>
            <a:off x="5175504" y="5148072"/>
            <a:ext cx="256032" cy="256032"/>
          </a:xfrm>
          <a:prstGeom prst="rect">
            <a:avLst/>
          </a:prstGeom>
        </p:spPr>
      </p:pic>
      <p:sp>
        <p:nvSpPr>
          <p:cNvPr id="39" name="Text 28"/>
          <p:cNvSpPr txBox="1"/>
          <p:nvPr/>
        </p:nvSpPr>
        <p:spPr>
          <a:xfrm>
            <a:off x="5715000" y="5010912"/>
            <a:ext cx="3108960" cy="320040"/>
          </a:xfrm>
          <a:prstGeom prst="rect">
            <a:avLst/>
          </a:prstGeom>
          <a:noFill/>
          <a:ln/>
        </p:spPr>
        <p:txBody>
          <a:bodyPr wrap="square" lIns="0" tIns="0" rIns="0" bIns="0" rtlCol="0" anchor="t"/>
          <a:lstStyle/>
          <a:p>
            <a:pPr indent="0" marL="0">
              <a:buNone/>
            </a:pPr>
            <a:r>
              <a:rPr lang="en-US" sz="1500" b="1" dirty="0">
                <a:solidFill>
                  <a:schemeClr val="bg1"/>
                </a:solidFill>
              </a:rPr>
              <a:t>Reduced motion and plain words</a:t>
            </a:r>
            <a:endParaRPr lang="en-US" sz="1500" dirty="0"/>
          </a:p>
        </p:txBody>
      </p:sp>
      <p:sp>
        <p:nvSpPr>
          <p:cNvPr id="40" name="Text 29"/>
          <p:cNvSpPr txBox="1"/>
          <p:nvPr/>
        </p:nvSpPr>
        <p:spPr>
          <a:xfrm>
            <a:off x="5715000" y="5330952"/>
            <a:ext cx="3108960" cy="502920"/>
          </a:xfrm>
          <a:prstGeom prst="rect">
            <a:avLst/>
          </a:prstGeom>
          <a:noFill/>
          <a:ln/>
        </p:spPr>
        <p:txBody>
          <a:bodyPr wrap="square" lIns="0" tIns="0" rIns="0" bIns="0" rtlCol="0" anchor="t"/>
          <a:lstStyle/>
          <a:p>
            <a:pPr indent="0" marL="0">
              <a:buNone/>
            </a:pPr>
            <a:r>
              <a:rPr lang="en-US" sz="1300" dirty="0">
                <a:solidFill>
                  <a:schemeClr val="accent4"/>
                </a:solidFill>
              </a:rPr>
              <a:t>Animations can be turned off; short sentences</a:t>
            </a:r>
            <a:endParaRPr lang="en-US" sz="1300" dirty="0"/>
          </a:p>
        </p:txBody>
      </p:sp>
      <p:sp>
        <p:nvSpPr>
          <p:cNvPr id="41" name="image-frame"/>
          <p:cNvSpPr/>
          <p:nvPr/>
        </p:nvSpPr>
        <p:spPr>
          <a:xfrm>
            <a:off x="9244241" y="1252728"/>
            <a:ext cx="2405559" cy="5038344"/>
          </a:xfrm>
          <a:prstGeom prst="roundRect">
            <a:avLst>
              <a:gd name="adj" fmla="val 3801"/>
            </a:avLst>
          </a:prstGeom>
          <a:solidFill>
            <a:schemeClr val="accent5"/>
          </a:solidFill>
          <a:ln/>
          <a:effectLst>
            <a:outerShdw sx="100000" sy="100000" kx="0" ky="0" algn="bl" rotWithShape="0" blurRad="152400" dist="50800" dir="5400000">
              <a:srgbClr val="000000">
                <a:alpha val="45000"/>
              </a:srgbClr>
            </a:outerShdw>
          </a:effectLst>
        </p:spPr>
      </p:sp>
      <p:pic>
        <p:nvPicPr>
          <p:cNvPr id="42" name="image" descr="HumanFactor consent screen on a phone, with checkboxes for consent and age confirmation.">    </p:cNvPr>
          <p:cNvPicPr>
            <a:picLocks noChangeAspect="1"/>
          </p:cNvPicPr>
          <p:nvPr/>
        </p:nvPicPr>
        <p:blipFill>
          <a:blip r:embed="rId10"/>
          <a:stretch>
            <a:fillRect/>
          </a:stretch>
        </p:blipFill>
        <p:spPr>
          <a:xfrm>
            <a:off x="9317393" y="1325880"/>
            <a:ext cx="2259255" cy="489204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HumanFactor: survey and live dashboard</a:t>
            </a:r>
            <a:endParaRPr lang="en-US" sz="3400" dirty="0"/>
          </a:p>
        </p:txBody>
      </p:sp>
      <p:sp>
        <p:nvSpPr>
          <p:cNvPr id="3" name="image-frame"/>
          <p:cNvSpPr/>
          <p:nvPr/>
        </p:nvSpPr>
        <p:spPr>
          <a:xfrm>
            <a:off x="475488" y="1308506"/>
            <a:ext cx="7187184" cy="4652467"/>
          </a:xfrm>
          <a:prstGeom prst="roundRect">
            <a:avLst>
              <a:gd name="adj" fmla="val 1965"/>
            </a:avLst>
          </a:prstGeom>
          <a:solidFill>
            <a:schemeClr val="accent5"/>
          </a:solidFill>
          <a:ln/>
          <a:effectLst>
            <a:outerShdw sx="100000" sy="100000" kx="0" ky="0" algn="bl" rotWithShape="0" blurRad="152400" dist="50800" dir="5400000">
              <a:srgbClr val="000000">
                <a:alpha val="45000"/>
              </a:srgbClr>
            </a:outerShdw>
          </a:effectLst>
        </p:spPr>
      </p:sp>
      <p:pic>
        <p:nvPicPr>
          <p:cNvPr id="4" name="image" descr="HumanFactor analytics dashboard overview with response counts, completion rates and score summary.">    </p:cNvPr>
          <p:cNvPicPr>
            <a:picLocks noChangeAspect="1"/>
          </p:cNvPicPr>
          <p:nvPr/>
        </p:nvPicPr>
        <p:blipFill>
          <a:blip r:embed="rId1"/>
          <a:stretch>
            <a:fillRect/>
          </a:stretch>
        </p:blipFill>
        <p:spPr>
          <a:xfrm>
            <a:off x="548640" y="1381658"/>
            <a:ext cx="7040880" cy="4506163"/>
          </a:xfrm>
          <a:prstGeom prst="rect">
            <a:avLst/>
          </a:prstGeom>
        </p:spPr>
      </p:pic>
      <p:sp>
        <p:nvSpPr>
          <p:cNvPr id="5" name="card"/>
          <p:cNvSpPr/>
          <p:nvPr/>
        </p:nvSpPr>
        <p:spPr>
          <a:xfrm>
            <a:off x="8092440" y="1371600"/>
            <a:ext cx="3547872" cy="1325880"/>
          </a:xfrm>
          <a:prstGeom prst="roundRect">
            <a:avLst>
              <a:gd name="adj" fmla="val 8276"/>
            </a:avLst>
          </a:prstGeom>
          <a:solidFill>
            <a:schemeClr val="tx2"/>
          </a:solidFill>
          <a:ln/>
        </p:spPr>
      </p:sp>
      <p:sp>
        <p:nvSpPr>
          <p:cNvPr id="6" name="Text 3"/>
          <p:cNvSpPr txBox="1"/>
          <p:nvPr/>
        </p:nvSpPr>
        <p:spPr>
          <a:xfrm>
            <a:off x="8321040" y="1481328"/>
            <a:ext cx="3108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63</a:t>
            </a:r>
            <a:endParaRPr lang="en-US" sz="3000" dirty="0"/>
          </a:p>
        </p:txBody>
      </p:sp>
      <p:sp>
        <p:nvSpPr>
          <p:cNvPr id="7" name="Text 4"/>
          <p:cNvSpPr txBox="1"/>
          <p:nvPr/>
        </p:nvSpPr>
        <p:spPr>
          <a:xfrm>
            <a:off x="8321040" y="2029968"/>
            <a:ext cx="3108960" cy="292608"/>
          </a:xfrm>
          <a:prstGeom prst="rect">
            <a:avLst/>
          </a:prstGeom>
          <a:noFill/>
          <a:ln/>
        </p:spPr>
        <p:txBody>
          <a:bodyPr wrap="square" lIns="0" tIns="0" rIns="0" bIns="0" rtlCol="0" anchor="t"/>
          <a:lstStyle/>
          <a:p>
            <a:pPr indent="0" marL="0">
              <a:buNone/>
            </a:pPr>
            <a:r>
              <a:rPr lang="en-US" sz="1400" b="1" dirty="0">
                <a:solidFill>
                  <a:schemeClr val="bg1"/>
                </a:solidFill>
              </a:rPr>
              <a:t>automated tests pass</a:t>
            </a:r>
            <a:endParaRPr lang="en-US" sz="1400" dirty="0"/>
          </a:p>
        </p:txBody>
      </p:sp>
      <p:sp>
        <p:nvSpPr>
          <p:cNvPr id="8" name="Text 5"/>
          <p:cNvSpPr txBox="1"/>
          <p:nvPr/>
        </p:nvSpPr>
        <p:spPr>
          <a:xfrm>
            <a:off x="8321040" y="2313432"/>
            <a:ext cx="3200400" cy="320040"/>
          </a:xfrm>
          <a:prstGeom prst="rect">
            <a:avLst/>
          </a:prstGeom>
          <a:noFill/>
          <a:ln/>
        </p:spPr>
        <p:txBody>
          <a:bodyPr wrap="square" lIns="0" tIns="0" rIns="0" bIns="0" rtlCol="0" anchor="t"/>
          <a:lstStyle/>
          <a:p>
            <a:pPr indent="0" marL="0">
              <a:buNone/>
            </a:pPr>
            <a:r>
              <a:rPr lang="en-US" sz="1200" dirty="0">
                <a:solidFill>
                  <a:schemeClr val="accent4"/>
                </a:solidFill>
              </a:rPr>
              <a:t>Scoring, statistics, code matching, API</a:t>
            </a:r>
            <a:endParaRPr lang="en-US" sz="1200" dirty="0"/>
          </a:p>
        </p:txBody>
      </p:sp>
      <p:sp>
        <p:nvSpPr>
          <p:cNvPr id="9" name="card"/>
          <p:cNvSpPr/>
          <p:nvPr/>
        </p:nvSpPr>
        <p:spPr>
          <a:xfrm>
            <a:off x="8092440" y="2880360"/>
            <a:ext cx="3547872" cy="1325880"/>
          </a:xfrm>
          <a:prstGeom prst="roundRect">
            <a:avLst>
              <a:gd name="adj" fmla="val 8276"/>
            </a:avLst>
          </a:prstGeom>
          <a:solidFill>
            <a:schemeClr val="tx2"/>
          </a:solidFill>
          <a:ln/>
        </p:spPr>
      </p:sp>
      <p:sp>
        <p:nvSpPr>
          <p:cNvPr id="10" name="Text 7"/>
          <p:cNvSpPr txBox="1"/>
          <p:nvPr/>
        </p:nvSpPr>
        <p:spPr>
          <a:xfrm>
            <a:off x="8321040" y="2990088"/>
            <a:ext cx="3108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184/184</a:t>
            </a:r>
            <a:endParaRPr lang="en-US" sz="3000" dirty="0"/>
          </a:p>
        </p:txBody>
      </p:sp>
      <p:sp>
        <p:nvSpPr>
          <p:cNvPr id="11" name="Text 8"/>
          <p:cNvSpPr txBox="1"/>
          <p:nvPr/>
        </p:nvSpPr>
        <p:spPr>
          <a:xfrm>
            <a:off x="8321040" y="3538728"/>
            <a:ext cx="3108960" cy="292608"/>
          </a:xfrm>
          <a:prstGeom prst="rect">
            <a:avLst/>
          </a:prstGeom>
          <a:noFill/>
          <a:ln/>
        </p:spPr>
        <p:txBody>
          <a:bodyPr wrap="square" lIns="0" tIns="0" rIns="0" bIns="0" rtlCol="0" anchor="t"/>
          <a:lstStyle/>
          <a:p>
            <a:pPr indent="0" marL="0">
              <a:buNone/>
            </a:pPr>
            <a:r>
              <a:rPr lang="en-US" sz="1400" b="1" dirty="0">
                <a:solidFill>
                  <a:schemeClr val="bg1"/>
                </a:solidFill>
              </a:rPr>
              <a:t>dashboard figures re-verified</a:t>
            </a:r>
            <a:endParaRPr lang="en-US" sz="1400" dirty="0"/>
          </a:p>
        </p:txBody>
      </p:sp>
      <p:sp>
        <p:nvSpPr>
          <p:cNvPr id="12" name="Text 9"/>
          <p:cNvSpPr txBox="1"/>
          <p:nvPr/>
        </p:nvSpPr>
        <p:spPr>
          <a:xfrm>
            <a:off x="8321040" y="3822192"/>
            <a:ext cx="3200400" cy="320040"/>
          </a:xfrm>
          <a:prstGeom prst="rect">
            <a:avLst/>
          </a:prstGeom>
          <a:noFill/>
          <a:ln/>
        </p:spPr>
        <p:txBody>
          <a:bodyPr wrap="square" lIns="0" tIns="0" rIns="0" bIns="0" rtlCol="0" anchor="t"/>
          <a:lstStyle/>
          <a:p>
            <a:pPr indent="0" marL="0">
              <a:buNone/>
            </a:pPr>
            <a:r>
              <a:rPr lang="en-US" sz="1200" dirty="0">
                <a:solidFill>
                  <a:schemeClr val="accent4"/>
                </a:solidFill>
              </a:rPr>
              <a:t>Independently recomputed from raw data</a:t>
            </a:r>
            <a:endParaRPr lang="en-US" sz="1200" dirty="0"/>
          </a:p>
        </p:txBody>
      </p:sp>
      <p:sp>
        <p:nvSpPr>
          <p:cNvPr id="13" name="card"/>
          <p:cNvSpPr/>
          <p:nvPr/>
        </p:nvSpPr>
        <p:spPr>
          <a:xfrm>
            <a:off x="8092440" y="4389120"/>
            <a:ext cx="3547872" cy="1325880"/>
          </a:xfrm>
          <a:prstGeom prst="roundRect">
            <a:avLst>
              <a:gd name="adj" fmla="val 8276"/>
            </a:avLst>
          </a:prstGeom>
          <a:solidFill>
            <a:schemeClr val="tx2"/>
          </a:solidFill>
          <a:ln/>
        </p:spPr>
      </p:sp>
      <p:sp>
        <p:nvSpPr>
          <p:cNvPr id="14" name="Text 11"/>
          <p:cNvSpPr txBox="1"/>
          <p:nvPr/>
        </p:nvSpPr>
        <p:spPr>
          <a:xfrm>
            <a:off x="8321040" y="4498848"/>
            <a:ext cx="3108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R</a:t>
            </a:r>
            <a:endParaRPr lang="en-US" sz="3000" dirty="0"/>
          </a:p>
        </p:txBody>
      </p:sp>
      <p:sp>
        <p:nvSpPr>
          <p:cNvPr id="15" name="Text 12"/>
          <p:cNvSpPr txBox="1"/>
          <p:nvPr/>
        </p:nvSpPr>
        <p:spPr>
          <a:xfrm>
            <a:off x="8321040" y="5047488"/>
            <a:ext cx="3108960" cy="292608"/>
          </a:xfrm>
          <a:prstGeom prst="rect">
            <a:avLst/>
          </a:prstGeom>
          <a:noFill/>
          <a:ln/>
        </p:spPr>
        <p:txBody>
          <a:bodyPr wrap="square" lIns="0" tIns="0" rIns="0" bIns="0" rtlCol="0" anchor="t"/>
          <a:lstStyle/>
          <a:p>
            <a:pPr indent="0" marL="0">
              <a:buNone/>
            </a:pPr>
            <a:r>
              <a:rPr lang="en-US" sz="1400" b="1" dirty="0">
                <a:solidFill>
                  <a:schemeClr val="bg1"/>
                </a:solidFill>
              </a:rPr>
              <a:t>used to check the statistics</a:t>
            </a:r>
            <a:endParaRPr lang="en-US" sz="1400" dirty="0"/>
          </a:p>
        </p:txBody>
      </p:sp>
      <p:sp>
        <p:nvSpPr>
          <p:cNvPr id="16" name="Text 13"/>
          <p:cNvSpPr txBox="1"/>
          <p:nvPr/>
        </p:nvSpPr>
        <p:spPr>
          <a:xfrm>
            <a:off x="8321040" y="5330952"/>
            <a:ext cx="3200400" cy="320040"/>
          </a:xfrm>
          <a:prstGeom prst="rect">
            <a:avLst/>
          </a:prstGeom>
          <a:noFill/>
          <a:ln/>
        </p:spPr>
        <p:txBody>
          <a:bodyPr wrap="square" lIns="0" tIns="0" rIns="0" bIns="0" rtlCol="0" anchor="t"/>
          <a:lstStyle/>
          <a:p>
            <a:pPr indent="0" marL="0">
              <a:buNone/>
            </a:pPr>
            <a:r>
              <a:rPr lang="en-US" sz="1200" dirty="0">
                <a:solidFill>
                  <a:schemeClr val="accent4"/>
                </a:solidFill>
              </a:rPr>
              <a:t>t-test, Wilcoxon, confidence intervals</a:t>
            </a:r>
            <a:endParaRPr lang="en-US" sz="1200" dirty="0"/>
          </a:p>
        </p:txBody>
      </p:sp>
      <p:sp>
        <p:nvSpPr>
          <p:cNvPr id="17" name="Text 14">
            <a:hlinkClick r:id="rId2" tooltip=""/>
          </p:cNvPr>
          <p:cNvSpPr txBox="1"/>
          <p:nvPr/>
        </p:nvSpPr>
        <p:spPr>
          <a:xfrm>
            <a:off x="8092440" y="5943600"/>
            <a:ext cx="3547872" cy="320040"/>
          </a:xfrm>
          <a:prstGeom prst="rect">
            <a:avLst/>
          </a:prstGeom>
          <a:noFill/>
          <a:ln/>
        </p:spPr>
        <p:txBody>
          <a:bodyPr wrap="square" lIns="0" tIns="0" rIns="0" bIns="0" rtlCol="0" anchor="t"/>
          <a:lstStyle/>
          <a:p>
            <a:pPr indent="0" marL="0">
              <a:buNone/>
            </a:pPr>
            <a:r>
              <a:rPr lang="en-US" sz="13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github.com/sokhiaryan/HumanFactor</a:t>
            </a:r>
            <a:endParaRPr lang="en-US" sz="1300" dirty="0"/>
          </a:p>
        </p:txBody>
      </p:sp>
      <p:sp>
        <p:nvSpPr>
          <p:cNvPr id="18" name="Text 15"/>
          <p:cNvSpPr txBox="1"/>
          <p:nvPr/>
        </p:nvSpPr>
        <p:spPr>
          <a:xfrm>
            <a:off x="548640" y="6053328"/>
            <a:ext cx="7040880" cy="274320"/>
          </a:xfrm>
          <a:prstGeom prst="rect">
            <a:avLst/>
          </a:prstGeom>
          <a:noFill/>
          <a:ln/>
        </p:spPr>
        <p:txBody>
          <a:bodyPr wrap="square" lIns="0" tIns="0" rIns="0" bIns="0" rtlCol="0" anchor="t"/>
          <a:lstStyle/>
          <a:p>
            <a:pPr indent="0" marL="0">
              <a:buNone/>
            </a:pPr>
            <a:r>
              <a:rPr lang="en-US" sz="1200" dirty="0">
                <a:solidFill>
                  <a:schemeClr val="accent4"/>
                </a:solidFill>
              </a:rPr>
              <a:t>Exports: response CSV, item summary, codebook, report summary</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Scores rose after the campaign</a:t>
            </a:r>
            <a:endParaRPr lang="en-US" sz="3400" dirty="0"/>
          </a:p>
        </p:txBody>
      </p:sp>
      <p:sp>
        <p:nvSpPr>
          <p:cNvPr id="3" name="sticky"/>
          <p:cNvSpPr txBox="1"/>
          <p:nvPr/>
        </p:nvSpPr>
        <p:spPr>
          <a:xfrm rot="90000">
            <a:off x="7452360" y="457200"/>
            <a:ext cx="4206240" cy="45720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200" b="1" dirty="0">
                <a:solidFill>
                  <a:schemeClr val="tx1"/>
                </a:solidFill>
              </a:rPr>
              <a:t>Demonstration of our analysis pipeline · live results to follow</a:t>
            </a:r>
            <a:endParaRPr lang="en-US" sz="1200" dirty="0"/>
          </a:p>
        </p:txBody>
      </p:sp>
      <p:sp>
        <p:nvSpPr>
          <p:cNvPr id="4" name="Text 2"/>
          <p:cNvSpPr txBox="1"/>
          <p:nvPr/>
        </p:nvSpPr>
        <p:spPr>
          <a:xfrm>
            <a:off x="548640" y="1325880"/>
            <a:ext cx="3931920" cy="320040"/>
          </a:xfrm>
          <a:prstGeom prst="rect">
            <a:avLst/>
          </a:prstGeom>
          <a:noFill/>
          <a:ln/>
        </p:spPr>
        <p:txBody>
          <a:bodyPr wrap="square" lIns="0" tIns="0" rIns="0" bIns="0" rtlCol="0" anchor="t"/>
          <a:lstStyle/>
          <a:p>
            <a:pPr indent="0" marL="0">
              <a:buNone/>
            </a:pPr>
            <a:r>
              <a:rPr lang="en-US" sz="1300" dirty="0">
                <a:solidFill>
                  <a:schemeClr val="accent4"/>
                </a:solidFill>
              </a:rPr>
              <a:t>Matched participants (n = 42), score out of 10</a:t>
            </a:r>
            <a:endParaRPr lang="en-US" sz="1300" dirty="0"/>
          </a:p>
        </p:txBody>
      </p:sp>
      <p:sp>
        <p:nvSpPr>
          <p:cNvPr id="5" name="Text 3"/>
          <p:cNvSpPr txBox="1"/>
          <p:nvPr/>
        </p:nvSpPr>
        <p:spPr>
          <a:xfrm>
            <a:off x="548640" y="1691640"/>
            <a:ext cx="4023360" cy="91440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6.30</a:t>
            </a:r>
            <a:pPr indent="0" marL="0">
              <a:buNone/>
            </a:pPr>
            <a:r>
              <a:rPr lang="en-US" sz="5400" b="1" dirty="0">
                <a:solidFill>
                  <a:schemeClr val="accent4"/>
                </a:solidFill>
                <a:latin typeface="Arial" pitchFamily="34" charset="0"/>
                <a:ea typeface="Arial" pitchFamily="34" charset="-122"/>
                <a:cs typeface="Arial" pitchFamily="34" charset="-120"/>
              </a:rPr>
              <a:t> → </a:t>
            </a:r>
            <a:pPr indent="0" marL="0">
              <a:buNone/>
            </a:pPr>
            <a:r>
              <a:rPr lang="en-US" sz="5400" b="1" dirty="0">
                <a:solidFill>
                  <a:schemeClr val="accent2"/>
                </a:solidFill>
                <a:latin typeface="Arial" pitchFamily="34" charset="0"/>
                <a:ea typeface="Arial" pitchFamily="34" charset="-122"/>
                <a:cs typeface="Arial" pitchFamily="34" charset="-120"/>
              </a:rPr>
              <a:t>7.48</a:t>
            </a:r>
            <a:endParaRPr lang="en-US" sz="5400" dirty="0"/>
          </a:p>
        </p:txBody>
      </p:sp>
      <p:sp>
        <p:nvSpPr>
          <p:cNvPr id="6" name="Text 4"/>
          <p:cNvSpPr txBox="1"/>
          <p:nvPr/>
        </p:nvSpPr>
        <p:spPr>
          <a:xfrm>
            <a:off x="548640" y="2788920"/>
            <a:ext cx="1508760" cy="457200"/>
          </a:xfrm>
          <a:prstGeom prst="rect">
            <a:avLst/>
          </a:prstGeom>
          <a:noFill/>
          <a:ln/>
        </p:spPr>
        <p:txBody>
          <a:bodyPr wrap="square" lIns="0" tIns="0" rIns="0" bIns="0" rtlCol="0" anchor="t"/>
          <a:lstStyle/>
          <a:p>
            <a:pPr indent="0" marL="0">
              <a:buNone/>
            </a:pPr>
            <a:r>
              <a:rPr lang="en-US" sz="2200" b="1" dirty="0">
                <a:solidFill>
                  <a:schemeClr val="bg2"/>
                </a:solidFill>
                <a:latin typeface="Arial" pitchFamily="34" charset="0"/>
                <a:ea typeface="Arial" pitchFamily="34" charset="-122"/>
                <a:cs typeface="Arial" pitchFamily="34" charset="-120"/>
              </a:rPr>
              <a:t>+1.18</a:t>
            </a:r>
            <a:endParaRPr lang="en-US" sz="2200" dirty="0"/>
          </a:p>
        </p:txBody>
      </p:sp>
      <p:sp>
        <p:nvSpPr>
          <p:cNvPr id="7" name="Text 5"/>
          <p:cNvSpPr txBox="1"/>
          <p:nvPr/>
        </p:nvSpPr>
        <p:spPr>
          <a:xfrm>
            <a:off x="2103120" y="2843784"/>
            <a:ext cx="2468880" cy="548640"/>
          </a:xfrm>
          <a:prstGeom prst="rect">
            <a:avLst/>
          </a:prstGeom>
          <a:noFill/>
          <a:ln/>
        </p:spPr>
        <p:txBody>
          <a:bodyPr wrap="square" lIns="0" tIns="0" rIns="0" bIns="0" rtlCol="0" anchor="t"/>
          <a:lstStyle/>
          <a:p>
            <a:pPr indent="0" marL="0">
              <a:buNone/>
            </a:pPr>
            <a:r>
              <a:rPr lang="en-US" sz="1400" dirty="0">
                <a:solidFill>
                  <a:schemeClr val="accent4"/>
                </a:solidFill>
              </a:rPr>
              <a:t>mean change (95% CI +0.61 to +1.75)</a:t>
            </a:r>
            <a:endParaRPr lang="en-US" sz="1400" dirty="0"/>
          </a:p>
        </p:txBody>
      </p:sp>
      <p:sp>
        <p:nvSpPr>
          <p:cNvPr id="8" name="Text 6"/>
          <p:cNvSpPr txBox="1"/>
          <p:nvPr/>
        </p:nvSpPr>
        <p:spPr>
          <a:xfrm>
            <a:off x="548640" y="3502152"/>
            <a:ext cx="1508760" cy="457200"/>
          </a:xfrm>
          <a:prstGeom prst="rect">
            <a:avLst/>
          </a:prstGeom>
          <a:noFill/>
          <a:ln/>
        </p:spPr>
        <p:txBody>
          <a:bodyPr wrap="square" lIns="0" tIns="0" rIns="0" bIns="0" rtlCol="0" anchor="t"/>
          <a:lstStyle/>
          <a:p>
            <a:pPr indent="0" marL="0">
              <a:buNone/>
            </a:pPr>
            <a:r>
              <a:rPr lang="en-US" sz="2200" b="1" dirty="0">
                <a:solidFill>
                  <a:schemeClr val="bg2"/>
                </a:solidFill>
                <a:latin typeface="Arial" pitchFamily="34" charset="0"/>
                <a:ea typeface="Arial" pitchFamily="34" charset="-122"/>
                <a:cs typeface="Arial" pitchFamily="34" charset="-120"/>
              </a:rPr>
              <a:t>p &lt; .001</a:t>
            </a:r>
            <a:endParaRPr lang="en-US" sz="2200" dirty="0"/>
          </a:p>
        </p:txBody>
      </p:sp>
      <p:sp>
        <p:nvSpPr>
          <p:cNvPr id="9" name="Text 7"/>
          <p:cNvSpPr txBox="1"/>
          <p:nvPr/>
        </p:nvSpPr>
        <p:spPr>
          <a:xfrm>
            <a:off x="2103120" y="3557016"/>
            <a:ext cx="2468880" cy="548640"/>
          </a:xfrm>
          <a:prstGeom prst="rect">
            <a:avLst/>
          </a:prstGeom>
          <a:noFill/>
          <a:ln/>
        </p:spPr>
        <p:txBody>
          <a:bodyPr wrap="square" lIns="0" tIns="0" rIns="0" bIns="0" rtlCol="0" anchor="t"/>
          <a:lstStyle/>
          <a:p>
            <a:pPr indent="0" marL="0">
              <a:buNone/>
            </a:pPr>
            <a:r>
              <a:rPr lang="en-US" sz="1400" dirty="0">
                <a:solidFill>
                  <a:schemeClr val="accent4"/>
                </a:solidFill>
              </a:rPr>
              <a:t>paired t(41) = 4.19; Wilcoxon agrees</a:t>
            </a:r>
            <a:endParaRPr lang="en-US" sz="1400" dirty="0"/>
          </a:p>
        </p:txBody>
      </p:sp>
      <p:sp>
        <p:nvSpPr>
          <p:cNvPr id="10" name="Text 8"/>
          <p:cNvSpPr txBox="1"/>
          <p:nvPr/>
        </p:nvSpPr>
        <p:spPr>
          <a:xfrm>
            <a:off x="548640" y="4215384"/>
            <a:ext cx="1508760" cy="457200"/>
          </a:xfrm>
          <a:prstGeom prst="rect">
            <a:avLst/>
          </a:prstGeom>
          <a:noFill/>
          <a:ln/>
        </p:spPr>
        <p:txBody>
          <a:bodyPr wrap="square" lIns="0" tIns="0" rIns="0" bIns="0" rtlCol="0" anchor="t"/>
          <a:lstStyle/>
          <a:p>
            <a:pPr indent="0" marL="0">
              <a:buNone/>
            </a:pPr>
            <a:r>
              <a:rPr lang="en-US" sz="2200" b="1" dirty="0">
                <a:solidFill>
                  <a:schemeClr val="bg2"/>
                </a:solidFill>
                <a:latin typeface="Arial" pitchFamily="34" charset="0"/>
                <a:ea typeface="Arial" pitchFamily="34" charset="-122"/>
                <a:cs typeface="Arial" pitchFamily="34" charset="-120"/>
              </a:rPr>
              <a:t>d = 0.65</a:t>
            </a:r>
            <a:endParaRPr lang="en-US" sz="2200" dirty="0"/>
          </a:p>
        </p:txBody>
      </p:sp>
      <p:sp>
        <p:nvSpPr>
          <p:cNvPr id="11" name="Text 9"/>
          <p:cNvSpPr txBox="1"/>
          <p:nvPr/>
        </p:nvSpPr>
        <p:spPr>
          <a:xfrm>
            <a:off x="2103120" y="4270248"/>
            <a:ext cx="2468880" cy="548640"/>
          </a:xfrm>
          <a:prstGeom prst="rect">
            <a:avLst/>
          </a:prstGeom>
          <a:noFill/>
          <a:ln/>
        </p:spPr>
        <p:txBody>
          <a:bodyPr wrap="square" lIns="0" tIns="0" rIns="0" bIns="0" rtlCol="0" anchor="t"/>
          <a:lstStyle/>
          <a:p>
            <a:pPr indent="0" marL="0">
              <a:buNone/>
            </a:pPr>
            <a:r>
              <a:rPr lang="en-US" sz="1400" dirty="0">
                <a:solidFill>
                  <a:schemeClr val="accent4"/>
                </a:solidFill>
              </a:rPr>
              <a:t>a moderate effect size</a:t>
            </a:r>
            <a:endParaRPr lang="en-US" sz="1400" dirty="0"/>
          </a:p>
        </p:txBody>
      </p:sp>
      <p:sp>
        <p:nvSpPr>
          <p:cNvPr id="12" name="card"/>
          <p:cNvSpPr/>
          <p:nvPr/>
        </p:nvSpPr>
        <p:spPr>
          <a:xfrm>
            <a:off x="548640" y="4983480"/>
            <a:ext cx="4023360" cy="1143000"/>
          </a:xfrm>
          <a:prstGeom prst="roundRect">
            <a:avLst>
              <a:gd name="adj" fmla="val 9600"/>
            </a:avLst>
          </a:prstGeom>
          <a:solidFill>
            <a:schemeClr val="tx2"/>
          </a:solidFill>
          <a:ln/>
        </p:spPr>
      </p:sp>
      <p:sp>
        <p:nvSpPr>
          <p:cNvPr id="13" name="Text 11"/>
          <p:cNvSpPr txBox="1"/>
          <p:nvPr/>
        </p:nvSpPr>
        <p:spPr>
          <a:xfrm>
            <a:off x="777240" y="5120640"/>
            <a:ext cx="3657600" cy="411480"/>
          </a:xfrm>
          <a:prstGeom prst="rect">
            <a:avLst/>
          </a:prstGeom>
          <a:noFill/>
          <a:ln/>
        </p:spPr>
        <p:txBody>
          <a:bodyPr wrap="square" lIns="0" tIns="0" rIns="0" bIns="0" rtlCol="0" anchor="t"/>
          <a:lstStyle/>
          <a:p>
            <a:pPr indent="0" marL="0">
              <a:buNone/>
            </a:pPr>
            <a:r>
              <a:rPr lang="en-US" sz="1700" b="1" dirty="0">
                <a:solidFill>
                  <a:schemeClr val="accent2"/>
                </a:solidFill>
              </a:rPr>
              <a:t>31</a:t>
            </a:r>
            <a:pPr indent="0" marL="0">
              <a:buNone/>
            </a:pPr>
            <a:r>
              <a:rPr lang="en-US" sz="1700" dirty="0">
                <a:solidFill>
                  <a:schemeClr val="bg1"/>
                </a:solidFill>
              </a:rPr>
              <a:t> improved   </a:t>
            </a:r>
            <a:pPr indent="0" marL="0">
              <a:buNone/>
            </a:pPr>
            <a:r>
              <a:rPr lang="en-US" sz="1700" b="1" dirty="0">
                <a:solidFill>
                  <a:schemeClr val="bg1"/>
                </a:solidFill>
              </a:rPr>
              <a:t>5</a:t>
            </a:r>
            <a:pPr indent="0" marL="0">
              <a:buNone/>
            </a:pPr>
            <a:r>
              <a:rPr lang="en-US" sz="1700" dirty="0">
                <a:solidFill>
                  <a:schemeClr val="bg1"/>
                </a:solidFill>
              </a:rPr>
              <a:t> unchanged   </a:t>
            </a:r>
            <a:pPr indent="0" marL="0">
              <a:buNone/>
            </a:pPr>
            <a:r>
              <a:rPr lang="en-US" sz="1700" b="1" dirty="0">
                <a:solidFill>
                  <a:schemeClr val="accent1"/>
                </a:solidFill>
              </a:rPr>
              <a:t>6</a:t>
            </a:r>
            <a:pPr indent="0" marL="0">
              <a:buNone/>
            </a:pPr>
            <a:r>
              <a:rPr lang="en-US" sz="1700" dirty="0">
                <a:solidFill>
                  <a:schemeClr val="bg1"/>
                </a:solidFill>
              </a:rPr>
              <a:t> declined</a:t>
            </a:r>
            <a:endParaRPr lang="en-US" sz="1700" dirty="0"/>
          </a:p>
        </p:txBody>
      </p:sp>
      <p:sp>
        <p:nvSpPr>
          <p:cNvPr id="14" name="Text 12"/>
          <p:cNvSpPr txBox="1"/>
          <p:nvPr/>
        </p:nvSpPr>
        <p:spPr>
          <a:xfrm>
            <a:off x="777240" y="5532120"/>
            <a:ext cx="3657600" cy="548640"/>
          </a:xfrm>
          <a:prstGeom prst="rect">
            <a:avLst/>
          </a:prstGeom>
          <a:noFill/>
          <a:ln/>
        </p:spPr>
        <p:txBody>
          <a:bodyPr wrap="square" lIns="0" tIns="0" rIns="0" bIns="0" rtlCol="0" anchor="t"/>
          <a:lstStyle/>
          <a:p>
            <a:pPr indent="0" marL="0">
              <a:buNone/>
            </a:pPr>
            <a:r>
              <a:rPr lang="en-US" sz="1200" i="1" dirty="0">
                <a:solidFill>
                  <a:schemeClr val="accent4"/>
                </a:solidFill>
              </a:rPr>
              <a:t>Observed change, not proof of cause: no control group, repeated questions, self-selection.</a:t>
            </a:r>
            <a:endParaRPr lang="en-US" sz="1200" dirty="0"/>
          </a:p>
        </p:txBody>
      </p:sp>
      <p:sp>
        <p:nvSpPr>
          <p:cNvPr id="15" name="Text 13"/>
          <p:cNvSpPr txBox="1"/>
          <p:nvPr/>
        </p:nvSpPr>
        <p:spPr>
          <a:xfrm>
            <a:off x="5029200" y="1280160"/>
            <a:ext cx="3200400" cy="347472"/>
          </a:xfrm>
          <a:prstGeom prst="rect">
            <a:avLst/>
          </a:prstGeom>
          <a:noFill/>
          <a:ln/>
        </p:spPr>
        <p:txBody>
          <a:bodyPr wrap="square" lIns="0" tIns="0" rIns="0" bIns="0" rtlCol="0" anchor="ctr"/>
          <a:lstStyle/>
          <a:p>
            <a:pPr indent="0" marL="0">
              <a:buNone/>
            </a:pPr>
            <a:r>
              <a:rPr lang="en-US" sz="1400" b="1" dirty="0">
                <a:solidFill>
                  <a:schemeClr val="bg1"/>
                </a:solidFill>
              </a:rPr>
              <a:t>% correct per scenario</a:t>
            </a:r>
            <a:endParaRPr lang="en-US" sz="1400" dirty="0"/>
          </a:p>
        </p:txBody>
      </p:sp>
      <p:sp>
        <p:nvSpPr>
          <p:cNvPr id="16" name="legend-key"/>
          <p:cNvSpPr/>
          <p:nvPr/>
        </p:nvSpPr>
        <p:spPr>
          <a:xfrm>
            <a:off x="8778240" y="1353312"/>
            <a:ext cx="201168" cy="201168"/>
          </a:xfrm>
          <a:prstGeom prst="rect">
            <a:avLst/>
          </a:prstGeom>
          <a:solidFill>
            <a:schemeClr val="accent4"/>
          </a:solidFill>
          <a:ln/>
        </p:spPr>
      </p:sp>
      <p:sp>
        <p:nvSpPr>
          <p:cNvPr id="17" name="Text 15"/>
          <p:cNvSpPr txBox="1"/>
          <p:nvPr/>
        </p:nvSpPr>
        <p:spPr>
          <a:xfrm>
            <a:off x="9052560" y="1280160"/>
            <a:ext cx="1737360" cy="347472"/>
          </a:xfrm>
          <a:prstGeom prst="rect">
            <a:avLst/>
          </a:prstGeom>
          <a:noFill/>
          <a:ln/>
        </p:spPr>
        <p:txBody>
          <a:bodyPr wrap="square" lIns="0" tIns="0" rIns="0" bIns="0" rtlCol="0" anchor="ctr"/>
          <a:lstStyle/>
          <a:p>
            <a:pPr indent="0" marL="0">
              <a:buNone/>
            </a:pPr>
            <a:r>
              <a:rPr lang="en-US" sz="1300" dirty="0">
                <a:solidFill>
                  <a:schemeClr val="bg1"/>
                </a:solidFill>
              </a:rPr>
              <a:t>PRE</a:t>
            </a:r>
            <a:endParaRPr lang="en-US" sz="1300" dirty="0"/>
          </a:p>
        </p:txBody>
      </p:sp>
      <p:sp>
        <p:nvSpPr>
          <p:cNvPr id="18" name="legend-key"/>
          <p:cNvSpPr/>
          <p:nvPr/>
        </p:nvSpPr>
        <p:spPr>
          <a:xfrm>
            <a:off x="9665208" y="1353312"/>
            <a:ext cx="201168" cy="201168"/>
          </a:xfrm>
          <a:prstGeom prst="rect">
            <a:avLst/>
          </a:prstGeom>
          <a:solidFill>
            <a:schemeClr val="accent2"/>
          </a:solidFill>
          <a:ln/>
        </p:spPr>
      </p:sp>
      <p:sp>
        <p:nvSpPr>
          <p:cNvPr id="19" name="Text 17"/>
          <p:cNvSpPr txBox="1"/>
          <p:nvPr/>
        </p:nvSpPr>
        <p:spPr>
          <a:xfrm>
            <a:off x="9939528" y="1280160"/>
            <a:ext cx="1737360" cy="347472"/>
          </a:xfrm>
          <a:prstGeom prst="rect">
            <a:avLst/>
          </a:prstGeom>
          <a:noFill/>
          <a:ln/>
        </p:spPr>
        <p:txBody>
          <a:bodyPr wrap="square" lIns="0" tIns="0" rIns="0" bIns="0" rtlCol="0" anchor="ctr"/>
          <a:lstStyle/>
          <a:p>
            <a:pPr indent="0" marL="0">
              <a:buNone/>
            </a:pPr>
            <a:r>
              <a:rPr lang="en-US" sz="1300" dirty="0">
                <a:solidFill>
                  <a:schemeClr val="bg1"/>
                </a:solidFill>
              </a:rPr>
              <a:t>POST</a:t>
            </a:r>
            <a:endParaRPr lang="en-US" sz="1300" dirty="0"/>
          </a:p>
        </p:txBody>
      </p:sp>
      <p:sp>
        <p:nvSpPr>
          <p:cNvPr id="20" name="Text 18"/>
          <p:cNvSpPr txBox="1"/>
          <p:nvPr/>
        </p:nvSpPr>
        <p:spPr>
          <a:xfrm>
            <a:off x="5029200" y="1773936"/>
            <a:ext cx="1554480" cy="457200"/>
          </a:xfrm>
          <a:prstGeom prst="rect">
            <a:avLst/>
          </a:prstGeom>
          <a:noFill/>
          <a:ln/>
        </p:spPr>
        <p:txBody>
          <a:bodyPr wrap="square" lIns="0" tIns="0" rIns="0" bIns="0" rtlCol="0" anchor="ctr"/>
          <a:lstStyle/>
          <a:p>
            <a:pPr indent="0" marL="0">
              <a:buNone/>
            </a:pPr>
            <a:r>
              <a:rPr lang="en-US" sz="1200" dirty="0">
                <a:solidFill>
                  <a:schemeClr val="bg1"/>
                </a:solidFill>
              </a:rPr>
              <a:t>1 Suspension email</a:t>
            </a:r>
            <a:endParaRPr lang="en-US" sz="1200" dirty="0"/>
          </a:p>
        </p:txBody>
      </p:sp>
      <p:sp>
        <p:nvSpPr>
          <p:cNvPr id="21" name="bar-PRE-0"/>
          <p:cNvSpPr/>
          <p:nvPr/>
        </p:nvSpPr>
        <p:spPr>
          <a:xfrm>
            <a:off x="6720840" y="1828800"/>
            <a:ext cx="3237433" cy="155448"/>
          </a:xfrm>
          <a:prstGeom prst="rect">
            <a:avLst/>
          </a:prstGeom>
          <a:solidFill>
            <a:schemeClr val="accent4"/>
          </a:solidFill>
          <a:ln/>
        </p:spPr>
      </p:sp>
      <p:sp>
        <p:nvSpPr>
          <p:cNvPr id="22" name="Text 20"/>
          <p:cNvSpPr txBox="1"/>
          <p:nvPr/>
        </p:nvSpPr>
        <p:spPr>
          <a:xfrm>
            <a:off x="10031425" y="1783080"/>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73%</a:t>
            </a:r>
            <a:endParaRPr lang="en-US" sz="1000" dirty="0"/>
          </a:p>
        </p:txBody>
      </p:sp>
      <p:sp>
        <p:nvSpPr>
          <p:cNvPr id="23" name="bar-POST-0"/>
          <p:cNvSpPr/>
          <p:nvPr/>
        </p:nvSpPr>
        <p:spPr>
          <a:xfrm>
            <a:off x="6720840" y="2020824"/>
            <a:ext cx="3326130" cy="155448"/>
          </a:xfrm>
          <a:prstGeom prst="rect">
            <a:avLst/>
          </a:prstGeom>
          <a:solidFill>
            <a:schemeClr val="accent2"/>
          </a:solidFill>
          <a:ln/>
        </p:spPr>
      </p:sp>
      <p:sp>
        <p:nvSpPr>
          <p:cNvPr id="24" name="Text 22"/>
          <p:cNvSpPr txBox="1"/>
          <p:nvPr/>
        </p:nvSpPr>
        <p:spPr>
          <a:xfrm>
            <a:off x="10120122" y="1975104"/>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75%</a:t>
            </a:r>
            <a:endParaRPr lang="en-US" sz="1000" dirty="0"/>
          </a:p>
        </p:txBody>
      </p:sp>
      <p:sp>
        <p:nvSpPr>
          <p:cNvPr id="25" name="Text 23"/>
          <p:cNvSpPr txBox="1"/>
          <p:nvPr/>
        </p:nvSpPr>
        <p:spPr>
          <a:xfrm>
            <a:off x="5029200" y="2212848"/>
            <a:ext cx="1554480" cy="457200"/>
          </a:xfrm>
          <a:prstGeom prst="rect">
            <a:avLst/>
          </a:prstGeom>
          <a:noFill/>
          <a:ln/>
        </p:spPr>
        <p:txBody>
          <a:bodyPr wrap="square" lIns="0" tIns="0" rIns="0" bIns="0" rtlCol="0" anchor="ctr"/>
          <a:lstStyle/>
          <a:p>
            <a:pPr indent="0" marL="0">
              <a:buNone/>
            </a:pPr>
            <a:r>
              <a:rPr lang="en-US" sz="1200" dirty="0">
                <a:solidFill>
                  <a:schemeClr val="bg1"/>
                </a:solidFill>
              </a:rPr>
              <a:t>2 Reading a URL</a:t>
            </a:r>
            <a:endParaRPr lang="en-US" sz="1200" dirty="0"/>
          </a:p>
        </p:txBody>
      </p:sp>
      <p:sp>
        <p:nvSpPr>
          <p:cNvPr id="26" name="bar-PRE-1"/>
          <p:cNvSpPr/>
          <p:nvPr/>
        </p:nvSpPr>
        <p:spPr>
          <a:xfrm>
            <a:off x="6720840" y="2267712"/>
            <a:ext cx="1862633" cy="155448"/>
          </a:xfrm>
          <a:prstGeom prst="rect">
            <a:avLst/>
          </a:prstGeom>
          <a:solidFill>
            <a:schemeClr val="accent4"/>
          </a:solidFill>
          <a:ln/>
        </p:spPr>
      </p:sp>
      <p:sp>
        <p:nvSpPr>
          <p:cNvPr id="27" name="Text 25"/>
          <p:cNvSpPr txBox="1"/>
          <p:nvPr/>
        </p:nvSpPr>
        <p:spPr>
          <a:xfrm>
            <a:off x="8656625" y="2221992"/>
            <a:ext cx="548640" cy="246888"/>
          </a:xfrm>
          <a:prstGeom prst="rect">
            <a:avLst/>
          </a:prstGeom>
          <a:noFill/>
          <a:ln/>
        </p:spPr>
        <p:txBody>
          <a:bodyPr wrap="square" lIns="0" tIns="0" rIns="0" bIns="0" rtlCol="0" anchor="ctr"/>
          <a:lstStyle/>
          <a:p>
            <a:pPr indent="0" marL="0">
              <a:buNone/>
            </a:pPr>
            <a:r>
              <a:rPr lang="en-US" sz="1000" b="1" dirty="0">
                <a:solidFill>
                  <a:schemeClr val="bg1"/>
                </a:solidFill>
              </a:rPr>
              <a:t>42%</a:t>
            </a:r>
            <a:endParaRPr lang="en-US" sz="1000" dirty="0"/>
          </a:p>
        </p:txBody>
      </p:sp>
      <p:sp>
        <p:nvSpPr>
          <p:cNvPr id="28" name="bar-POST-1"/>
          <p:cNvSpPr/>
          <p:nvPr/>
        </p:nvSpPr>
        <p:spPr>
          <a:xfrm>
            <a:off x="6720840" y="2459736"/>
            <a:ext cx="2616556" cy="155448"/>
          </a:xfrm>
          <a:prstGeom prst="rect">
            <a:avLst/>
          </a:prstGeom>
          <a:solidFill>
            <a:schemeClr val="accent2"/>
          </a:solidFill>
          <a:ln/>
        </p:spPr>
      </p:sp>
      <p:sp>
        <p:nvSpPr>
          <p:cNvPr id="29" name="Text 27"/>
          <p:cNvSpPr txBox="1"/>
          <p:nvPr/>
        </p:nvSpPr>
        <p:spPr>
          <a:xfrm>
            <a:off x="9410548" y="2414016"/>
            <a:ext cx="548640" cy="246888"/>
          </a:xfrm>
          <a:prstGeom prst="rect">
            <a:avLst/>
          </a:prstGeom>
          <a:noFill/>
          <a:ln/>
        </p:spPr>
        <p:txBody>
          <a:bodyPr wrap="square" lIns="0" tIns="0" rIns="0" bIns="0" rtlCol="0" anchor="ctr"/>
          <a:lstStyle/>
          <a:p>
            <a:pPr indent="0" marL="0">
              <a:buNone/>
            </a:pPr>
            <a:r>
              <a:rPr lang="en-US" sz="1000" b="1" dirty="0">
                <a:solidFill>
                  <a:schemeClr val="bg1"/>
                </a:solidFill>
              </a:rPr>
              <a:t>59%</a:t>
            </a:r>
            <a:endParaRPr lang="en-US" sz="1000" dirty="0"/>
          </a:p>
        </p:txBody>
      </p:sp>
      <p:sp>
        <p:nvSpPr>
          <p:cNvPr id="30" name="Text 28"/>
          <p:cNvSpPr txBox="1"/>
          <p:nvPr/>
        </p:nvSpPr>
        <p:spPr>
          <a:xfrm>
            <a:off x="5029200" y="2651760"/>
            <a:ext cx="1554480" cy="457200"/>
          </a:xfrm>
          <a:prstGeom prst="rect">
            <a:avLst/>
          </a:prstGeom>
          <a:noFill/>
          <a:ln/>
        </p:spPr>
        <p:txBody>
          <a:bodyPr wrap="square" lIns="0" tIns="0" rIns="0" bIns="0" rtlCol="0" anchor="ctr"/>
          <a:lstStyle/>
          <a:p>
            <a:pPr indent="0" marL="0">
              <a:buNone/>
            </a:pPr>
            <a:r>
              <a:rPr lang="en-US" sz="1200" dirty="0">
                <a:solidFill>
                  <a:schemeClr val="bg1"/>
                </a:solidFill>
              </a:rPr>
              <a:t>3 Padlock</a:t>
            </a:r>
            <a:endParaRPr lang="en-US" sz="1200" dirty="0"/>
          </a:p>
        </p:txBody>
      </p:sp>
      <p:sp>
        <p:nvSpPr>
          <p:cNvPr id="31" name="bar-PRE-2"/>
          <p:cNvSpPr/>
          <p:nvPr/>
        </p:nvSpPr>
        <p:spPr>
          <a:xfrm>
            <a:off x="6720840" y="2706624"/>
            <a:ext cx="1951330" cy="155448"/>
          </a:xfrm>
          <a:prstGeom prst="rect">
            <a:avLst/>
          </a:prstGeom>
          <a:solidFill>
            <a:schemeClr val="accent4"/>
          </a:solidFill>
          <a:ln/>
        </p:spPr>
      </p:sp>
      <p:sp>
        <p:nvSpPr>
          <p:cNvPr id="32" name="Text 30"/>
          <p:cNvSpPr txBox="1"/>
          <p:nvPr/>
        </p:nvSpPr>
        <p:spPr>
          <a:xfrm>
            <a:off x="8745322" y="2660904"/>
            <a:ext cx="548640" cy="246888"/>
          </a:xfrm>
          <a:prstGeom prst="rect">
            <a:avLst/>
          </a:prstGeom>
          <a:noFill/>
          <a:ln/>
        </p:spPr>
        <p:txBody>
          <a:bodyPr wrap="square" lIns="0" tIns="0" rIns="0" bIns="0" rtlCol="0" anchor="ctr"/>
          <a:lstStyle/>
          <a:p>
            <a:pPr indent="0" marL="0">
              <a:buNone/>
            </a:pPr>
            <a:r>
              <a:rPr lang="en-US" sz="1000" b="1" dirty="0">
                <a:solidFill>
                  <a:schemeClr val="bg1"/>
                </a:solidFill>
              </a:rPr>
              <a:t>44%</a:t>
            </a:r>
            <a:endParaRPr lang="en-US" sz="1000" dirty="0"/>
          </a:p>
        </p:txBody>
      </p:sp>
      <p:sp>
        <p:nvSpPr>
          <p:cNvPr id="33" name="bar-POST-2"/>
          <p:cNvSpPr/>
          <p:nvPr/>
        </p:nvSpPr>
        <p:spPr>
          <a:xfrm>
            <a:off x="6720840" y="2898648"/>
            <a:ext cx="2971343" cy="155448"/>
          </a:xfrm>
          <a:prstGeom prst="rect">
            <a:avLst/>
          </a:prstGeom>
          <a:solidFill>
            <a:schemeClr val="accent2"/>
          </a:solidFill>
          <a:ln/>
        </p:spPr>
      </p:sp>
      <p:sp>
        <p:nvSpPr>
          <p:cNvPr id="34" name="Text 32"/>
          <p:cNvSpPr txBox="1"/>
          <p:nvPr/>
        </p:nvSpPr>
        <p:spPr>
          <a:xfrm>
            <a:off x="9765335" y="2852928"/>
            <a:ext cx="548640" cy="246888"/>
          </a:xfrm>
          <a:prstGeom prst="rect">
            <a:avLst/>
          </a:prstGeom>
          <a:noFill/>
          <a:ln/>
        </p:spPr>
        <p:txBody>
          <a:bodyPr wrap="square" lIns="0" tIns="0" rIns="0" bIns="0" rtlCol="0" anchor="ctr"/>
          <a:lstStyle/>
          <a:p>
            <a:pPr indent="0" marL="0">
              <a:buNone/>
            </a:pPr>
            <a:r>
              <a:rPr lang="en-US" sz="1000" b="1" dirty="0">
                <a:solidFill>
                  <a:schemeClr val="bg1"/>
                </a:solidFill>
              </a:rPr>
              <a:t>67%</a:t>
            </a:r>
            <a:endParaRPr lang="en-US" sz="1000" dirty="0"/>
          </a:p>
        </p:txBody>
      </p:sp>
      <p:sp>
        <p:nvSpPr>
          <p:cNvPr id="35" name="Text 33"/>
          <p:cNvSpPr txBox="1"/>
          <p:nvPr/>
        </p:nvSpPr>
        <p:spPr>
          <a:xfrm>
            <a:off x="5029200" y="3090672"/>
            <a:ext cx="1554480" cy="457200"/>
          </a:xfrm>
          <a:prstGeom prst="rect">
            <a:avLst/>
          </a:prstGeom>
          <a:noFill/>
          <a:ln/>
        </p:spPr>
        <p:txBody>
          <a:bodyPr wrap="square" lIns="0" tIns="0" rIns="0" bIns="0" rtlCol="0" anchor="ctr"/>
          <a:lstStyle/>
          <a:p>
            <a:pPr indent="0" marL="0">
              <a:buNone/>
            </a:pPr>
            <a:r>
              <a:rPr lang="en-US" sz="1200" dirty="0">
                <a:solidFill>
                  <a:schemeClr val="bg1"/>
                </a:solidFill>
              </a:rPr>
              <a:t>4 Warning signs</a:t>
            </a:r>
            <a:endParaRPr lang="en-US" sz="1200" dirty="0"/>
          </a:p>
        </p:txBody>
      </p:sp>
      <p:sp>
        <p:nvSpPr>
          <p:cNvPr id="36" name="bar-PRE-3"/>
          <p:cNvSpPr/>
          <p:nvPr/>
        </p:nvSpPr>
        <p:spPr>
          <a:xfrm>
            <a:off x="6720840" y="3145536"/>
            <a:ext cx="2971343" cy="155448"/>
          </a:xfrm>
          <a:prstGeom prst="rect">
            <a:avLst/>
          </a:prstGeom>
          <a:solidFill>
            <a:schemeClr val="accent4"/>
          </a:solidFill>
          <a:ln/>
        </p:spPr>
      </p:sp>
      <p:sp>
        <p:nvSpPr>
          <p:cNvPr id="37" name="Text 35"/>
          <p:cNvSpPr txBox="1"/>
          <p:nvPr/>
        </p:nvSpPr>
        <p:spPr>
          <a:xfrm>
            <a:off x="9765335" y="3099816"/>
            <a:ext cx="548640" cy="246888"/>
          </a:xfrm>
          <a:prstGeom prst="rect">
            <a:avLst/>
          </a:prstGeom>
          <a:noFill/>
          <a:ln/>
        </p:spPr>
        <p:txBody>
          <a:bodyPr wrap="square" lIns="0" tIns="0" rIns="0" bIns="0" rtlCol="0" anchor="ctr"/>
          <a:lstStyle/>
          <a:p>
            <a:pPr indent="0" marL="0">
              <a:buNone/>
            </a:pPr>
            <a:r>
              <a:rPr lang="en-US" sz="1000" b="1" dirty="0">
                <a:solidFill>
                  <a:schemeClr val="bg1"/>
                </a:solidFill>
              </a:rPr>
              <a:t>67%</a:t>
            </a:r>
            <a:endParaRPr lang="en-US" sz="1000" dirty="0"/>
          </a:p>
        </p:txBody>
      </p:sp>
      <p:sp>
        <p:nvSpPr>
          <p:cNvPr id="38" name="bar-POST-3"/>
          <p:cNvSpPr/>
          <p:nvPr/>
        </p:nvSpPr>
        <p:spPr>
          <a:xfrm>
            <a:off x="6720840" y="3337560"/>
            <a:ext cx="3459175" cy="155448"/>
          </a:xfrm>
          <a:prstGeom prst="rect">
            <a:avLst/>
          </a:prstGeom>
          <a:solidFill>
            <a:schemeClr val="accent2"/>
          </a:solidFill>
          <a:ln/>
        </p:spPr>
      </p:sp>
      <p:sp>
        <p:nvSpPr>
          <p:cNvPr id="39" name="Text 37"/>
          <p:cNvSpPr txBox="1"/>
          <p:nvPr/>
        </p:nvSpPr>
        <p:spPr>
          <a:xfrm>
            <a:off x="10253167" y="3291840"/>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78%</a:t>
            </a:r>
            <a:endParaRPr lang="en-US" sz="1000" dirty="0"/>
          </a:p>
        </p:txBody>
      </p:sp>
      <p:sp>
        <p:nvSpPr>
          <p:cNvPr id="40" name="Text 38"/>
          <p:cNvSpPr txBox="1"/>
          <p:nvPr/>
        </p:nvSpPr>
        <p:spPr>
          <a:xfrm>
            <a:off x="5029200" y="3529584"/>
            <a:ext cx="1554480" cy="457200"/>
          </a:xfrm>
          <a:prstGeom prst="rect">
            <a:avLst/>
          </a:prstGeom>
          <a:noFill/>
          <a:ln/>
        </p:spPr>
        <p:txBody>
          <a:bodyPr wrap="square" lIns="0" tIns="0" rIns="0" bIns="0" rtlCol="0" anchor="ctr"/>
          <a:lstStyle/>
          <a:p>
            <a:pPr indent="0" marL="0">
              <a:buNone/>
            </a:pPr>
            <a:r>
              <a:rPr lang="en-US" sz="1200" dirty="0">
                <a:solidFill>
                  <a:schemeClr val="bg1"/>
                </a:solidFill>
              </a:rPr>
              <a:t>5 Parcel SMS</a:t>
            </a:r>
            <a:endParaRPr lang="en-US" sz="1200" dirty="0"/>
          </a:p>
        </p:txBody>
      </p:sp>
      <p:sp>
        <p:nvSpPr>
          <p:cNvPr id="41" name="bar-PRE-4"/>
          <p:cNvSpPr/>
          <p:nvPr/>
        </p:nvSpPr>
        <p:spPr>
          <a:xfrm>
            <a:off x="6720840" y="3584448"/>
            <a:ext cx="3104388" cy="155448"/>
          </a:xfrm>
          <a:prstGeom prst="rect">
            <a:avLst/>
          </a:prstGeom>
          <a:solidFill>
            <a:schemeClr val="accent4"/>
          </a:solidFill>
          <a:ln/>
        </p:spPr>
      </p:sp>
      <p:sp>
        <p:nvSpPr>
          <p:cNvPr id="42" name="Text 40"/>
          <p:cNvSpPr txBox="1"/>
          <p:nvPr/>
        </p:nvSpPr>
        <p:spPr>
          <a:xfrm>
            <a:off x="9898380" y="3538728"/>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70%</a:t>
            </a:r>
            <a:endParaRPr lang="en-US" sz="1000" dirty="0"/>
          </a:p>
        </p:txBody>
      </p:sp>
      <p:sp>
        <p:nvSpPr>
          <p:cNvPr id="43" name="bar-POST-4"/>
          <p:cNvSpPr/>
          <p:nvPr/>
        </p:nvSpPr>
        <p:spPr>
          <a:xfrm>
            <a:off x="6720840" y="3776472"/>
            <a:ext cx="3813962" cy="155448"/>
          </a:xfrm>
          <a:prstGeom prst="rect">
            <a:avLst/>
          </a:prstGeom>
          <a:solidFill>
            <a:schemeClr val="accent2"/>
          </a:solidFill>
          <a:ln/>
        </p:spPr>
      </p:sp>
      <p:sp>
        <p:nvSpPr>
          <p:cNvPr id="44" name="Text 42"/>
          <p:cNvSpPr txBox="1"/>
          <p:nvPr/>
        </p:nvSpPr>
        <p:spPr>
          <a:xfrm>
            <a:off x="10607954" y="3730752"/>
            <a:ext cx="548640" cy="246888"/>
          </a:xfrm>
          <a:prstGeom prst="rect">
            <a:avLst/>
          </a:prstGeom>
          <a:noFill/>
          <a:ln/>
        </p:spPr>
        <p:txBody>
          <a:bodyPr wrap="square" lIns="0" tIns="0" rIns="0" bIns="0" rtlCol="0" anchor="ctr"/>
          <a:lstStyle/>
          <a:p>
            <a:pPr indent="0" marL="0">
              <a:buNone/>
            </a:pPr>
            <a:r>
              <a:rPr lang="en-US" sz="1000" b="1" dirty="0">
                <a:solidFill>
                  <a:schemeClr val="bg1"/>
                </a:solidFill>
              </a:rPr>
              <a:t>86%</a:t>
            </a:r>
            <a:endParaRPr lang="en-US" sz="1000" dirty="0"/>
          </a:p>
        </p:txBody>
      </p:sp>
      <p:sp>
        <p:nvSpPr>
          <p:cNvPr id="45" name="Text 43"/>
          <p:cNvSpPr txBox="1"/>
          <p:nvPr/>
        </p:nvSpPr>
        <p:spPr>
          <a:xfrm>
            <a:off x="5029200" y="3968496"/>
            <a:ext cx="1554480" cy="457200"/>
          </a:xfrm>
          <a:prstGeom prst="rect">
            <a:avLst/>
          </a:prstGeom>
          <a:noFill/>
          <a:ln/>
        </p:spPr>
        <p:txBody>
          <a:bodyPr wrap="square" lIns="0" tIns="0" rIns="0" bIns="0" rtlCol="0" anchor="ctr"/>
          <a:lstStyle/>
          <a:p>
            <a:pPr indent="0" marL="0">
              <a:buNone/>
            </a:pPr>
            <a:r>
              <a:rPr lang="en-US" sz="1200" dirty="0">
                <a:solidFill>
                  <a:schemeClr val="bg1"/>
                </a:solidFill>
              </a:rPr>
              <a:t>6 Sign-in prompts</a:t>
            </a:r>
            <a:endParaRPr lang="en-US" sz="1200" dirty="0"/>
          </a:p>
        </p:txBody>
      </p:sp>
      <p:sp>
        <p:nvSpPr>
          <p:cNvPr id="46" name="bar-PRE-5"/>
          <p:cNvSpPr/>
          <p:nvPr/>
        </p:nvSpPr>
        <p:spPr>
          <a:xfrm>
            <a:off x="6720840" y="4023360"/>
            <a:ext cx="2084375" cy="155448"/>
          </a:xfrm>
          <a:prstGeom prst="rect">
            <a:avLst/>
          </a:prstGeom>
          <a:solidFill>
            <a:schemeClr val="accent4"/>
          </a:solidFill>
          <a:ln/>
        </p:spPr>
      </p:sp>
      <p:sp>
        <p:nvSpPr>
          <p:cNvPr id="47" name="Text 45"/>
          <p:cNvSpPr txBox="1"/>
          <p:nvPr/>
        </p:nvSpPr>
        <p:spPr>
          <a:xfrm>
            <a:off x="8878367" y="3977640"/>
            <a:ext cx="548640" cy="246888"/>
          </a:xfrm>
          <a:prstGeom prst="rect">
            <a:avLst/>
          </a:prstGeom>
          <a:noFill/>
          <a:ln/>
        </p:spPr>
        <p:txBody>
          <a:bodyPr wrap="square" lIns="0" tIns="0" rIns="0" bIns="0" rtlCol="0" anchor="ctr"/>
          <a:lstStyle/>
          <a:p>
            <a:pPr indent="0" marL="0">
              <a:buNone/>
            </a:pPr>
            <a:r>
              <a:rPr lang="en-US" sz="1000" b="1" dirty="0">
                <a:solidFill>
                  <a:schemeClr val="bg1"/>
                </a:solidFill>
              </a:rPr>
              <a:t>47%</a:t>
            </a:r>
            <a:endParaRPr lang="en-US" sz="1000" dirty="0"/>
          </a:p>
        </p:txBody>
      </p:sp>
      <p:sp>
        <p:nvSpPr>
          <p:cNvPr id="48" name="bar-POST-5"/>
          <p:cNvSpPr/>
          <p:nvPr/>
        </p:nvSpPr>
        <p:spPr>
          <a:xfrm>
            <a:off x="6720840" y="4215384"/>
            <a:ext cx="2616556" cy="155448"/>
          </a:xfrm>
          <a:prstGeom prst="rect">
            <a:avLst/>
          </a:prstGeom>
          <a:solidFill>
            <a:schemeClr val="accent2"/>
          </a:solidFill>
          <a:ln/>
        </p:spPr>
      </p:sp>
      <p:sp>
        <p:nvSpPr>
          <p:cNvPr id="49" name="Text 47"/>
          <p:cNvSpPr txBox="1"/>
          <p:nvPr/>
        </p:nvSpPr>
        <p:spPr>
          <a:xfrm>
            <a:off x="9410548" y="4169664"/>
            <a:ext cx="548640" cy="246888"/>
          </a:xfrm>
          <a:prstGeom prst="rect">
            <a:avLst/>
          </a:prstGeom>
          <a:noFill/>
          <a:ln/>
        </p:spPr>
        <p:txBody>
          <a:bodyPr wrap="square" lIns="0" tIns="0" rIns="0" bIns="0" rtlCol="0" anchor="ctr"/>
          <a:lstStyle/>
          <a:p>
            <a:pPr indent="0" marL="0">
              <a:buNone/>
            </a:pPr>
            <a:r>
              <a:rPr lang="en-US" sz="1000" b="1" dirty="0">
                <a:solidFill>
                  <a:schemeClr val="bg1"/>
                </a:solidFill>
              </a:rPr>
              <a:t>59%</a:t>
            </a:r>
            <a:endParaRPr lang="en-US" sz="1000" dirty="0"/>
          </a:p>
        </p:txBody>
      </p:sp>
      <p:sp>
        <p:nvSpPr>
          <p:cNvPr id="50" name="Text 48"/>
          <p:cNvSpPr txBox="1"/>
          <p:nvPr/>
        </p:nvSpPr>
        <p:spPr>
          <a:xfrm>
            <a:off x="5029200" y="4407408"/>
            <a:ext cx="1554480" cy="457200"/>
          </a:xfrm>
          <a:prstGeom prst="rect">
            <a:avLst/>
          </a:prstGeom>
          <a:noFill/>
          <a:ln/>
        </p:spPr>
        <p:txBody>
          <a:bodyPr wrap="square" lIns="0" tIns="0" rIns="0" bIns="0" rtlCol="0" anchor="ctr"/>
          <a:lstStyle/>
          <a:p>
            <a:pPr indent="0" marL="0">
              <a:buNone/>
            </a:pPr>
            <a:r>
              <a:rPr lang="en-US" sz="1200" dirty="0">
                <a:solidFill>
                  <a:schemeClr val="bg1"/>
                </a:solidFill>
              </a:rPr>
              <a:t>7 Friend's code</a:t>
            </a:r>
            <a:endParaRPr lang="en-US" sz="1200" dirty="0"/>
          </a:p>
        </p:txBody>
      </p:sp>
      <p:sp>
        <p:nvSpPr>
          <p:cNvPr id="51" name="bar-PRE-6"/>
          <p:cNvSpPr/>
          <p:nvPr/>
        </p:nvSpPr>
        <p:spPr>
          <a:xfrm>
            <a:off x="6720840" y="4462272"/>
            <a:ext cx="2793949" cy="155448"/>
          </a:xfrm>
          <a:prstGeom prst="rect">
            <a:avLst/>
          </a:prstGeom>
          <a:solidFill>
            <a:schemeClr val="accent4"/>
          </a:solidFill>
          <a:ln/>
        </p:spPr>
      </p:sp>
      <p:sp>
        <p:nvSpPr>
          <p:cNvPr id="52" name="Text 50"/>
          <p:cNvSpPr txBox="1"/>
          <p:nvPr/>
        </p:nvSpPr>
        <p:spPr>
          <a:xfrm>
            <a:off x="9587941" y="4416552"/>
            <a:ext cx="548640" cy="246888"/>
          </a:xfrm>
          <a:prstGeom prst="rect">
            <a:avLst/>
          </a:prstGeom>
          <a:noFill/>
          <a:ln/>
        </p:spPr>
        <p:txBody>
          <a:bodyPr wrap="square" lIns="0" tIns="0" rIns="0" bIns="0" rtlCol="0" anchor="ctr"/>
          <a:lstStyle/>
          <a:p>
            <a:pPr indent="0" marL="0">
              <a:buNone/>
            </a:pPr>
            <a:r>
              <a:rPr lang="en-US" sz="1000" b="1" dirty="0">
                <a:solidFill>
                  <a:schemeClr val="bg1"/>
                </a:solidFill>
              </a:rPr>
              <a:t>63%</a:t>
            </a:r>
            <a:endParaRPr lang="en-US" sz="1000" dirty="0"/>
          </a:p>
        </p:txBody>
      </p:sp>
      <p:sp>
        <p:nvSpPr>
          <p:cNvPr id="53" name="bar-POST-6"/>
          <p:cNvSpPr/>
          <p:nvPr/>
        </p:nvSpPr>
        <p:spPr>
          <a:xfrm>
            <a:off x="6720840" y="4654296"/>
            <a:ext cx="3636569" cy="155448"/>
          </a:xfrm>
          <a:prstGeom prst="rect">
            <a:avLst/>
          </a:prstGeom>
          <a:solidFill>
            <a:schemeClr val="accent2"/>
          </a:solidFill>
          <a:ln/>
        </p:spPr>
      </p:sp>
      <p:sp>
        <p:nvSpPr>
          <p:cNvPr id="54" name="Text 52"/>
          <p:cNvSpPr txBox="1"/>
          <p:nvPr/>
        </p:nvSpPr>
        <p:spPr>
          <a:xfrm>
            <a:off x="10430561" y="4608576"/>
            <a:ext cx="548640" cy="246888"/>
          </a:xfrm>
          <a:prstGeom prst="rect">
            <a:avLst/>
          </a:prstGeom>
          <a:noFill/>
          <a:ln/>
        </p:spPr>
        <p:txBody>
          <a:bodyPr wrap="square" lIns="0" tIns="0" rIns="0" bIns="0" rtlCol="0" anchor="ctr"/>
          <a:lstStyle/>
          <a:p>
            <a:pPr indent="0" marL="0">
              <a:buNone/>
            </a:pPr>
            <a:r>
              <a:rPr lang="en-US" sz="1000" b="1" dirty="0">
                <a:solidFill>
                  <a:schemeClr val="bg1"/>
                </a:solidFill>
              </a:rPr>
              <a:t>82%</a:t>
            </a:r>
            <a:endParaRPr lang="en-US" sz="1000" dirty="0"/>
          </a:p>
        </p:txBody>
      </p:sp>
      <p:sp>
        <p:nvSpPr>
          <p:cNvPr id="55" name="Text 53"/>
          <p:cNvSpPr txBox="1"/>
          <p:nvPr/>
        </p:nvSpPr>
        <p:spPr>
          <a:xfrm>
            <a:off x="5029200" y="4846320"/>
            <a:ext cx="1554480" cy="457200"/>
          </a:xfrm>
          <a:prstGeom prst="rect">
            <a:avLst/>
          </a:prstGeom>
          <a:noFill/>
          <a:ln/>
        </p:spPr>
        <p:txBody>
          <a:bodyPr wrap="square" lIns="0" tIns="0" rIns="0" bIns="0" rtlCol="0" anchor="ctr"/>
          <a:lstStyle/>
          <a:p>
            <a:pPr indent="0" marL="0">
              <a:buNone/>
            </a:pPr>
            <a:r>
              <a:rPr lang="en-US" sz="1200" dirty="0">
                <a:solidFill>
                  <a:schemeClr val="bg1"/>
                </a:solidFill>
              </a:rPr>
              <a:t>8 Gift-card ask</a:t>
            </a:r>
            <a:endParaRPr lang="en-US" sz="1200" dirty="0"/>
          </a:p>
        </p:txBody>
      </p:sp>
      <p:sp>
        <p:nvSpPr>
          <p:cNvPr id="56" name="bar-PRE-7"/>
          <p:cNvSpPr/>
          <p:nvPr/>
        </p:nvSpPr>
        <p:spPr>
          <a:xfrm>
            <a:off x="6720840" y="4901184"/>
            <a:ext cx="3193085" cy="155448"/>
          </a:xfrm>
          <a:prstGeom prst="rect">
            <a:avLst/>
          </a:prstGeom>
          <a:solidFill>
            <a:schemeClr val="accent4"/>
          </a:solidFill>
          <a:ln/>
        </p:spPr>
      </p:sp>
      <p:sp>
        <p:nvSpPr>
          <p:cNvPr id="57" name="Text 55"/>
          <p:cNvSpPr txBox="1"/>
          <p:nvPr/>
        </p:nvSpPr>
        <p:spPr>
          <a:xfrm>
            <a:off x="9987077" y="4855464"/>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72%</a:t>
            </a:r>
            <a:endParaRPr lang="en-US" sz="1000" dirty="0"/>
          </a:p>
        </p:txBody>
      </p:sp>
      <p:sp>
        <p:nvSpPr>
          <p:cNvPr id="58" name="bar-POST-7"/>
          <p:cNvSpPr/>
          <p:nvPr/>
        </p:nvSpPr>
        <p:spPr>
          <a:xfrm>
            <a:off x="6720840" y="5093208"/>
            <a:ext cx="3991356" cy="155448"/>
          </a:xfrm>
          <a:prstGeom prst="rect">
            <a:avLst/>
          </a:prstGeom>
          <a:solidFill>
            <a:schemeClr val="accent2"/>
          </a:solidFill>
          <a:ln/>
        </p:spPr>
      </p:sp>
      <p:sp>
        <p:nvSpPr>
          <p:cNvPr id="59" name="Text 57"/>
          <p:cNvSpPr txBox="1"/>
          <p:nvPr/>
        </p:nvSpPr>
        <p:spPr>
          <a:xfrm>
            <a:off x="10785348" y="5047488"/>
            <a:ext cx="548640" cy="246888"/>
          </a:xfrm>
          <a:prstGeom prst="rect">
            <a:avLst/>
          </a:prstGeom>
          <a:noFill/>
          <a:ln/>
        </p:spPr>
        <p:txBody>
          <a:bodyPr wrap="square" lIns="0" tIns="0" rIns="0" bIns="0" rtlCol="0" anchor="ctr"/>
          <a:lstStyle/>
          <a:p>
            <a:pPr indent="0" marL="0">
              <a:buNone/>
            </a:pPr>
            <a:r>
              <a:rPr lang="en-US" sz="1000" b="1" dirty="0">
                <a:solidFill>
                  <a:schemeClr val="bg1"/>
                </a:solidFill>
              </a:rPr>
              <a:t>90%</a:t>
            </a:r>
            <a:endParaRPr lang="en-US" sz="1000" dirty="0"/>
          </a:p>
        </p:txBody>
      </p:sp>
      <p:sp>
        <p:nvSpPr>
          <p:cNvPr id="60" name="Text 58"/>
          <p:cNvSpPr txBox="1"/>
          <p:nvPr/>
        </p:nvSpPr>
        <p:spPr>
          <a:xfrm>
            <a:off x="5029200" y="5285232"/>
            <a:ext cx="1554480" cy="457200"/>
          </a:xfrm>
          <a:prstGeom prst="rect">
            <a:avLst/>
          </a:prstGeom>
          <a:noFill/>
          <a:ln/>
        </p:spPr>
        <p:txBody>
          <a:bodyPr wrap="square" lIns="0" tIns="0" rIns="0" bIns="0" rtlCol="0" anchor="ctr"/>
          <a:lstStyle/>
          <a:p>
            <a:pPr indent="0" marL="0">
              <a:buNone/>
            </a:pPr>
            <a:r>
              <a:rPr lang="en-US" sz="1200" dirty="0">
                <a:solidFill>
                  <a:schemeClr val="bg1"/>
                </a:solidFill>
              </a:rPr>
              <a:t>9 QR sticker</a:t>
            </a:r>
            <a:endParaRPr lang="en-US" sz="1200" dirty="0"/>
          </a:p>
        </p:txBody>
      </p:sp>
      <p:sp>
        <p:nvSpPr>
          <p:cNvPr id="61" name="bar-PRE-8"/>
          <p:cNvSpPr/>
          <p:nvPr/>
        </p:nvSpPr>
        <p:spPr>
          <a:xfrm>
            <a:off x="6720840" y="5340096"/>
            <a:ext cx="2793949" cy="155448"/>
          </a:xfrm>
          <a:prstGeom prst="rect">
            <a:avLst/>
          </a:prstGeom>
          <a:solidFill>
            <a:schemeClr val="accent4"/>
          </a:solidFill>
          <a:ln/>
        </p:spPr>
      </p:sp>
      <p:sp>
        <p:nvSpPr>
          <p:cNvPr id="62" name="Text 60"/>
          <p:cNvSpPr txBox="1"/>
          <p:nvPr/>
        </p:nvSpPr>
        <p:spPr>
          <a:xfrm>
            <a:off x="9587941" y="5294376"/>
            <a:ext cx="548640" cy="246888"/>
          </a:xfrm>
          <a:prstGeom prst="rect">
            <a:avLst/>
          </a:prstGeom>
          <a:noFill/>
          <a:ln/>
        </p:spPr>
        <p:txBody>
          <a:bodyPr wrap="square" lIns="0" tIns="0" rIns="0" bIns="0" rtlCol="0" anchor="ctr"/>
          <a:lstStyle/>
          <a:p>
            <a:pPr indent="0" marL="0">
              <a:buNone/>
            </a:pPr>
            <a:r>
              <a:rPr lang="en-US" sz="1000" b="1" dirty="0">
                <a:solidFill>
                  <a:schemeClr val="bg1"/>
                </a:solidFill>
              </a:rPr>
              <a:t>63%</a:t>
            </a:r>
            <a:endParaRPr lang="en-US" sz="1000" dirty="0"/>
          </a:p>
        </p:txBody>
      </p:sp>
      <p:sp>
        <p:nvSpPr>
          <p:cNvPr id="63" name="bar-POST-8"/>
          <p:cNvSpPr/>
          <p:nvPr/>
        </p:nvSpPr>
        <p:spPr>
          <a:xfrm>
            <a:off x="6720840" y="5532120"/>
            <a:ext cx="3459175" cy="155448"/>
          </a:xfrm>
          <a:prstGeom prst="rect">
            <a:avLst/>
          </a:prstGeom>
          <a:solidFill>
            <a:schemeClr val="accent2"/>
          </a:solidFill>
          <a:ln/>
        </p:spPr>
      </p:sp>
      <p:sp>
        <p:nvSpPr>
          <p:cNvPr id="64" name="Text 62"/>
          <p:cNvSpPr txBox="1"/>
          <p:nvPr/>
        </p:nvSpPr>
        <p:spPr>
          <a:xfrm>
            <a:off x="10253167" y="5486400"/>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78%</a:t>
            </a:r>
            <a:endParaRPr lang="en-US" sz="1000" dirty="0"/>
          </a:p>
        </p:txBody>
      </p:sp>
      <p:sp>
        <p:nvSpPr>
          <p:cNvPr id="65" name="Text 63"/>
          <p:cNvSpPr txBox="1"/>
          <p:nvPr/>
        </p:nvSpPr>
        <p:spPr>
          <a:xfrm>
            <a:off x="5029200" y="5724144"/>
            <a:ext cx="1554480" cy="457200"/>
          </a:xfrm>
          <a:prstGeom prst="rect">
            <a:avLst/>
          </a:prstGeom>
          <a:noFill/>
          <a:ln/>
        </p:spPr>
        <p:txBody>
          <a:bodyPr wrap="square" lIns="0" tIns="0" rIns="0" bIns="0" rtlCol="0" anchor="ctr"/>
          <a:lstStyle/>
          <a:p>
            <a:pPr indent="0" marL="0">
              <a:buNone/>
            </a:pPr>
            <a:r>
              <a:rPr lang="en-US" sz="1200" dirty="0">
                <a:solidFill>
                  <a:schemeClr val="bg1"/>
                </a:solidFill>
              </a:rPr>
              <a:t>10 After a leak</a:t>
            </a:r>
            <a:endParaRPr lang="en-US" sz="1200" dirty="0"/>
          </a:p>
        </p:txBody>
      </p:sp>
      <p:sp>
        <p:nvSpPr>
          <p:cNvPr id="66" name="bar-PRE-9"/>
          <p:cNvSpPr/>
          <p:nvPr/>
        </p:nvSpPr>
        <p:spPr>
          <a:xfrm>
            <a:off x="6720840" y="5779008"/>
            <a:ext cx="2926994" cy="155448"/>
          </a:xfrm>
          <a:prstGeom prst="rect">
            <a:avLst/>
          </a:prstGeom>
          <a:solidFill>
            <a:schemeClr val="accent4"/>
          </a:solidFill>
          <a:ln/>
        </p:spPr>
      </p:sp>
      <p:sp>
        <p:nvSpPr>
          <p:cNvPr id="67" name="Text 65"/>
          <p:cNvSpPr txBox="1"/>
          <p:nvPr/>
        </p:nvSpPr>
        <p:spPr>
          <a:xfrm>
            <a:off x="9720986" y="5733288"/>
            <a:ext cx="548640" cy="246888"/>
          </a:xfrm>
          <a:prstGeom prst="rect">
            <a:avLst/>
          </a:prstGeom>
          <a:noFill/>
          <a:ln/>
        </p:spPr>
        <p:txBody>
          <a:bodyPr wrap="square" lIns="0" tIns="0" rIns="0" bIns="0" rtlCol="0" anchor="ctr"/>
          <a:lstStyle/>
          <a:p>
            <a:pPr indent="0" marL="0">
              <a:buNone/>
            </a:pPr>
            <a:r>
              <a:rPr lang="en-US" sz="1000" b="1" dirty="0">
                <a:solidFill>
                  <a:schemeClr val="bg1"/>
                </a:solidFill>
              </a:rPr>
              <a:t>66%</a:t>
            </a:r>
            <a:endParaRPr lang="en-US" sz="1000" dirty="0"/>
          </a:p>
        </p:txBody>
      </p:sp>
      <p:sp>
        <p:nvSpPr>
          <p:cNvPr id="68" name="bar-POST-9"/>
          <p:cNvSpPr/>
          <p:nvPr/>
        </p:nvSpPr>
        <p:spPr>
          <a:xfrm>
            <a:off x="6720840" y="5971032"/>
            <a:ext cx="3237433" cy="155448"/>
          </a:xfrm>
          <a:prstGeom prst="rect">
            <a:avLst/>
          </a:prstGeom>
          <a:solidFill>
            <a:schemeClr val="accent2"/>
          </a:solidFill>
          <a:ln/>
        </p:spPr>
      </p:sp>
      <p:sp>
        <p:nvSpPr>
          <p:cNvPr id="69" name="Text 67"/>
          <p:cNvSpPr txBox="1"/>
          <p:nvPr/>
        </p:nvSpPr>
        <p:spPr>
          <a:xfrm>
            <a:off x="10031425" y="5925312"/>
            <a:ext cx="548640" cy="246888"/>
          </a:xfrm>
          <a:prstGeom prst="rect">
            <a:avLst/>
          </a:prstGeom>
          <a:noFill/>
          <a:ln/>
        </p:spPr>
        <p:txBody>
          <a:bodyPr wrap="square" lIns="0" tIns="0" rIns="0" bIns="0" rtlCol="0" anchor="ctr"/>
          <a:lstStyle/>
          <a:p>
            <a:pPr indent="0" marL="0">
              <a:buNone/>
            </a:pPr>
            <a:r>
              <a:rPr lang="en-US" sz="1000" b="1" dirty="0">
                <a:solidFill>
                  <a:schemeClr val="bg1"/>
                </a:solidFill>
              </a:rPr>
              <a:t>73%</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Where students go wrong</a:t>
            </a:r>
            <a:endParaRPr lang="en-US" sz="3400" dirty="0"/>
          </a:p>
        </p:txBody>
      </p:sp>
      <p:sp>
        <p:nvSpPr>
          <p:cNvPr id="3" name="sticky"/>
          <p:cNvSpPr txBox="1"/>
          <p:nvPr/>
        </p:nvSpPr>
        <p:spPr>
          <a:xfrm rot="90000">
            <a:off x="7452360" y="457200"/>
            <a:ext cx="4206240" cy="45720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200" b="1" dirty="0">
                <a:solidFill>
                  <a:schemeClr val="tx1"/>
                </a:solidFill>
              </a:rPr>
              <a:t>Demonstration of our analysis pipeline · live results to follow</a:t>
            </a:r>
            <a:endParaRPr lang="en-US" sz="1200" dirty="0"/>
          </a:p>
        </p:txBody>
      </p:sp>
      <p:sp>
        <p:nvSpPr>
          <p:cNvPr id="4" name="Text 2"/>
          <p:cNvSpPr txBox="1"/>
          <p:nvPr/>
        </p:nvSpPr>
        <p:spPr>
          <a:xfrm>
            <a:off x="548640" y="1280160"/>
            <a:ext cx="5394960" cy="347472"/>
          </a:xfrm>
          <a:prstGeom prst="rect">
            <a:avLst/>
          </a:prstGeom>
          <a:noFill/>
          <a:ln/>
        </p:spPr>
        <p:txBody>
          <a:bodyPr wrap="square" lIns="0" tIns="0" rIns="0" bIns="0" rtlCol="0" anchor="ctr"/>
          <a:lstStyle/>
          <a:p>
            <a:pPr indent="0" marL="0">
              <a:buNone/>
            </a:pPr>
            <a:r>
              <a:rPr lang="en-US" sz="1400" b="1" dirty="0">
                <a:solidFill>
                  <a:schemeClr val="bg1"/>
                </a:solidFill>
              </a:rPr>
              <a:t>% of PRE respondents holding each misconception</a:t>
            </a:r>
            <a:endParaRPr lang="en-US" sz="1400" dirty="0"/>
          </a:p>
        </p:txBody>
      </p:sp>
      <p:sp>
        <p:nvSpPr>
          <p:cNvPr id="5" name="Text 3"/>
          <p:cNvSpPr txBox="1"/>
          <p:nvPr/>
        </p:nvSpPr>
        <p:spPr>
          <a:xfrm>
            <a:off x="548640" y="1783080"/>
            <a:ext cx="5394960" cy="320040"/>
          </a:xfrm>
          <a:prstGeom prst="rect">
            <a:avLst/>
          </a:prstGeom>
          <a:noFill/>
          <a:ln/>
        </p:spPr>
        <p:txBody>
          <a:bodyPr wrap="square" lIns="0" tIns="0" rIns="0" bIns="0" rtlCol="0" anchor="t"/>
          <a:lstStyle/>
          <a:p>
            <a:pPr indent="0" marL="0">
              <a:buNone/>
            </a:pPr>
            <a:r>
              <a:rPr lang="en-US" sz="1500" b="1" dirty="0">
                <a:solidFill>
                  <a:schemeClr val="bg1"/>
                </a:solidFill>
              </a:rPr>
              <a:t>"The padlock means the site is safe"</a:t>
            </a:r>
            <a:endParaRPr lang="en-US" sz="1500" dirty="0"/>
          </a:p>
        </p:txBody>
      </p:sp>
      <p:sp>
        <p:nvSpPr>
          <p:cNvPr id="6" name="bar-PRE-0"/>
          <p:cNvSpPr/>
          <p:nvPr/>
        </p:nvSpPr>
        <p:spPr>
          <a:xfrm>
            <a:off x="548640" y="2148840"/>
            <a:ext cx="3685032" cy="384048"/>
          </a:xfrm>
          <a:prstGeom prst="rect">
            <a:avLst/>
          </a:prstGeom>
          <a:solidFill>
            <a:schemeClr val="accent1"/>
          </a:solidFill>
          <a:ln/>
        </p:spPr>
      </p:sp>
      <p:sp>
        <p:nvSpPr>
          <p:cNvPr id="7" name="Text 5"/>
          <p:cNvSpPr txBox="1"/>
          <p:nvPr/>
        </p:nvSpPr>
        <p:spPr>
          <a:xfrm>
            <a:off x="4306824" y="2103120"/>
            <a:ext cx="548640" cy="475488"/>
          </a:xfrm>
          <a:prstGeom prst="rect">
            <a:avLst/>
          </a:prstGeom>
          <a:noFill/>
          <a:ln/>
        </p:spPr>
        <p:txBody>
          <a:bodyPr wrap="square" lIns="0" tIns="0" rIns="0" bIns="0" rtlCol="0" anchor="ctr"/>
          <a:lstStyle/>
          <a:p>
            <a:pPr indent="0" marL="0">
              <a:buNone/>
            </a:pPr>
            <a:r>
              <a:rPr lang="en-US" sz="1600" b="1" dirty="0">
                <a:solidFill>
                  <a:schemeClr val="bg1"/>
                </a:solidFill>
              </a:rPr>
              <a:t>31%</a:t>
            </a:r>
            <a:endParaRPr lang="en-US" sz="1600" dirty="0"/>
          </a:p>
        </p:txBody>
      </p:sp>
      <p:sp>
        <p:nvSpPr>
          <p:cNvPr id="8" name="Text 6"/>
          <p:cNvSpPr txBox="1"/>
          <p:nvPr/>
        </p:nvSpPr>
        <p:spPr>
          <a:xfrm>
            <a:off x="548640" y="2697480"/>
            <a:ext cx="5394960" cy="320040"/>
          </a:xfrm>
          <a:prstGeom prst="rect">
            <a:avLst/>
          </a:prstGeom>
          <a:noFill/>
          <a:ln/>
        </p:spPr>
        <p:txBody>
          <a:bodyPr wrap="square" lIns="0" tIns="0" rIns="0" bIns="0" rtlCol="0" anchor="t"/>
          <a:lstStyle/>
          <a:p>
            <a:pPr indent="0" marL="0">
              <a:buNone/>
            </a:pPr>
            <a:r>
              <a:rPr lang="en-US" sz="1500" b="1" dirty="0">
                <a:solidFill>
                  <a:schemeClr val="bg1"/>
                </a:solidFill>
              </a:rPr>
              <a:t>Unexpected sign-in prompts ignored</a:t>
            </a:r>
            <a:endParaRPr lang="en-US" sz="1500" dirty="0"/>
          </a:p>
        </p:txBody>
      </p:sp>
      <p:sp>
        <p:nvSpPr>
          <p:cNvPr id="9" name="bar-PRE-1"/>
          <p:cNvSpPr/>
          <p:nvPr/>
        </p:nvSpPr>
        <p:spPr>
          <a:xfrm>
            <a:off x="548640" y="3063240"/>
            <a:ext cx="2971800" cy="384048"/>
          </a:xfrm>
          <a:prstGeom prst="rect">
            <a:avLst/>
          </a:prstGeom>
          <a:solidFill>
            <a:schemeClr val="accent1"/>
          </a:solidFill>
          <a:ln/>
        </p:spPr>
      </p:sp>
      <p:sp>
        <p:nvSpPr>
          <p:cNvPr id="10" name="Text 8"/>
          <p:cNvSpPr txBox="1"/>
          <p:nvPr/>
        </p:nvSpPr>
        <p:spPr>
          <a:xfrm>
            <a:off x="3593592" y="3017520"/>
            <a:ext cx="548640" cy="475488"/>
          </a:xfrm>
          <a:prstGeom prst="rect">
            <a:avLst/>
          </a:prstGeom>
          <a:noFill/>
          <a:ln/>
        </p:spPr>
        <p:txBody>
          <a:bodyPr wrap="square" lIns="0" tIns="0" rIns="0" bIns="0" rtlCol="0" anchor="ctr"/>
          <a:lstStyle/>
          <a:p>
            <a:pPr indent="0" marL="0">
              <a:buNone/>
            </a:pPr>
            <a:r>
              <a:rPr lang="en-US" sz="1600" b="1" dirty="0">
                <a:solidFill>
                  <a:schemeClr val="bg1"/>
                </a:solidFill>
              </a:rPr>
              <a:t>25%</a:t>
            </a:r>
            <a:endParaRPr lang="en-US" sz="1600" dirty="0"/>
          </a:p>
        </p:txBody>
      </p:sp>
      <p:sp>
        <p:nvSpPr>
          <p:cNvPr id="11" name="Text 9"/>
          <p:cNvSpPr txBox="1"/>
          <p:nvPr/>
        </p:nvSpPr>
        <p:spPr>
          <a:xfrm>
            <a:off x="548640" y="3611880"/>
            <a:ext cx="5394960" cy="320040"/>
          </a:xfrm>
          <a:prstGeom prst="rect">
            <a:avLst/>
          </a:prstGeom>
          <a:noFill/>
          <a:ln/>
        </p:spPr>
        <p:txBody>
          <a:bodyPr wrap="square" lIns="0" tIns="0" rIns="0" bIns="0" rtlCol="0" anchor="t"/>
          <a:lstStyle/>
          <a:p>
            <a:pPr indent="0" marL="0">
              <a:buNone/>
            </a:pPr>
            <a:r>
              <a:rPr lang="en-US" sz="1500" b="1" dirty="0">
                <a:solidFill>
                  <a:schemeClr val="bg1"/>
                </a:solidFill>
              </a:rPr>
              <a:t>Irrelevant details seen as warning signs</a:t>
            </a:r>
            <a:endParaRPr lang="en-US" sz="1500" dirty="0"/>
          </a:p>
        </p:txBody>
      </p:sp>
      <p:sp>
        <p:nvSpPr>
          <p:cNvPr id="12" name="bar-PRE-2"/>
          <p:cNvSpPr/>
          <p:nvPr/>
        </p:nvSpPr>
        <p:spPr>
          <a:xfrm>
            <a:off x="548640" y="3977640"/>
            <a:ext cx="2734056" cy="384048"/>
          </a:xfrm>
          <a:prstGeom prst="rect">
            <a:avLst/>
          </a:prstGeom>
          <a:solidFill>
            <a:schemeClr val="accent1"/>
          </a:solidFill>
          <a:ln/>
        </p:spPr>
      </p:sp>
      <p:sp>
        <p:nvSpPr>
          <p:cNvPr id="13" name="Text 11"/>
          <p:cNvSpPr txBox="1"/>
          <p:nvPr/>
        </p:nvSpPr>
        <p:spPr>
          <a:xfrm>
            <a:off x="3355848" y="3931920"/>
            <a:ext cx="548640" cy="475488"/>
          </a:xfrm>
          <a:prstGeom prst="rect">
            <a:avLst/>
          </a:prstGeom>
          <a:noFill/>
          <a:ln/>
        </p:spPr>
        <p:txBody>
          <a:bodyPr wrap="square" lIns="0" tIns="0" rIns="0" bIns="0" rtlCol="0" anchor="ctr"/>
          <a:lstStyle/>
          <a:p>
            <a:pPr indent="0" marL="0">
              <a:buNone/>
            </a:pPr>
            <a:r>
              <a:rPr lang="en-US" sz="1600" b="1" dirty="0">
                <a:solidFill>
                  <a:schemeClr val="bg1"/>
                </a:solidFill>
              </a:rPr>
              <a:t>23%</a:t>
            </a:r>
            <a:endParaRPr lang="en-US" sz="1600" dirty="0"/>
          </a:p>
        </p:txBody>
      </p:sp>
      <p:sp>
        <p:nvSpPr>
          <p:cNvPr id="14" name="Text 12"/>
          <p:cNvSpPr txBox="1"/>
          <p:nvPr/>
        </p:nvSpPr>
        <p:spPr>
          <a:xfrm>
            <a:off x="548640" y="4526280"/>
            <a:ext cx="5394960" cy="320040"/>
          </a:xfrm>
          <a:prstGeom prst="rect">
            <a:avLst/>
          </a:prstGeom>
          <a:noFill/>
          <a:ln/>
        </p:spPr>
        <p:txBody>
          <a:bodyPr wrap="square" lIns="0" tIns="0" rIns="0" bIns="0" rtlCol="0" anchor="t"/>
          <a:lstStyle/>
          <a:p>
            <a:pPr indent="0" marL="0">
              <a:buNone/>
            </a:pPr>
            <a:r>
              <a:rPr lang="en-US" sz="1500" b="1" dirty="0">
                <a:solidFill>
                  <a:schemeClr val="bg1"/>
                </a:solidFill>
              </a:rPr>
              <a:t>Brand at the start of a URL = real site</a:t>
            </a:r>
            <a:endParaRPr lang="en-US" sz="1500" dirty="0"/>
          </a:p>
        </p:txBody>
      </p:sp>
      <p:sp>
        <p:nvSpPr>
          <p:cNvPr id="15" name="bar-PRE-3"/>
          <p:cNvSpPr/>
          <p:nvPr/>
        </p:nvSpPr>
        <p:spPr>
          <a:xfrm>
            <a:off x="548640" y="4892040"/>
            <a:ext cx="2020824" cy="384048"/>
          </a:xfrm>
          <a:prstGeom prst="rect">
            <a:avLst/>
          </a:prstGeom>
          <a:solidFill>
            <a:schemeClr val="accent1"/>
          </a:solidFill>
          <a:ln/>
        </p:spPr>
      </p:sp>
      <p:sp>
        <p:nvSpPr>
          <p:cNvPr id="16" name="Text 14"/>
          <p:cNvSpPr txBox="1"/>
          <p:nvPr/>
        </p:nvSpPr>
        <p:spPr>
          <a:xfrm>
            <a:off x="2642616" y="4846320"/>
            <a:ext cx="548640" cy="475488"/>
          </a:xfrm>
          <a:prstGeom prst="rect">
            <a:avLst/>
          </a:prstGeom>
          <a:noFill/>
          <a:ln/>
        </p:spPr>
        <p:txBody>
          <a:bodyPr wrap="square" lIns="0" tIns="0" rIns="0" bIns="0" rtlCol="0" anchor="ctr"/>
          <a:lstStyle/>
          <a:p>
            <a:pPr indent="0" marL="0">
              <a:buNone/>
            </a:pPr>
            <a:r>
              <a:rPr lang="en-US" sz="1600" b="1" dirty="0">
                <a:solidFill>
                  <a:schemeClr val="bg1"/>
                </a:solidFill>
              </a:rPr>
              <a:t>17%</a:t>
            </a:r>
            <a:endParaRPr lang="en-US" sz="1600" dirty="0"/>
          </a:p>
        </p:txBody>
      </p:sp>
      <p:sp>
        <p:nvSpPr>
          <p:cNvPr id="17" name="card"/>
          <p:cNvSpPr/>
          <p:nvPr/>
        </p:nvSpPr>
        <p:spPr>
          <a:xfrm>
            <a:off x="548640" y="5532120"/>
            <a:ext cx="5394960" cy="640080"/>
          </a:xfrm>
          <a:prstGeom prst="roundRect">
            <a:avLst>
              <a:gd name="adj" fmla="val 17143"/>
            </a:avLst>
          </a:prstGeom>
          <a:solidFill>
            <a:schemeClr val="tx2"/>
          </a:solidFill>
          <a:ln/>
        </p:spPr>
      </p:sp>
      <p:sp>
        <p:nvSpPr>
          <p:cNvPr id="18" name="Text 16"/>
          <p:cNvSpPr txBox="1"/>
          <p:nvPr/>
        </p:nvSpPr>
        <p:spPr>
          <a:xfrm>
            <a:off x="777240" y="5669280"/>
            <a:ext cx="5029200" cy="365760"/>
          </a:xfrm>
          <a:prstGeom prst="rect">
            <a:avLst/>
          </a:prstGeom>
          <a:noFill/>
          <a:ln/>
        </p:spPr>
        <p:txBody>
          <a:bodyPr wrap="square" lIns="0" tIns="0" rIns="0" bIns="0" rtlCol="0" anchor="t"/>
          <a:lstStyle/>
          <a:p>
            <a:pPr indent="0" marL="0">
              <a:buNone/>
            </a:pPr>
            <a:r>
              <a:rPr lang="en-US" sz="1400" b="1" dirty="0">
                <a:solidFill>
                  <a:schemeClr val="accent2"/>
                </a:solidFill>
              </a:rPr>
              <a:t>Biggest topic gains: </a:t>
            </a:r>
            <a:pPr indent="0" marL="0">
              <a:buNone/>
            </a:pPr>
            <a:r>
              <a:rPr lang="en-US" sz="1400" dirty="0">
                <a:solidFill>
                  <a:schemeClr val="bg1"/>
                </a:solidFill>
              </a:rPr>
              <a:t>links and websites 43% → 63% · impersonation 67% → 86%</a:t>
            </a:r>
            <a:endParaRPr lang="en-US" sz="1400" dirty="0"/>
          </a:p>
        </p:txBody>
      </p:sp>
      <p:sp>
        <p:nvSpPr>
          <p:cNvPr id="19" name="Text 17"/>
          <p:cNvSpPr txBox="1"/>
          <p:nvPr/>
        </p:nvSpPr>
        <p:spPr>
          <a:xfrm>
            <a:off x="6355080" y="1280160"/>
            <a:ext cx="5285232" cy="347472"/>
          </a:xfrm>
          <a:prstGeom prst="rect">
            <a:avLst/>
          </a:prstGeom>
          <a:noFill/>
          <a:ln/>
        </p:spPr>
        <p:txBody>
          <a:bodyPr wrap="square" lIns="0" tIns="0" rIns="0" bIns="0" rtlCol="0" anchor="ctr"/>
          <a:lstStyle/>
          <a:p>
            <a:pPr indent="0" marL="0">
              <a:buNone/>
            </a:pPr>
            <a:r>
              <a:rPr lang="en-US" sz="1400" b="1" dirty="0">
                <a:solidFill>
                  <a:schemeClr val="accent2"/>
                </a:solidFill>
              </a:rPr>
              <a:t>Our response</a:t>
            </a:r>
            <a:endParaRPr lang="en-US" sz="1400" dirty="0"/>
          </a:p>
        </p:txBody>
      </p:sp>
      <p:sp>
        <p:nvSpPr>
          <p:cNvPr id="20" name="card"/>
          <p:cNvSpPr/>
          <p:nvPr/>
        </p:nvSpPr>
        <p:spPr>
          <a:xfrm>
            <a:off x="6355080" y="1783080"/>
            <a:ext cx="5285232" cy="804672"/>
          </a:xfrm>
          <a:prstGeom prst="roundRect">
            <a:avLst>
              <a:gd name="adj" fmla="val 13636"/>
            </a:avLst>
          </a:prstGeom>
          <a:solidFill>
            <a:schemeClr val="tx2"/>
          </a:solidFill>
          <a:ln/>
        </p:spPr>
      </p:sp>
      <p:sp>
        <p:nvSpPr>
          <p:cNvPr id="21" name="Text 19"/>
          <p:cNvSpPr txBox="1"/>
          <p:nvPr/>
        </p:nvSpPr>
        <p:spPr>
          <a:xfrm>
            <a:off x="6537960" y="1874520"/>
            <a:ext cx="1691640" cy="621792"/>
          </a:xfrm>
          <a:prstGeom prst="rect">
            <a:avLst/>
          </a:prstGeom>
          <a:noFill/>
          <a:ln/>
        </p:spPr>
        <p:txBody>
          <a:bodyPr wrap="square" lIns="0" tIns="0" rIns="0" bIns="0" rtlCol="0" anchor="ctr"/>
          <a:lstStyle/>
          <a:p>
            <a:pPr indent="0" marL="0">
              <a:buNone/>
            </a:pPr>
            <a:r>
              <a:rPr lang="en-US" sz="1400" b="1" dirty="0">
                <a:solidFill>
                  <a:schemeClr val="bg1"/>
                </a:solidFill>
              </a:rPr>
              <a:t>Padlock = safe</a:t>
            </a:r>
            <a:endParaRPr lang="en-US" sz="1400" dirty="0"/>
          </a:p>
        </p:txBody>
      </p:sp>
      <p:sp>
        <p:nvSpPr>
          <p:cNvPr id="22" name="Text 20"/>
          <p:cNvSpPr txBox="1"/>
          <p:nvPr/>
        </p:nvSpPr>
        <p:spPr>
          <a:xfrm>
            <a:off x="8275320" y="1856232"/>
            <a:ext cx="3246120" cy="274320"/>
          </a:xfrm>
          <a:prstGeom prst="rect">
            <a:avLst/>
          </a:prstGeom>
          <a:noFill/>
          <a:ln/>
        </p:spPr>
        <p:txBody>
          <a:bodyPr wrap="square" lIns="0" tIns="0" rIns="0" bIns="0" rtlCol="0" anchor="t"/>
          <a:lstStyle/>
          <a:p>
            <a:pPr indent="0" marL="0">
              <a:buNone/>
            </a:pPr>
            <a:r>
              <a:rPr lang="en-US" sz="1300" b="1" dirty="0">
                <a:solidFill>
                  <a:schemeClr val="accent1"/>
                </a:solidFill>
              </a:rPr>
              <a:t>Gap: nothing covers it yet</a:t>
            </a:r>
            <a:endParaRPr lang="en-US" sz="1300" dirty="0"/>
          </a:p>
        </p:txBody>
      </p:sp>
      <p:sp>
        <p:nvSpPr>
          <p:cNvPr id="23" name="Text 21"/>
          <p:cNvSpPr txBox="1"/>
          <p:nvPr/>
        </p:nvSpPr>
        <p:spPr>
          <a:xfrm>
            <a:off x="8275320" y="2130552"/>
            <a:ext cx="3246120" cy="411480"/>
          </a:xfrm>
          <a:prstGeom prst="rect">
            <a:avLst/>
          </a:prstGeom>
          <a:noFill/>
          <a:ln/>
        </p:spPr>
        <p:txBody>
          <a:bodyPr wrap="square" lIns="0" tIns="0" rIns="0" bIns="0" rtlCol="0" anchor="t"/>
          <a:lstStyle/>
          <a:p>
            <a:pPr indent="0" marL="0">
              <a:buNone/>
            </a:pPr>
            <a:r>
              <a:rPr lang="en-US" sz="1200" dirty="0">
                <a:solidFill>
                  <a:schemeClr val="accent4"/>
                </a:solidFill>
              </a:rPr>
              <a:t>Next post: the padlock means encrypted, not trustworthy</a:t>
            </a:r>
            <a:endParaRPr lang="en-US" sz="1200" dirty="0"/>
          </a:p>
        </p:txBody>
      </p:sp>
      <p:sp>
        <p:nvSpPr>
          <p:cNvPr id="24" name="card"/>
          <p:cNvSpPr/>
          <p:nvPr/>
        </p:nvSpPr>
        <p:spPr>
          <a:xfrm>
            <a:off x="6355080" y="2697480"/>
            <a:ext cx="5285232" cy="804672"/>
          </a:xfrm>
          <a:prstGeom prst="roundRect">
            <a:avLst>
              <a:gd name="adj" fmla="val 13636"/>
            </a:avLst>
          </a:prstGeom>
          <a:solidFill>
            <a:schemeClr val="tx2"/>
          </a:solidFill>
          <a:ln/>
        </p:spPr>
      </p:sp>
      <p:sp>
        <p:nvSpPr>
          <p:cNvPr id="25" name="Text 23"/>
          <p:cNvSpPr txBox="1"/>
          <p:nvPr/>
        </p:nvSpPr>
        <p:spPr>
          <a:xfrm>
            <a:off x="6537960" y="2788920"/>
            <a:ext cx="1691640" cy="621792"/>
          </a:xfrm>
          <a:prstGeom prst="rect">
            <a:avLst/>
          </a:prstGeom>
          <a:noFill/>
          <a:ln/>
        </p:spPr>
        <p:txBody>
          <a:bodyPr wrap="square" lIns="0" tIns="0" rIns="0" bIns="0" rtlCol="0" anchor="ctr"/>
          <a:lstStyle/>
          <a:p>
            <a:pPr indent="0" marL="0">
              <a:buNone/>
            </a:pPr>
            <a:r>
              <a:rPr lang="en-US" sz="1400" b="1" dirty="0">
                <a:solidFill>
                  <a:schemeClr val="bg1"/>
                </a:solidFill>
              </a:rPr>
              <a:t>Sign-in prompts</a:t>
            </a:r>
            <a:endParaRPr lang="en-US" sz="1400" dirty="0"/>
          </a:p>
        </p:txBody>
      </p:sp>
      <p:sp>
        <p:nvSpPr>
          <p:cNvPr id="26" name="Text 24"/>
          <p:cNvSpPr txBox="1"/>
          <p:nvPr/>
        </p:nvSpPr>
        <p:spPr>
          <a:xfrm>
            <a:off x="8275320" y="2770632"/>
            <a:ext cx="3246120" cy="274320"/>
          </a:xfrm>
          <a:prstGeom prst="rect">
            <a:avLst/>
          </a:prstGeom>
          <a:noFill/>
          <a:ln/>
        </p:spPr>
        <p:txBody>
          <a:bodyPr wrap="square" lIns="0" tIns="0" rIns="0" bIns="0" rtlCol="0" anchor="t"/>
          <a:lstStyle/>
          <a:p>
            <a:pPr indent="0" marL="0">
              <a:buNone/>
            </a:pPr>
            <a:r>
              <a:rPr lang="en-US" sz="1300" b="1" dirty="0">
                <a:solidFill>
                  <a:schemeClr val="accent3"/>
                </a:solidFill>
              </a:rPr>
              <a:t>Covered by poster 4/4</a:t>
            </a:r>
            <a:endParaRPr lang="en-US" sz="1300" dirty="0"/>
          </a:p>
        </p:txBody>
      </p:sp>
      <p:sp>
        <p:nvSpPr>
          <p:cNvPr id="27" name="Text 25"/>
          <p:cNvSpPr txBox="1"/>
          <p:nvPr/>
        </p:nvSpPr>
        <p:spPr>
          <a:xfrm>
            <a:off x="8275320" y="3044952"/>
            <a:ext cx="3246120" cy="411480"/>
          </a:xfrm>
          <a:prstGeom prst="rect">
            <a:avLst/>
          </a:prstGeom>
          <a:noFill/>
          <a:ln/>
        </p:spPr>
        <p:txBody>
          <a:bodyPr wrap="square" lIns="0" tIns="0" rIns="0" bIns="0" rtlCol="0" anchor="t"/>
          <a:lstStyle/>
          <a:p>
            <a:pPr indent="0" marL="0">
              <a:buNone/>
            </a:pPr>
            <a:r>
              <a:rPr lang="en-US" sz="1200" dirty="0">
                <a:solidFill>
                  <a:schemeClr val="accent4"/>
                </a:solidFill>
              </a:rPr>
              <a:t>"Spotted something suspicious?": change your password, turn on 2FA</a:t>
            </a:r>
            <a:endParaRPr lang="en-US" sz="1200" dirty="0"/>
          </a:p>
        </p:txBody>
      </p:sp>
      <p:sp>
        <p:nvSpPr>
          <p:cNvPr id="28" name="card"/>
          <p:cNvSpPr/>
          <p:nvPr/>
        </p:nvSpPr>
        <p:spPr>
          <a:xfrm>
            <a:off x="6355080" y="3611880"/>
            <a:ext cx="5285232" cy="804672"/>
          </a:xfrm>
          <a:prstGeom prst="roundRect">
            <a:avLst>
              <a:gd name="adj" fmla="val 13636"/>
            </a:avLst>
          </a:prstGeom>
          <a:solidFill>
            <a:schemeClr val="tx2"/>
          </a:solidFill>
          <a:ln/>
        </p:spPr>
      </p:sp>
      <p:sp>
        <p:nvSpPr>
          <p:cNvPr id="29" name="Text 27"/>
          <p:cNvSpPr txBox="1"/>
          <p:nvPr/>
        </p:nvSpPr>
        <p:spPr>
          <a:xfrm>
            <a:off x="6537960" y="3703320"/>
            <a:ext cx="1691640" cy="621792"/>
          </a:xfrm>
          <a:prstGeom prst="rect">
            <a:avLst/>
          </a:prstGeom>
          <a:noFill/>
          <a:ln/>
        </p:spPr>
        <p:txBody>
          <a:bodyPr wrap="square" lIns="0" tIns="0" rIns="0" bIns="0" rtlCol="0" anchor="ctr"/>
          <a:lstStyle/>
          <a:p>
            <a:pPr indent="0" marL="0">
              <a:buNone/>
            </a:pPr>
            <a:r>
              <a:rPr lang="en-US" sz="1400" b="1" dirty="0">
                <a:solidFill>
                  <a:schemeClr val="bg1"/>
                </a:solidFill>
              </a:rPr>
              <a:t>Warning signs</a:t>
            </a:r>
            <a:endParaRPr lang="en-US" sz="1400" dirty="0"/>
          </a:p>
        </p:txBody>
      </p:sp>
      <p:sp>
        <p:nvSpPr>
          <p:cNvPr id="30" name="Text 28"/>
          <p:cNvSpPr txBox="1"/>
          <p:nvPr/>
        </p:nvSpPr>
        <p:spPr>
          <a:xfrm>
            <a:off x="8275320" y="3685032"/>
            <a:ext cx="3246120" cy="274320"/>
          </a:xfrm>
          <a:prstGeom prst="rect">
            <a:avLst/>
          </a:prstGeom>
          <a:noFill/>
          <a:ln/>
        </p:spPr>
        <p:txBody>
          <a:bodyPr wrap="square" lIns="0" tIns="0" rIns="0" bIns="0" rtlCol="0" anchor="t"/>
          <a:lstStyle/>
          <a:p>
            <a:pPr indent="0" marL="0">
              <a:buNone/>
            </a:pPr>
            <a:r>
              <a:rPr lang="en-US" sz="1300" b="1" dirty="0">
                <a:solidFill>
                  <a:schemeClr val="accent3"/>
                </a:solidFill>
              </a:rPr>
              <a:t>Covered by the email poster</a:t>
            </a:r>
            <a:endParaRPr lang="en-US" sz="1300" dirty="0"/>
          </a:p>
        </p:txBody>
      </p:sp>
      <p:sp>
        <p:nvSpPr>
          <p:cNvPr id="31" name="Text 29"/>
          <p:cNvSpPr txBox="1"/>
          <p:nvPr/>
        </p:nvSpPr>
        <p:spPr>
          <a:xfrm>
            <a:off x="8275320" y="3959352"/>
            <a:ext cx="3246120" cy="411480"/>
          </a:xfrm>
          <a:prstGeom prst="rect">
            <a:avLst/>
          </a:prstGeom>
          <a:noFill/>
          <a:ln/>
        </p:spPr>
        <p:txBody>
          <a:bodyPr wrap="square" lIns="0" tIns="0" rIns="0" bIns="0" rtlCol="0" anchor="t"/>
          <a:lstStyle/>
          <a:p>
            <a:pPr indent="0" marL="0">
              <a:buNone/>
            </a:pPr>
            <a:r>
              <a:rPr lang="en-US" sz="1200" dirty="0">
                <a:solidFill>
                  <a:schemeClr val="accent4"/>
                </a:solidFill>
              </a:rPr>
              <a:t>"It looks real. But is it?": urgency, links, attachments, data requests</a:t>
            </a:r>
            <a:endParaRPr lang="en-US" sz="1200" dirty="0"/>
          </a:p>
        </p:txBody>
      </p:sp>
      <p:sp>
        <p:nvSpPr>
          <p:cNvPr id="32" name="card"/>
          <p:cNvSpPr/>
          <p:nvPr/>
        </p:nvSpPr>
        <p:spPr>
          <a:xfrm>
            <a:off x="6355080" y="4526280"/>
            <a:ext cx="5285232" cy="804672"/>
          </a:xfrm>
          <a:prstGeom prst="roundRect">
            <a:avLst>
              <a:gd name="adj" fmla="val 13636"/>
            </a:avLst>
          </a:prstGeom>
          <a:solidFill>
            <a:schemeClr val="tx2"/>
          </a:solidFill>
          <a:ln/>
        </p:spPr>
      </p:sp>
      <p:sp>
        <p:nvSpPr>
          <p:cNvPr id="33" name="Text 31"/>
          <p:cNvSpPr txBox="1"/>
          <p:nvPr/>
        </p:nvSpPr>
        <p:spPr>
          <a:xfrm>
            <a:off x="6537960" y="4617720"/>
            <a:ext cx="1691640" cy="621792"/>
          </a:xfrm>
          <a:prstGeom prst="rect">
            <a:avLst/>
          </a:prstGeom>
          <a:noFill/>
          <a:ln/>
        </p:spPr>
        <p:txBody>
          <a:bodyPr wrap="square" lIns="0" tIns="0" rIns="0" bIns="0" rtlCol="0" anchor="ctr"/>
          <a:lstStyle/>
          <a:p>
            <a:pPr indent="0" marL="0">
              <a:buNone/>
            </a:pPr>
            <a:r>
              <a:rPr lang="en-US" sz="1400" b="1" dirty="0">
                <a:solidFill>
                  <a:schemeClr val="bg1"/>
                </a:solidFill>
              </a:rPr>
              <a:t>Brand in the URL</a:t>
            </a:r>
            <a:endParaRPr lang="en-US" sz="1400" dirty="0"/>
          </a:p>
        </p:txBody>
      </p:sp>
      <p:sp>
        <p:nvSpPr>
          <p:cNvPr id="34" name="Text 32"/>
          <p:cNvSpPr txBox="1"/>
          <p:nvPr/>
        </p:nvSpPr>
        <p:spPr>
          <a:xfrm>
            <a:off x="8275320" y="4599432"/>
            <a:ext cx="3246120" cy="274320"/>
          </a:xfrm>
          <a:prstGeom prst="rect">
            <a:avLst/>
          </a:prstGeom>
          <a:noFill/>
          <a:ln/>
        </p:spPr>
        <p:txBody>
          <a:bodyPr wrap="square" lIns="0" tIns="0" rIns="0" bIns="0" rtlCol="0" anchor="t"/>
          <a:lstStyle/>
          <a:p>
            <a:pPr indent="0" marL="0">
              <a:buNone/>
            </a:pPr>
            <a:r>
              <a:rPr lang="en-US" sz="1300" b="1" dirty="0">
                <a:solidFill>
                  <a:schemeClr val="accent3"/>
                </a:solidFill>
              </a:rPr>
              <a:t>Covered by an Instagram post</a:t>
            </a:r>
            <a:endParaRPr lang="en-US" sz="1300" dirty="0"/>
          </a:p>
        </p:txBody>
      </p:sp>
      <p:sp>
        <p:nvSpPr>
          <p:cNvPr id="35" name="Text 33"/>
          <p:cNvSpPr txBox="1"/>
          <p:nvPr/>
        </p:nvSpPr>
        <p:spPr>
          <a:xfrm>
            <a:off x="8275320" y="4873752"/>
            <a:ext cx="3246120" cy="411480"/>
          </a:xfrm>
          <a:prstGeom prst="rect">
            <a:avLst/>
          </a:prstGeom>
          <a:noFill/>
          <a:ln/>
        </p:spPr>
        <p:txBody>
          <a:bodyPr wrap="square" lIns="0" tIns="0" rIns="0" bIns="0" rtlCol="0" anchor="t"/>
          <a:lstStyle/>
          <a:p>
            <a:pPr indent="0" marL="0">
              <a:buNone/>
            </a:pPr>
            <a:r>
              <a:rPr lang="en-US" sz="1200" dirty="0">
                <a:solidFill>
                  <a:schemeClr val="accent4"/>
                </a:solidFill>
              </a:rPr>
              <a:t>"Verify before you click": open the app yourself, never the link</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Confidence outruns skill</a:t>
            </a:r>
            <a:endParaRPr lang="en-US" sz="3400" dirty="0"/>
          </a:p>
        </p:txBody>
      </p:sp>
      <p:sp>
        <p:nvSpPr>
          <p:cNvPr id="3" name="sticky"/>
          <p:cNvSpPr txBox="1"/>
          <p:nvPr/>
        </p:nvSpPr>
        <p:spPr>
          <a:xfrm rot="90000">
            <a:off x="7452360" y="457200"/>
            <a:ext cx="4206240" cy="45720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1200" b="1" dirty="0">
                <a:solidFill>
                  <a:schemeClr val="tx1"/>
                </a:solidFill>
              </a:rPr>
              <a:t>Demonstration of our analysis pipeline · live results to follow</a:t>
            </a:r>
            <a:endParaRPr lang="en-US" sz="1200" dirty="0"/>
          </a:p>
        </p:txBody>
      </p:sp>
      <p:sp>
        <p:nvSpPr>
          <p:cNvPr id="4" name="Text 2"/>
          <p:cNvSpPr txBox="1"/>
          <p:nvPr/>
        </p:nvSpPr>
        <p:spPr>
          <a:xfrm>
            <a:off x="548640" y="1280160"/>
            <a:ext cx="6035040" cy="347472"/>
          </a:xfrm>
          <a:prstGeom prst="rect">
            <a:avLst/>
          </a:prstGeom>
          <a:noFill/>
          <a:ln/>
        </p:spPr>
        <p:txBody>
          <a:bodyPr wrap="square" lIns="0" tIns="0" rIns="0" bIns="0" rtlCol="0" anchor="ctr"/>
          <a:lstStyle/>
          <a:p>
            <a:pPr indent="0" marL="0">
              <a:buNone/>
            </a:pPr>
            <a:r>
              <a:rPr lang="en-US" sz="1400" b="1" dirty="0">
                <a:solidFill>
                  <a:schemeClr val="bg1"/>
                </a:solidFill>
              </a:rPr>
              <a:t>Items correct out of 10: estimated vs actual</a:t>
            </a:r>
            <a:endParaRPr lang="en-US" sz="1400" dirty="0"/>
          </a:p>
        </p:txBody>
      </p:sp>
      <p:sp>
        <p:nvSpPr>
          <p:cNvPr id="5" name="legend-key"/>
          <p:cNvSpPr/>
          <p:nvPr/>
        </p:nvSpPr>
        <p:spPr>
          <a:xfrm>
            <a:off x="548640" y="1810512"/>
            <a:ext cx="201168" cy="201168"/>
          </a:xfrm>
          <a:prstGeom prst="rect">
            <a:avLst/>
          </a:prstGeom>
          <a:solidFill>
            <a:schemeClr val="bg2"/>
          </a:solidFill>
          <a:ln/>
        </p:spPr>
      </p:sp>
      <p:sp>
        <p:nvSpPr>
          <p:cNvPr id="6" name="Text 4"/>
          <p:cNvSpPr txBox="1"/>
          <p:nvPr/>
        </p:nvSpPr>
        <p:spPr>
          <a:xfrm>
            <a:off x="822960" y="1737360"/>
            <a:ext cx="1737360" cy="347472"/>
          </a:xfrm>
          <a:prstGeom prst="rect">
            <a:avLst/>
          </a:prstGeom>
          <a:noFill/>
          <a:ln/>
        </p:spPr>
        <p:txBody>
          <a:bodyPr wrap="square" lIns="0" tIns="0" rIns="0" bIns="0" rtlCol="0" anchor="ctr"/>
          <a:lstStyle/>
          <a:p>
            <a:pPr indent="0" marL="0">
              <a:buNone/>
            </a:pPr>
            <a:r>
              <a:rPr lang="en-US" sz="1300" dirty="0">
                <a:solidFill>
                  <a:schemeClr val="bg1"/>
                </a:solidFill>
              </a:rPr>
              <a:t>Estimated</a:t>
            </a:r>
            <a:endParaRPr lang="en-US" sz="1300" dirty="0"/>
          </a:p>
        </p:txBody>
      </p:sp>
      <p:sp>
        <p:nvSpPr>
          <p:cNvPr id="7" name="legend-key"/>
          <p:cNvSpPr/>
          <p:nvPr/>
        </p:nvSpPr>
        <p:spPr>
          <a:xfrm>
            <a:off x="1929384" y="1810512"/>
            <a:ext cx="201168" cy="201168"/>
          </a:xfrm>
          <a:prstGeom prst="rect">
            <a:avLst/>
          </a:prstGeom>
          <a:solidFill>
            <a:schemeClr val="accent2"/>
          </a:solidFill>
          <a:ln/>
        </p:spPr>
      </p:sp>
      <p:sp>
        <p:nvSpPr>
          <p:cNvPr id="8" name="Text 6"/>
          <p:cNvSpPr txBox="1"/>
          <p:nvPr/>
        </p:nvSpPr>
        <p:spPr>
          <a:xfrm>
            <a:off x="2203704" y="1737360"/>
            <a:ext cx="1737360" cy="347472"/>
          </a:xfrm>
          <a:prstGeom prst="rect">
            <a:avLst/>
          </a:prstGeom>
          <a:noFill/>
          <a:ln/>
        </p:spPr>
        <p:txBody>
          <a:bodyPr wrap="square" lIns="0" tIns="0" rIns="0" bIns="0" rtlCol="0" anchor="ctr"/>
          <a:lstStyle/>
          <a:p>
            <a:pPr indent="0" marL="0">
              <a:buNone/>
            </a:pPr>
            <a:r>
              <a:rPr lang="en-US" sz="1300" dirty="0">
                <a:solidFill>
                  <a:schemeClr val="bg1"/>
                </a:solidFill>
              </a:rPr>
              <a:t>Actual</a:t>
            </a:r>
            <a:endParaRPr lang="en-US" sz="1300" dirty="0"/>
          </a:p>
        </p:txBody>
      </p:sp>
      <p:sp>
        <p:nvSpPr>
          <p:cNvPr id="9" name="baseline"/>
          <p:cNvSpPr/>
          <p:nvPr/>
        </p:nvSpPr>
        <p:spPr>
          <a:xfrm>
            <a:off x="548640" y="5623560"/>
            <a:ext cx="6035040" cy="0"/>
          </a:xfrm>
          <a:prstGeom prst="line">
            <a:avLst/>
          </a:prstGeom>
          <a:noFill/>
          <a:ln w="19050">
            <a:solidFill>
              <a:schemeClr val="accent5"/>
            </a:solidFill>
            <a:prstDash val="solid"/>
          </a:ln>
        </p:spPr>
      </p:sp>
      <p:sp>
        <p:nvSpPr>
          <p:cNvPr id="10" name="col-PRE-est"/>
          <p:cNvSpPr/>
          <p:nvPr/>
        </p:nvSpPr>
        <p:spPr>
          <a:xfrm>
            <a:off x="914400" y="3309076"/>
            <a:ext cx="1005840" cy="2314484"/>
          </a:xfrm>
          <a:prstGeom prst="rect">
            <a:avLst/>
          </a:prstGeom>
          <a:solidFill>
            <a:schemeClr val="bg2"/>
          </a:solidFill>
          <a:ln/>
        </p:spPr>
      </p:sp>
      <p:sp>
        <p:nvSpPr>
          <p:cNvPr id="11" name="Text 9"/>
          <p:cNvSpPr txBox="1"/>
          <p:nvPr/>
        </p:nvSpPr>
        <p:spPr>
          <a:xfrm>
            <a:off x="914400" y="2897596"/>
            <a:ext cx="1005840" cy="365760"/>
          </a:xfrm>
          <a:prstGeom prst="rect">
            <a:avLst/>
          </a:prstGeom>
          <a:noFill/>
          <a:ln/>
        </p:spPr>
        <p:txBody>
          <a:bodyPr wrap="square" lIns="0" tIns="0" rIns="0" bIns="0" rtlCol="0" anchor="b"/>
          <a:lstStyle/>
          <a:p>
            <a:pPr algn="ctr" indent="0" marL="0">
              <a:buNone/>
            </a:pPr>
            <a:r>
              <a:rPr lang="en-US" sz="1600" b="1" dirty="0">
                <a:solidFill>
                  <a:schemeClr val="bg1"/>
                </a:solidFill>
              </a:rPr>
              <a:t>7.1</a:t>
            </a:r>
            <a:endParaRPr lang="en-US" sz="1600" dirty="0"/>
          </a:p>
        </p:txBody>
      </p:sp>
      <p:sp>
        <p:nvSpPr>
          <p:cNvPr id="12" name="col-PRE-act"/>
          <p:cNvSpPr/>
          <p:nvPr/>
        </p:nvSpPr>
        <p:spPr>
          <a:xfrm>
            <a:off x="2057400" y="3776518"/>
            <a:ext cx="1005840" cy="1847042"/>
          </a:xfrm>
          <a:prstGeom prst="rect">
            <a:avLst/>
          </a:prstGeom>
          <a:solidFill>
            <a:schemeClr val="accent2"/>
          </a:solidFill>
          <a:ln/>
        </p:spPr>
      </p:sp>
      <p:sp>
        <p:nvSpPr>
          <p:cNvPr id="13" name="Text 11"/>
          <p:cNvSpPr txBox="1"/>
          <p:nvPr/>
        </p:nvSpPr>
        <p:spPr>
          <a:xfrm>
            <a:off x="2057400" y="3365038"/>
            <a:ext cx="1005840" cy="365760"/>
          </a:xfrm>
          <a:prstGeom prst="rect">
            <a:avLst/>
          </a:prstGeom>
          <a:noFill/>
          <a:ln/>
        </p:spPr>
        <p:txBody>
          <a:bodyPr wrap="square" lIns="0" tIns="0" rIns="0" bIns="0" rtlCol="0" anchor="b"/>
          <a:lstStyle/>
          <a:p>
            <a:pPr algn="ctr" indent="0" marL="0">
              <a:buNone/>
            </a:pPr>
            <a:r>
              <a:rPr lang="en-US" sz="1600" b="1" dirty="0">
                <a:solidFill>
                  <a:schemeClr val="bg1"/>
                </a:solidFill>
              </a:rPr>
              <a:t>5.7</a:t>
            </a:r>
            <a:endParaRPr lang="en-US" sz="1600" dirty="0"/>
          </a:p>
        </p:txBody>
      </p:sp>
      <p:sp>
        <p:nvSpPr>
          <p:cNvPr id="14" name="Text 12"/>
          <p:cNvSpPr txBox="1"/>
          <p:nvPr/>
        </p:nvSpPr>
        <p:spPr>
          <a:xfrm>
            <a:off x="914400" y="5733288"/>
            <a:ext cx="2148840" cy="365760"/>
          </a:xfrm>
          <a:prstGeom prst="rect">
            <a:avLst/>
          </a:prstGeom>
          <a:noFill/>
          <a:ln/>
        </p:spPr>
        <p:txBody>
          <a:bodyPr wrap="square" lIns="0" tIns="0" rIns="0" bIns="0" rtlCol="0" anchor="t"/>
          <a:lstStyle/>
          <a:p>
            <a:pPr algn="ctr" indent="0" marL="0">
              <a:buNone/>
            </a:pPr>
            <a:r>
              <a:rPr lang="en-US" sz="1600" b="1" dirty="0">
                <a:solidFill>
                  <a:schemeClr val="accent4"/>
                </a:solidFill>
              </a:rPr>
              <a:t>PRE</a:t>
            </a:r>
            <a:endParaRPr lang="en-US" sz="1600" dirty="0"/>
          </a:p>
        </p:txBody>
      </p:sp>
      <p:sp>
        <p:nvSpPr>
          <p:cNvPr id="15" name="col-POST-est"/>
          <p:cNvSpPr/>
          <p:nvPr/>
        </p:nvSpPr>
        <p:spPr>
          <a:xfrm>
            <a:off x="3840480" y="3153263"/>
            <a:ext cx="1005840" cy="2470297"/>
          </a:xfrm>
          <a:prstGeom prst="rect">
            <a:avLst/>
          </a:prstGeom>
          <a:solidFill>
            <a:schemeClr val="bg2"/>
          </a:solidFill>
          <a:ln/>
        </p:spPr>
      </p:sp>
      <p:sp>
        <p:nvSpPr>
          <p:cNvPr id="16" name="Text 14"/>
          <p:cNvSpPr txBox="1"/>
          <p:nvPr/>
        </p:nvSpPr>
        <p:spPr>
          <a:xfrm>
            <a:off x="3840480" y="2741783"/>
            <a:ext cx="1005840" cy="365760"/>
          </a:xfrm>
          <a:prstGeom prst="rect">
            <a:avLst/>
          </a:prstGeom>
          <a:noFill/>
          <a:ln/>
        </p:spPr>
        <p:txBody>
          <a:bodyPr wrap="square" lIns="0" tIns="0" rIns="0" bIns="0" rtlCol="0" anchor="b"/>
          <a:lstStyle/>
          <a:p>
            <a:pPr algn="ctr" indent="0" marL="0">
              <a:buNone/>
            </a:pPr>
            <a:r>
              <a:rPr lang="en-US" sz="1600" b="1" dirty="0">
                <a:solidFill>
                  <a:schemeClr val="bg1"/>
                </a:solidFill>
              </a:rPr>
              <a:t>7.6</a:t>
            </a:r>
            <a:endParaRPr lang="en-US" sz="1600" dirty="0"/>
          </a:p>
        </p:txBody>
      </p:sp>
      <p:sp>
        <p:nvSpPr>
          <p:cNvPr id="17" name="col-POST-act"/>
          <p:cNvSpPr/>
          <p:nvPr/>
        </p:nvSpPr>
        <p:spPr>
          <a:xfrm>
            <a:off x="4983480" y="3292846"/>
            <a:ext cx="1005840" cy="2330714"/>
          </a:xfrm>
          <a:prstGeom prst="rect">
            <a:avLst/>
          </a:prstGeom>
          <a:solidFill>
            <a:schemeClr val="accent2"/>
          </a:solidFill>
          <a:ln/>
        </p:spPr>
      </p:sp>
      <p:sp>
        <p:nvSpPr>
          <p:cNvPr id="18" name="Text 16"/>
          <p:cNvSpPr txBox="1"/>
          <p:nvPr/>
        </p:nvSpPr>
        <p:spPr>
          <a:xfrm>
            <a:off x="4983480" y="2881366"/>
            <a:ext cx="1005840" cy="365760"/>
          </a:xfrm>
          <a:prstGeom prst="rect">
            <a:avLst/>
          </a:prstGeom>
          <a:noFill/>
          <a:ln/>
        </p:spPr>
        <p:txBody>
          <a:bodyPr wrap="square" lIns="0" tIns="0" rIns="0" bIns="0" rtlCol="0" anchor="b"/>
          <a:lstStyle/>
          <a:p>
            <a:pPr algn="ctr" indent="0" marL="0">
              <a:buNone/>
            </a:pPr>
            <a:r>
              <a:rPr lang="en-US" sz="1600" b="1" dirty="0">
                <a:solidFill>
                  <a:schemeClr val="bg1"/>
                </a:solidFill>
              </a:rPr>
              <a:t>7.2</a:t>
            </a:r>
            <a:endParaRPr lang="en-US" sz="1600" dirty="0"/>
          </a:p>
        </p:txBody>
      </p:sp>
      <p:sp>
        <p:nvSpPr>
          <p:cNvPr id="19" name="Text 17"/>
          <p:cNvSpPr txBox="1"/>
          <p:nvPr/>
        </p:nvSpPr>
        <p:spPr>
          <a:xfrm>
            <a:off x="3840480" y="5733288"/>
            <a:ext cx="2148840" cy="365760"/>
          </a:xfrm>
          <a:prstGeom prst="rect">
            <a:avLst/>
          </a:prstGeom>
          <a:noFill/>
          <a:ln/>
        </p:spPr>
        <p:txBody>
          <a:bodyPr wrap="square" lIns="0" tIns="0" rIns="0" bIns="0" rtlCol="0" anchor="t"/>
          <a:lstStyle/>
          <a:p>
            <a:pPr algn="ctr" indent="0" marL="0">
              <a:buNone/>
            </a:pPr>
            <a:r>
              <a:rPr lang="en-US" sz="1600" b="1" dirty="0">
                <a:solidFill>
                  <a:schemeClr val="accent4"/>
                </a:solidFill>
              </a:rPr>
              <a:t>POST</a:t>
            </a:r>
            <a:endParaRPr lang="en-US" sz="1600" dirty="0"/>
          </a:p>
        </p:txBody>
      </p:sp>
      <p:sp>
        <p:nvSpPr>
          <p:cNvPr id="20" name="card"/>
          <p:cNvSpPr/>
          <p:nvPr/>
        </p:nvSpPr>
        <p:spPr>
          <a:xfrm>
            <a:off x="7040880" y="1371600"/>
            <a:ext cx="4599432" cy="2103120"/>
          </a:xfrm>
          <a:prstGeom prst="roundRect">
            <a:avLst>
              <a:gd name="adj" fmla="val 5217"/>
            </a:avLst>
          </a:prstGeom>
          <a:solidFill>
            <a:schemeClr val="tx2"/>
          </a:solidFill>
          <a:ln/>
        </p:spPr>
      </p:sp>
      <p:sp>
        <p:nvSpPr>
          <p:cNvPr id="21" name="Text 19"/>
          <p:cNvSpPr txBox="1"/>
          <p:nvPr/>
        </p:nvSpPr>
        <p:spPr>
          <a:xfrm>
            <a:off x="7315200" y="1554480"/>
            <a:ext cx="4114800" cy="320040"/>
          </a:xfrm>
          <a:prstGeom prst="rect">
            <a:avLst/>
          </a:prstGeom>
          <a:noFill/>
          <a:ln/>
        </p:spPr>
        <p:txBody>
          <a:bodyPr wrap="square" lIns="0" tIns="0" rIns="0" bIns="0" rtlCol="0" anchor="t"/>
          <a:lstStyle/>
          <a:p>
            <a:pPr indent="0" marL="0">
              <a:buNone/>
            </a:pPr>
            <a:r>
              <a:rPr lang="en-US" sz="1400" b="1" dirty="0">
                <a:solidFill>
                  <a:schemeClr val="accent4"/>
                </a:solidFill>
              </a:rPr>
              <a:t>Overconfidence</a:t>
            </a:r>
            <a:endParaRPr lang="en-US" sz="1400" dirty="0"/>
          </a:p>
        </p:txBody>
      </p:sp>
      <p:sp>
        <p:nvSpPr>
          <p:cNvPr id="22" name="Text 20"/>
          <p:cNvSpPr txBox="1"/>
          <p:nvPr/>
        </p:nvSpPr>
        <p:spPr>
          <a:xfrm>
            <a:off x="7315200" y="1920240"/>
            <a:ext cx="4114800" cy="82296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+1.44</a:t>
            </a:r>
            <a:pPr indent="0" marL="0">
              <a:buNone/>
            </a:pPr>
            <a:r>
              <a:rPr lang="en-US" sz="4400" b="1" dirty="0">
                <a:solidFill>
                  <a:schemeClr val="accent4"/>
                </a:solidFill>
                <a:latin typeface="Arial" pitchFamily="34" charset="0"/>
                <a:ea typeface="Arial" pitchFamily="34" charset="-122"/>
                <a:cs typeface="Arial" pitchFamily="34" charset="-120"/>
              </a:rPr>
              <a:t>  →  </a:t>
            </a:r>
            <a:pPr indent="0" marL="0">
              <a:buNone/>
            </a:pPr>
            <a:r>
              <a:rPr lang="en-US" sz="4400" b="1" dirty="0">
                <a:solidFill>
                  <a:schemeClr val="accent2"/>
                </a:solidFill>
                <a:latin typeface="Arial" pitchFamily="34" charset="0"/>
                <a:ea typeface="Arial" pitchFamily="34" charset="-122"/>
                <a:cs typeface="Arial" pitchFamily="34" charset="-120"/>
              </a:rPr>
              <a:t>+0.43</a:t>
            </a:r>
            <a:endParaRPr lang="en-US" sz="4400" dirty="0"/>
          </a:p>
        </p:txBody>
      </p:sp>
      <p:sp>
        <p:nvSpPr>
          <p:cNvPr id="23" name="Text 21"/>
          <p:cNvSpPr txBox="1"/>
          <p:nvPr/>
        </p:nvSpPr>
        <p:spPr>
          <a:xfrm>
            <a:off x="7315200" y="2788920"/>
            <a:ext cx="4114800" cy="365760"/>
          </a:xfrm>
          <a:prstGeom prst="rect">
            <a:avLst/>
          </a:prstGeom>
          <a:noFill/>
          <a:ln/>
        </p:spPr>
        <p:txBody>
          <a:bodyPr wrap="square" lIns="0" tIns="0" rIns="0" bIns="0" rtlCol="0" anchor="t"/>
          <a:lstStyle/>
          <a:p>
            <a:pPr indent="0" marL="0">
              <a:buNone/>
            </a:pPr>
            <a:r>
              <a:rPr lang="en-US" sz="1400" dirty="0">
                <a:solidFill>
                  <a:schemeClr val="accent4"/>
                </a:solidFill>
              </a:rPr>
              <a:t>questions overestimated, PRE → POST</a:t>
            </a:r>
            <a:endParaRPr lang="en-US" sz="1400" dirty="0"/>
          </a:p>
        </p:txBody>
      </p:sp>
      <p:sp>
        <p:nvSpPr>
          <p:cNvPr id="24" name="card"/>
          <p:cNvSpPr/>
          <p:nvPr/>
        </p:nvSpPr>
        <p:spPr>
          <a:xfrm>
            <a:off x="7040880" y="3703320"/>
            <a:ext cx="4599432" cy="2103120"/>
          </a:xfrm>
          <a:prstGeom prst="roundRect">
            <a:avLst>
              <a:gd name="adj" fmla="val 5217"/>
            </a:avLst>
          </a:prstGeom>
          <a:solidFill>
            <a:schemeClr val="tx2"/>
          </a:solidFill>
          <a:ln/>
        </p:spPr>
      </p:sp>
      <p:sp>
        <p:nvSpPr>
          <p:cNvPr id="25" name="Text 23"/>
          <p:cNvSpPr txBox="1"/>
          <p:nvPr/>
        </p:nvSpPr>
        <p:spPr>
          <a:xfrm>
            <a:off x="7315200" y="3886200"/>
            <a:ext cx="4114800" cy="320040"/>
          </a:xfrm>
          <a:prstGeom prst="rect">
            <a:avLst/>
          </a:prstGeom>
          <a:noFill/>
          <a:ln/>
        </p:spPr>
        <p:txBody>
          <a:bodyPr wrap="square" lIns="0" tIns="0" rIns="0" bIns="0" rtlCol="0" anchor="t"/>
          <a:lstStyle/>
          <a:p>
            <a:pPr indent="0" marL="0">
              <a:buNone/>
            </a:pPr>
            <a:r>
              <a:rPr lang="en-US" sz="1400" b="1" dirty="0">
                <a:solidFill>
                  <a:schemeClr val="accent4"/>
                </a:solidFill>
              </a:rPr>
              <a:t>Does confidence predict skill?</a:t>
            </a:r>
            <a:endParaRPr lang="en-US" sz="1400" dirty="0"/>
          </a:p>
        </p:txBody>
      </p:sp>
      <p:sp>
        <p:nvSpPr>
          <p:cNvPr id="26" name="Text 24"/>
          <p:cNvSpPr txBox="1"/>
          <p:nvPr/>
        </p:nvSpPr>
        <p:spPr>
          <a:xfrm>
            <a:off x="7315200" y="4251960"/>
            <a:ext cx="4114800" cy="82296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ρ 0.15</a:t>
            </a:r>
            <a:pPr indent="0" marL="0">
              <a:buNone/>
            </a:pPr>
            <a:r>
              <a:rPr lang="en-US" sz="4400" b="1" dirty="0">
                <a:solidFill>
                  <a:schemeClr val="accent4"/>
                </a:solidFill>
                <a:latin typeface="Arial" pitchFamily="34" charset="0"/>
                <a:ea typeface="Arial" pitchFamily="34" charset="-122"/>
                <a:cs typeface="Arial" pitchFamily="34" charset="-120"/>
              </a:rPr>
              <a:t>  →  </a:t>
            </a:r>
            <a:pPr indent="0" marL="0">
              <a:buNone/>
            </a:pPr>
            <a:r>
              <a:rPr lang="en-US" sz="4400" b="1" dirty="0">
                <a:solidFill>
                  <a:schemeClr val="accent2"/>
                </a:solidFill>
                <a:latin typeface="Arial" pitchFamily="34" charset="0"/>
                <a:ea typeface="Arial" pitchFamily="34" charset="-122"/>
                <a:cs typeface="Arial" pitchFamily="34" charset="-120"/>
              </a:rPr>
              <a:t>0.41</a:t>
            </a:r>
            <a:endParaRPr lang="en-US" sz="4400" dirty="0"/>
          </a:p>
        </p:txBody>
      </p:sp>
      <p:sp>
        <p:nvSpPr>
          <p:cNvPr id="27" name="Text 25"/>
          <p:cNvSpPr txBox="1"/>
          <p:nvPr/>
        </p:nvSpPr>
        <p:spPr>
          <a:xfrm>
            <a:off x="7315200" y="5120640"/>
            <a:ext cx="4114800" cy="365760"/>
          </a:xfrm>
          <a:prstGeom prst="rect">
            <a:avLst/>
          </a:prstGeom>
          <a:noFill/>
          <a:ln/>
        </p:spPr>
        <p:txBody>
          <a:bodyPr wrap="square" lIns="0" tIns="0" rIns="0" bIns="0" rtlCol="0" anchor="t"/>
          <a:lstStyle/>
          <a:p>
            <a:pPr indent="0" marL="0">
              <a:buNone/>
            </a:pPr>
            <a:r>
              <a:rPr lang="en-US" sz="1400" dirty="0">
                <a:solidFill>
                  <a:schemeClr val="accent4"/>
                </a:solidFill>
              </a:rPr>
              <a:t>barely at first, much more after the campaign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Challenges and lessons learned</a:t>
            </a:r>
            <a:endParaRPr lang="en-US" sz="3400" dirty="0"/>
          </a:p>
        </p:txBody>
      </p:sp>
      <p:sp>
        <p:nvSpPr>
          <p:cNvPr id="3" name="Text 1"/>
          <p:cNvSpPr txBox="1"/>
          <p:nvPr/>
        </p:nvSpPr>
        <p:spPr>
          <a:xfrm>
            <a:off x="1280160" y="1325880"/>
            <a:ext cx="4206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CHALLENGE</a:t>
            </a:r>
            <a:endParaRPr lang="en-US" sz="1200" dirty="0"/>
          </a:p>
        </p:txBody>
      </p:sp>
      <p:sp>
        <p:nvSpPr>
          <p:cNvPr id="4" name="Text 2"/>
          <p:cNvSpPr txBox="1"/>
          <p:nvPr/>
        </p:nvSpPr>
        <p:spPr>
          <a:xfrm>
            <a:off x="6035040" y="1325880"/>
            <a:ext cx="54864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WHAT WE LEARNED / CHANGED</a:t>
            </a:r>
            <a:endParaRPr lang="en-US" sz="1200" dirty="0"/>
          </a:p>
        </p:txBody>
      </p:sp>
      <p:sp>
        <p:nvSpPr>
          <p:cNvPr id="5" name="card"/>
          <p:cNvSpPr/>
          <p:nvPr/>
        </p:nvSpPr>
        <p:spPr>
          <a:xfrm>
            <a:off x="548640" y="1737360"/>
            <a:ext cx="11091672" cy="777240"/>
          </a:xfrm>
          <a:prstGeom prst="roundRect">
            <a:avLst>
              <a:gd name="adj" fmla="val 14118"/>
            </a:avLst>
          </a:prstGeom>
          <a:solidFill>
            <a:schemeClr val="tx2"/>
          </a:solidFill>
          <a:ln/>
        </p:spPr>
      </p:sp>
      <p:sp>
        <p:nvSpPr>
          <p:cNvPr id="6" name="icon-bg-users"/>
          <p:cNvSpPr/>
          <p:nvPr/>
        </p:nvSpPr>
        <p:spPr>
          <a:xfrm>
            <a:off x="685800" y="1874520"/>
            <a:ext cx="502920" cy="502920"/>
          </a:xfrm>
          <a:prstGeom prst="ellipse">
            <a:avLst/>
          </a:prstGeom>
          <a:solidFill>
            <a:schemeClr val="accent5"/>
          </a:solidFill>
          <a:ln/>
        </p:spPr>
      </p:sp>
      <p:pic>
        <p:nvPicPr>
          <p:cNvPr id="7" name="icon-users" descr="preencoded.png">    </p:cNvPr>
          <p:cNvPicPr>
            <a:picLocks noChangeAspect="1"/>
          </p:cNvPicPr>
          <p:nvPr/>
        </p:nvPicPr>
        <p:blipFill>
          <a:blip r:embed="rId1"/>
          <a:stretch>
            <a:fillRect/>
          </a:stretch>
        </p:blipFill>
        <p:spPr>
          <a:xfrm>
            <a:off x="796442" y="1985162"/>
            <a:ext cx="281635" cy="281635"/>
          </a:xfrm>
          <a:prstGeom prst="rect">
            <a:avLst/>
          </a:prstGeom>
        </p:spPr>
      </p:pic>
      <p:sp>
        <p:nvSpPr>
          <p:cNvPr id="8" name="Text 5"/>
          <p:cNvSpPr txBox="1"/>
          <p:nvPr/>
        </p:nvSpPr>
        <p:spPr>
          <a:xfrm>
            <a:off x="1280160" y="1828800"/>
            <a:ext cx="4480560" cy="594360"/>
          </a:xfrm>
          <a:prstGeom prst="rect">
            <a:avLst/>
          </a:prstGeom>
          <a:noFill/>
          <a:ln/>
        </p:spPr>
        <p:txBody>
          <a:bodyPr wrap="square" lIns="0" tIns="0" rIns="0" bIns="0" rtlCol="0" anchor="ctr"/>
          <a:lstStyle/>
          <a:p>
            <a:pPr indent="0" marL="0">
              <a:buNone/>
            </a:pPr>
            <a:r>
              <a:rPr lang="en-US" sz="1500" b="1" dirty="0">
                <a:solidFill>
                  <a:schemeClr val="bg1"/>
                </a:solidFill>
              </a:rPr>
              <a:t>A new Instagram account has almost no reach (2 followers)</a:t>
            </a:r>
            <a:endParaRPr lang="en-US" sz="1500" dirty="0"/>
          </a:p>
        </p:txBody>
      </p:sp>
      <p:sp>
        <p:nvSpPr>
          <p:cNvPr id="9" name="Text 6"/>
          <p:cNvSpPr txBox="1"/>
          <p:nvPr/>
        </p:nvSpPr>
        <p:spPr>
          <a:xfrm>
            <a:off x="6035040" y="1828800"/>
            <a:ext cx="5486400" cy="594360"/>
          </a:xfrm>
          <a:prstGeom prst="rect">
            <a:avLst/>
          </a:prstGeom>
          <a:noFill/>
          <a:ln/>
        </p:spPr>
        <p:txBody>
          <a:bodyPr wrap="square" lIns="0" tIns="0" rIns="0" bIns="0" rtlCol="0" anchor="ctr"/>
          <a:lstStyle/>
          <a:p>
            <a:pPr indent="0" marL="0">
              <a:buNone/>
            </a:pPr>
            <a:r>
              <a:rPr lang="en-US" sz="1400" dirty="0">
                <a:solidFill>
                  <a:schemeClr val="accent4"/>
                </a:solidFill>
              </a:rPr>
              <a:t>Content alone isn't enough. Distribution needs a plan: group chats, collaborations, peak-time posting</a:t>
            </a:r>
            <a:endParaRPr lang="en-US" sz="1400" dirty="0"/>
          </a:p>
        </p:txBody>
      </p:sp>
      <p:sp>
        <p:nvSpPr>
          <p:cNvPr id="10" name="card"/>
          <p:cNvSpPr/>
          <p:nvPr/>
        </p:nvSpPr>
        <p:spPr>
          <a:xfrm>
            <a:off x="548640" y="2624328"/>
            <a:ext cx="11091672" cy="777240"/>
          </a:xfrm>
          <a:prstGeom prst="roundRect">
            <a:avLst>
              <a:gd name="adj" fmla="val 14118"/>
            </a:avLst>
          </a:prstGeom>
          <a:solidFill>
            <a:schemeClr val="tx1"/>
          </a:solidFill>
          <a:ln/>
        </p:spPr>
      </p:sp>
      <p:sp>
        <p:nvSpPr>
          <p:cNvPr id="11" name="icon-bg-chart"/>
          <p:cNvSpPr/>
          <p:nvPr/>
        </p:nvSpPr>
        <p:spPr>
          <a:xfrm>
            <a:off x="685800" y="2761488"/>
            <a:ext cx="502920" cy="502920"/>
          </a:xfrm>
          <a:prstGeom prst="ellipse">
            <a:avLst/>
          </a:prstGeom>
          <a:solidFill>
            <a:schemeClr val="accent5"/>
          </a:solidFill>
          <a:ln/>
        </p:spPr>
      </p:sp>
      <p:pic>
        <p:nvPicPr>
          <p:cNvPr id="12" name="icon-chart" descr="preencoded.png">    </p:cNvPr>
          <p:cNvPicPr>
            <a:picLocks noChangeAspect="1"/>
          </p:cNvPicPr>
          <p:nvPr/>
        </p:nvPicPr>
        <p:blipFill>
          <a:blip r:embed="rId2"/>
          <a:stretch>
            <a:fillRect/>
          </a:stretch>
        </p:blipFill>
        <p:spPr>
          <a:xfrm>
            <a:off x="796442" y="2872130"/>
            <a:ext cx="281635" cy="281635"/>
          </a:xfrm>
          <a:prstGeom prst="rect">
            <a:avLst/>
          </a:prstGeom>
        </p:spPr>
      </p:pic>
      <p:sp>
        <p:nvSpPr>
          <p:cNvPr id="13" name="Text 9"/>
          <p:cNvSpPr txBox="1"/>
          <p:nvPr/>
        </p:nvSpPr>
        <p:spPr>
          <a:xfrm>
            <a:off x="1280160" y="2715768"/>
            <a:ext cx="4480560" cy="594360"/>
          </a:xfrm>
          <a:prstGeom prst="rect">
            <a:avLst/>
          </a:prstGeom>
          <a:noFill/>
          <a:ln/>
        </p:spPr>
        <p:txBody>
          <a:bodyPr wrap="square" lIns="0" tIns="0" rIns="0" bIns="0" rtlCol="0" anchor="ctr"/>
          <a:lstStyle/>
          <a:p>
            <a:pPr indent="0" marL="0">
              <a:buNone/>
            </a:pPr>
            <a:r>
              <a:rPr lang="en-US" sz="1500" b="1" dirty="0">
                <a:solidFill>
                  <a:schemeClr val="bg1"/>
                </a:solidFill>
              </a:rPr>
              <a:t>Getting 30+ participants to do both surveys</a:t>
            </a:r>
            <a:endParaRPr lang="en-US" sz="1500" dirty="0"/>
          </a:p>
        </p:txBody>
      </p:sp>
      <p:sp>
        <p:nvSpPr>
          <p:cNvPr id="14" name="Text 10"/>
          <p:cNvSpPr txBox="1"/>
          <p:nvPr/>
        </p:nvSpPr>
        <p:spPr>
          <a:xfrm>
            <a:off x="6035040" y="2715768"/>
            <a:ext cx="5486400" cy="594360"/>
          </a:xfrm>
          <a:prstGeom prst="rect">
            <a:avLst/>
          </a:prstGeom>
          <a:noFill/>
          <a:ln/>
        </p:spPr>
        <p:txBody>
          <a:bodyPr wrap="square" lIns="0" tIns="0" rIns="0" bIns="0" rtlCol="0" anchor="ctr"/>
          <a:lstStyle/>
          <a:p>
            <a:pPr indent="0" marL="0">
              <a:buNone/>
            </a:pPr>
            <a:r>
              <a:rPr lang="en-US" sz="1400" dirty="0">
                <a:solidFill>
                  <a:schemeClr val="accent4"/>
                </a:solidFill>
              </a:rPr>
              <a:t>Keep it short (6–7 min), put a QR code on every poster, send a reminder for the POST survey</a:t>
            </a:r>
            <a:endParaRPr lang="en-US" sz="1400" dirty="0"/>
          </a:p>
        </p:txBody>
      </p:sp>
      <p:sp>
        <p:nvSpPr>
          <p:cNvPr id="15" name="card"/>
          <p:cNvSpPr/>
          <p:nvPr/>
        </p:nvSpPr>
        <p:spPr>
          <a:xfrm>
            <a:off x="548640" y="3511296"/>
            <a:ext cx="11091672" cy="777240"/>
          </a:xfrm>
          <a:prstGeom prst="roundRect">
            <a:avLst>
              <a:gd name="adj" fmla="val 14118"/>
            </a:avLst>
          </a:prstGeom>
          <a:solidFill>
            <a:schemeClr val="tx2"/>
          </a:solidFill>
          <a:ln/>
        </p:spPr>
      </p:sp>
      <p:sp>
        <p:nvSpPr>
          <p:cNvPr id="16" name="icon-bg-key"/>
          <p:cNvSpPr/>
          <p:nvPr/>
        </p:nvSpPr>
        <p:spPr>
          <a:xfrm>
            <a:off x="685800" y="3648456"/>
            <a:ext cx="502920" cy="502920"/>
          </a:xfrm>
          <a:prstGeom prst="ellipse">
            <a:avLst/>
          </a:prstGeom>
          <a:solidFill>
            <a:schemeClr val="accent5"/>
          </a:solidFill>
          <a:ln/>
        </p:spPr>
      </p:sp>
      <p:pic>
        <p:nvPicPr>
          <p:cNvPr id="17" name="icon-key" descr="preencoded.png">    </p:cNvPr>
          <p:cNvPicPr>
            <a:picLocks noChangeAspect="1"/>
          </p:cNvPicPr>
          <p:nvPr/>
        </p:nvPicPr>
        <p:blipFill>
          <a:blip r:embed="rId3"/>
          <a:stretch>
            <a:fillRect/>
          </a:stretch>
        </p:blipFill>
        <p:spPr>
          <a:xfrm>
            <a:off x="796442" y="3759098"/>
            <a:ext cx="281635" cy="281635"/>
          </a:xfrm>
          <a:prstGeom prst="rect">
            <a:avLst/>
          </a:prstGeom>
        </p:spPr>
      </p:pic>
      <p:sp>
        <p:nvSpPr>
          <p:cNvPr id="18" name="Text 13"/>
          <p:cNvSpPr txBox="1"/>
          <p:nvPr/>
        </p:nvSpPr>
        <p:spPr>
          <a:xfrm>
            <a:off x="1280160" y="3602736"/>
            <a:ext cx="4480560" cy="594360"/>
          </a:xfrm>
          <a:prstGeom prst="rect">
            <a:avLst/>
          </a:prstGeom>
          <a:noFill/>
          <a:ln/>
        </p:spPr>
        <p:txBody>
          <a:bodyPr wrap="square" lIns="0" tIns="0" rIns="0" bIns="0" rtlCol="0" anchor="ctr"/>
          <a:lstStyle/>
          <a:p>
            <a:pPr indent="0" marL="0">
              <a:buNone/>
            </a:pPr>
            <a:r>
              <a:rPr lang="en-US" sz="1500" b="1" dirty="0">
                <a:solidFill>
                  <a:schemeClr val="bg1"/>
                </a:solidFill>
              </a:rPr>
              <a:t>Matching PRE and POST without names</a:t>
            </a:r>
            <a:endParaRPr lang="en-US" sz="1500" dirty="0"/>
          </a:p>
        </p:txBody>
      </p:sp>
      <p:sp>
        <p:nvSpPr>
          <p:cNvPr id="19" name="Text 14"/>
          <p:cNvSpPr txBox="1"/>
          <p:nvPr/>
        </p:nvSpPr>
        <p:spPr>
          <a:xfrm>
            <a:off x="6035040" y="3602736"/>
            <a:ext cx="5486400" cy="594360"/>
          </a:xfrm>
          <a:prstGeom prst="rect">
            <a:avLst/>
          </a:prstGeom>
          <a:noFill/>
          <a:ln/>
        </p:spPr>
        <p:txBody>
          <a:bodyPr wrap="square" lIns="0" tIns="0" rIns="0" bIns="0" rtlCol="0" anchor="ctr"/>
          <a:lstStyle/>
          <a:p>
            <a:pPr indent="0" marL="0">
              <a:buNone/>
            </a:pPr>
            <a:r>
              <a:rPr lang="en-US" sz="1400" dirty="0">
                <a:solidFill>
                  <a:schemeClr val="accent4"/>
                </a:solidFill>
              </a:rPr>
              <a:t>A random code with a built-in check character catches typos when people re-enter it</a:t>
            </a:r>
            <a:endParaRPr lang="en-US" sz="1400" dirty="0"/>
          </a:p>
        </p:txBody>
      </p:sp>
      <p:sp>
        <p:nvSpPr>
          <p:cNvPr id="20" name="card"/>
          <p:cNvSpPr/>
          <p:nvPr/>
        </p:nvSpPr>
        <p:spPr>
          <a:xfrm>
            <a:off x="548640" y="4398264"/>
            <a:ext cx="11091672" cy="777240"/>
          </a:xfrm>
          <a:prstGeom prst="roundRect">
            <a:avLst>
              <a:gd name="adj" fmla="val 14118"/>
            </a:avLst>
          </a:prstGeom>
          <a:solidFill>
            <a:schemeClr val="tx1"/>
          </a:solidFill>
          <a:ln/>
        </p:spPr>
      </p:sp>
      <p:sp>
        <p:nvSpPr>
          <p:cNvPr id="21" name="icon-bg-eyeOff"/>
          <p:cNvSpPr/>
          <p:nvPr/>
        </p:nvSpPr>
        <p:spPr>
          <a:xfrm>
            <a:off x="685800" y="4535424"/>
            <a:ext cx="502920" cy="502920"/>
          </a:xfrm>
          <a:prstGeom prst="ellipse">
            <a:avLst/>
          </a:prstGeom>
          <a:solidFill>
            <a:schemeClr val="accent5"/>
          </a:solidFill>
          <a:ln/>
        </p:spPr>
      </p:sp>
      <p:pic>
        <p:nvPicPr>
          <p:cNvPr id="22" name="icon-eyeOff" descr="preencoded.png">    </p:cNvPr>
          <p:cNvPicPr>
            <a:picLocks noChangeAspect="1"/>
          </p:cNvPicPr>
          <p:nvPr/>
        </p:nvPicPr>
        <p:blipFill>
          <a:blip r:embed="rId4"/>
          <a:stretch>
            <a:fillRect/>
          </a:stretch>
        </p:blipFill>
        <p:spPr>
          <a:xfrm>
            <a:off x="796442" y="4646066"/>
            <a:ext cx="281635" cy="281635"/>
          </a:xfrm>
          <a:prstGeom prst="rect">
            <a:avLst/>
          </a:prstGeom>
        </p:spPr>
      </p:pic>
      <p:sp>
        <p:nvSpPr>
          <p:cNvPr id="23" name="Text 17"/>
          <p:cNvSpPr txBox="1"/>
          <p:nvPr/>
        </p:nvSpPr>
        <p:spPr>
          <a:xfrm>
            <a:off x="1280160" y="4489704"/>
            <a:ext cx="4480560" cy="594360"/>
          </a:xfrm>
          <a:prstGeom prst="rect">
            <a:avLst/>
          </a:prstGeom>
          <a:noFill/>
          <a:ln/>
        </p:spPr>
        <p:txBody>
          <a:bodyPr wrap="square" lIns="0" tIns="0" rIns="0" bIns="0" rtlCol="0" anchor="ctr"/>
          <a:lstStyle/>
          <a:p>
            <a:pPr indent="0" marL="0">
              <a:buNone/>
            </a:pPr>
            <a:r>
              <a:rPr lang="en-US" sz="1500" b="1" dirty="0">
                <a:solidFill>
                  <a:schemeClr val="bg1"/>
                </a:solidFill>
              </a:rPr>
              <a:t>The PRE survey could teach the answers</a:t>
            </a:r>
            <a:endParaRPr lang="en-US" sz="1500" dirty="0"/>
          </a:p>
        </p:txBody>
      </p:sp>
      <p:sp>
        <p:nvSpPr>
          <p:cNvPr id="24" name="Text 18"/>
          <p:cNvSpPr txBox="1"/>
          <p:nvPr/>
        </p:nvSpPr>
        <p:spPr>
          <a:xfrm>
            <a:off x="6035040" y="4489704"/>
            <a:ext cx="5486400" cy="594360"/>
          </a:xfrm>
          <a:prstGeom prst="rect">
            <a:avLst/>
          </a:prstGeom>
          <a:noFill/>
          <a:ln/>
        </p:spPr>
        <p:txBody>
          <a:bodyPr wrap="square" lIns="0" tIns="0" rIns="0" bIns="0" rtlCol="0" anchor="ctr"/>
          <a:lstStyle/>
          <a:p>
            <a:pPr indent="0" marL="0">
              <a:buNone/>
            </a:pPr>
            <a:r>
              <a:rPr lang="en-US" sz="1400" dirty="0">
                <a:solidFill>
                  <a:schemeClr val="accent4"/>
                </a:solidFill>
              </a:rPr>
              <a:t>No answers or scores are shown until the study ends</a:t>
            </a:r>
            <a:endParaRPr lang="en-US" sz="1400" dirty="0"/>
          </a:p>
        </p:txBody>
      </p:sp>
      <p:sp>
        <p:nvSpPr>
          <p:cNvPr id="25" name="card"/>
          <p:cNvSpPr/>
          <p:nvPr/>
        </p:nvSpPr>
        <p:spPr>
          <a:xfrm>
            <a:off x="548640" y="5285232"/>
            <a:ext cx="11091672" cy="777240"/>
          </a:xfrm>
          <a:prstGeom prst="roundRect">
            <a:avLst>
              <a:gd name="adj" fmla="val 14118"/>
            </a:avLst>
          </a:prstGeom>
          <a:solidFill>
            <a:schemeClr val="tx2"/>
          </a:solidFill>
          <a:ln/>
        </p:spPr>
      </p:sp>
      <p:sp>
        <p:nvSpPr>
          <p:cNvPr id="26" name="icon-bg-shield"/>
          <p:cNvSpPr/>
          <p:nvPr/>
        </p:nvSpPr>
        <p:spPr>
          <a:xfrm>
            <a:off x="685800" y="5422392"/>
            <a:ext cx="502920" cy="502920"/>
          </a:xfrm>
          <a:prstGeom prst="ellipse">
            <a:avLst/>
          </a:prstGeom>
          <a:solidFill>
            <a:schemeClr val="accent5"/>
          </a:solidFill>
          <a:ln/>
        </p:spPr>
      </p:sp>
      <p:pic>
        <p:nvPicPr>
          <p:cNvPr id="27" name="icon-shield" descr="preencoded.png">    </p:cNvPr>
          <p:cNvPicPr>
            <a:picLocks noChangeAspect="1"/>
          </p:cNvPicPr>
          <p:nvPr/>
        </p:nvPicPr>
        <p:blipFill>
          <a:blip r:embed="rId5"/>
          <a:stretch>
            <a:fillRect/>
          </a:stretch>
        </p:blipFill>
        <p:spPr>
          <a:xfrm>
            <a:off x="796442" y="5533034"/>
            <a:ext cx="281635" cy="281635"/>
          </a:xfrm>
          <a:prstGeom prst="rect">
            <a:avLst/>
          </a:prstGeom>
        </p:spPr>
      </p:pic>
      <p:sp>
        <p:nvSpPr>
          <p:cNvPr id="28" name="Text 21"/>
          <p:cNvSpPr txBox="1"/>
          <p:nvPr/>
        </p:nvSpPr>
        <p:spPr>
          <a:xfrm>
            <a:off x="1280160" y="5376672"/>
            <a:ext cx="4480560" cy="594360"/>
          </a:xfrm>
          <a:prstGeom prst="rect">
            <a:avLst/>
          </a:prstGeom>
          <a:noFill/>
          <a:ln/>
        </p:spPr>
        <p:txBody>
          <a:bodyPr wrap="square" lIns="0" tIns="0" rIns="0" bIns="0" rtlCol="0" anchor="ctr"/>
          <a:lstStyle/>
          <a:p>
            <a:pPr indent="0" marL="0">
              <a:buNone/>
            </a:pPr>
            <a:r>
              <a:rPr lang="en-US" sz="1500" b="1" dirty="0">
                <a:solidFill>
                  <a:schemeClr val="bg1"/>
                </a:solidFill>
              </a:rPr>
              <a:t>Ethics before data</a:t>
            </a:r>
            <a:endParaRPr lang="en-US" sz="1500" dirty="0"/>
          </a:p>
        </p:txBody>
      </p:sp>
      <p:sp>
        <p:nvSpPr>
          <p:cNvPr id="29" name="Text 22"/>
          <p:cNvSpPr txBox="1"/>
          <p:nvPr/>
        </p:nvSpPr>
        <p:spPr>
          <a:xfrm>
            <a:off x="6035040" y="5376672"/>
            <a:ext cx="5486400" cy="594360"/>
          </a:xfrm>
          <a:prstGeom prst="rect">
            <a:avLst/>
          </a:prstGeom>
          <a:noFill/>
          <a:ln/>
        </p:spPr>
        <p:txBody>
          <a:bodyPr wrap="square" lIns="0" tIns="0" rIns="0" bIns="0" rtlCol="0" anchor="ctr"/>
          <a:lstStyle/>
          <a:p>
            <a:pPr indent="0" marL="0">
              <a:buNone/>
            </a:pPr>
            <a:r>
              <a:rPr lang="en-US" sz="1400" dirty="0">
                <a:solidFill>
                  <a:schemeClr val="accent4"/>
                </a:solidFill>
              </a:rPr>
              <a:t>Consent, anonymity and withdrawal were built in first, and approval comes before launch</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Next steps and recommendations</a:t>
            </a:r>
            <a:endParaRPr lang="en-US" sz="3400" dirty="0"/>
          </a:p>
        </p:txBody>
      </p:sp>
      <p:sp>
        <p:nvSpPr>
          <p:cNvPr id="3" name="rec-number"/>
          <p:cNvSpPr txBox="1"/>
          <p:nvPr/>
        </p:nvSpPr>
        <p:spPr>
          <a:xfrm>
            <a:off x="548640" y="137160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325880" y="1353312"/>
            <a:ext cx="5120640" cy="347472"/>
          </a:xfrm>
          <a:prstGeom prst="rect">
            <a:avLst/>
          </a:prstGeom>
          <a:noFill/>
          <a:ln/>
        </p:spPr>
        <p:txBody>
          <a:bodyPr wrap="square" lIns="0" tIns="0" rIns="0" bIns="0" rtlCol="0" anchor="t"/>
          <a:lstStyle/>
          <a:p>
            <a:pPr indent="0" marL="0">
              <a:buNone/>
            </a:pPr>
            <a:r>
              <a:rPr lang="en-US" sz="1700" b="1" dirty="0">
                <a:solidFill>
                  <a:schemeClr val="bg1"/>
                </a:solidFill>
              </a:rPr>
              <a:t>Grow reach</a:t>
            </a:r>
            <a:endParaRPr lang="en-US" sz="1700" dirty="0"/>
          </a:p>
        </p:txBody>
      </p:sp>
      <p:sp>
        <p:nvSpPr>
          <p:cNvPr id="5" name="Text 3"/>
          <p:cNvSpPr txBox="1"/>
          <p:nvPr/>
        </p:nvSpPr>
        <p:spPr>
          <a:xfrm>
            <a:off x="1325880" y="1700784"/>
            <a:ext cx="5120640" cy="548640"/>
          </a:xfrm>
          <a:prstGeom prst="rect">
            <a:avLst/>
          </a:prstGeom>
          <a:noFill/>
          <a:ln/>
        </p:spPr>
        <p:txBody>
          <a:bodyPr wrap="square" lIns="0" tIns="0" rIns="0" bIns="0" rtlCol="0" anchor="t"/>
          <a:lstStyle/>
          <a:p>
            <a:pPr indent="0" marL="0">
              <a:buNone/>
            </a:pPr>
            <a:r>
              <a:rPr lang="en-US" sz="1400" dirty="0">
                <a:solidFill>
                  <a:schemeClr val="accent4"/>
                </a:solidFill>
              </a:rPr>
              <a:t>Cross-post to class group chats; collaborate with society and department accounts; use polls</a:t>
            </a:r>
            <a:endParaRPr lang="en-US" sz="1400" dirty="0"/>
          </a:p>
        </p:txBody>
      </p:sp>
      <p:sp>
        <p:nvSpPr>
          <p:cNvPr id="6" name="rec-number"/>
          <p:cNvSpPr txBox="1"/>
          <p:nvPr/>
        </p:nvSpPr>
        <p:spPr>
          <a:xfrm>
            <a:off x="548640" y="2322576"/>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5"/>
          <p:cNvSpPr txBox="1"/>
          <p:nvPr/>
        </p:nvSpPr>
        <p:spPr>
          <a:xfrm>
            <a:off x="1325880" y="2304288"/>
            <a:ext cx="5120640" cy="347472"/>
          </a:xfrm>
          <a:prstGeom prst="rect">
            <a:avLst/>
          </a:prstGeom>
          <a:noFill/>
          <a:ln/>
        </p:spPr>
        <p:txBody>
          <a:bodyPr wrap="square" lIns="0" tIns="0" rIns="0" bIns="0" rtlCol="0" anchor="t"/>
          <a:lstStyle/>
          <a:p>
            <a:pPr indent="0" marL="0">
              <a:buNone/>
            </a:pPr>
            <a:r>
              <a:rPr lang="en-US" sz="1700" b="1" dirty="0">
                <a:solidFill>
                  <a:schemeClr val="bg1"/>
                </a:solidFill>
              </a:rPr>
              <a:t>Run the live study</a:t>
            </a:r>
            <a:endParaRPr lang="en-US" sz="1700" dirty="0"/>
          </a:p>
        </p:txBody>
      </p:sp>
      <p:sp>
        <p:nvSpPr>
          <p:cNvPr id="8" name="Text 6"/>
          <p:cNvSpPr txBox="1"/>
          <p:nvPr/>
        </p:nvSpPr>
        <p:spPr>
          <a:xfrm>
            <a:off x="1325880" y="2651760"/>
            <a:ext cx="5120640" cy="548640"/>
          </a:xfrm>
          <a:prstGeom prst="rect">
            <a:avLst/>
          </a:prstGeom>
          <a:noFill/>
          <a:ln/>
        </p:spPr>
        <p:txBody>
          <a:bodyPr wrap="square" lIns="0" tIns="0" rIns="0" bIns="0" rtlCol="0" anchor="t"/>
          <a:lstStyle/>
          <a:p>
            <a:pPr indent="0" marL="0">
              <a:buNone/>
            </a:pPr>
            <a:r>
              <a:rPr lang="en-US" sz="1400" dirty="0">
                <a:solidFill>
                  <a:schemeClr val="accent4"/>
                </a:solidFill>
              </a:rPr>
              <a:t>PRE → campaign → POST with 30+ students, after ethics approval</a:t>
            </a:r>
            <a:endParaRPr lang="en-US" sz="1400" dirty="0"/>
          </a:p>
        </p:txBody>
      </p:sp>
      <p:sp>
        <p:nvSpPr>
          <p:cNvPr id="9" name="rec-number"/>
          <p:cNvSpPr txBox="1"/>
          <p:nvPr/>
        </p:nvSpPr>
        <p:spPr>
          <a:xfrm>
            <a:off x="548640" y="3273552"/>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0" name="Text 8"/>
          <p:cNvSpPr txBox="1"/>
          <p:nvPr/>
        </p:nvSpPr>
        <p:spPr>
          <a:xfrm>
            <a:off x="1325880" y="3255264"/>
            <a:ext cx="5120640" cy="347472"/>
          </a:xfrm>
          <a:prstGeom prst="rect">
            <a:avLst/>
          </a:prstGeom>
          <a:noFill/>
          <a:ln/>
        </p:spPr>
        <p:txBody>
          <a:bodyPr wrap="square" lIns="0" tIns="0" rIns="0" bIns="0" rtlCol="0" anchor="t"/>
          <a:lstStyle/>
          <a:p>
            <a:pPr indent="0" marL="0">
              <a:buNone/>
            </a:pPr>
            <a:r>
              <a:rPr lang="en-US" sz="1700" b="1" dirty="0">
                <a:solidFill>
                  <a:schemeClr val="bg1"/>
                </a:solidFill>
              </a:rPr>
              <a:t>Close the padlock gap</a:t>
            </a:r>
            <a:endParaRPr lang="en-US" sz="1700" dirty="0"/>
          </a:p>
        </p:txBody>
      </p:sp>
      <p:sp>
        <p:nvSpPr>
          <p:cNvPr id="11" name="Text 9"/>
          <p:cNvSpPr txBox="1"/>
          <p:nvPr/>
        </p:nvSpPr>
        <p:spPr>
          <a:xfrm>
            <a:off x="1325880" y="3602736"/>
            <a:ext cx="5120640" cy="548640"/>
          </a:xfrm>
          <a:prstGeom prst="rect">
            <a:avLst/>
          </a:prstGeom>
          <a:noFill/>
          <a:ln/>
        </p:spPr>
        <p:txBody>
          <a:bodyPr wrap="square" lIns="0" tIns="0" rIns="0" bIns="0" rtlCol="0" anchor="t"/>
          <a:lstStyle/>
          <a:p>
            <a:pPr indent="0" marL="0">
              <a:buNone/>
            </a:pPr>
            <a:r>
              <a:rPr lang="en-US" sz="1400" dirty="0">
                <a:solidFill>
                  <a:schemeClr val="accent4"/>
                </a:solidFill>
              </a:rPr>
              <a:t>A new post on what HTTPS does and doesn't mean</a:t>
            </a:r>
            <a:endParaRPr lang="en-US" sz="1400" dirty="0"/>
          </a:p>
        </p:txBody>
      </p:sp>
      <p:sp>
        <p:nvSpPr>
          <p:cNvPr id="12" name="rec-number"/>
          <p:cNvSpPr txBox="1"/>
          <p:nvPr/>
        </p:nvSpPr>
        <p:spPr>
          <a:xfrm>
            <a:off x="548640" y="4224528"/>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Text 11"/>
          <p:cNvSpPr txBox="1"/>
          <p:nvPr/>
        </p:nvSpPr>
        <p:spPr>
          <a:xfrm>
            <a:off x="1325880" y="4206240"/>
            <a:ext cx="5120640" cy="347472"/>
          </a:xfrm>
          <a:prstGeom prst="rect">
            <a:avLst/>
          </a:prstGeom>
          <a:noFill/>
          <a:ln/>
        </p:spPr>
        <p:txBody>
          <a:bodyPr wrap="square" lIns="0" tIns="0" rIns="0" bIns="0" rtlCol="0" anchor="t"/>
          <a:lstStyle/>
          <a:p>
            <a:pPr indent="0" marL="0">
              <a:buNone/>
            </a:pPr>
            <a:r>
              <a:rPr lang="en-US" sz="1700" b="1" dirty="0">
                <a:solidFill>
                  <a:schemeClr val="bg1"/>
                </a:solidFill>
              </a:rPr>
              <a:t>Strengthen the evidence</a:t>
            </a:r>
            <a:endParaRPr lang="en-US" sz="1700" dirty="0"/>
          </a:p>
        </p:txBody>
      </p:sp>
      <p:sp>
        <p:nvSpPr>
          <p:cNvPr id="14" name="Text 12"/>
          <p:cNvSpPr txBox="1"/>
          <p:nvPr/>
        </p:nvSpPr>
        <p:spPr>
          <a:xfrm>
            <a:off x="1325880" y="4553712"/>
            <a:ext cx="5120640" cy="548640"/>
          </a:xfrm>
          <a:prstGeom prst="rect">
            <a:avLst/>
          </a:prstGeom>
          <a:noFill/>
          <a:ln/>
        </p:spPr>
        <p:txBody>
          <a:bodyPr wrap="square" lIns="0" tIns="0" rIns="0" bIns="0" rtlCol="0" anchor="t"/>
          <a:lstStyle/>
          <a:p>
            <a:pPr indent="0" marL="0">
              <a:buNone/>
            </a:pPr>
            <a:r>
              <a:rPr lang="en-US" sz="1400" dirty="0">
                <a:solidFill>
                  <a:schemeClr val="accent4"/>
                </a:solidFill>
              </a:rPr>
              <a:t>A comparison group, plus a simulated phishing test if ethics allow</a:t>
            </a:r>
            <a:endParaRPr lang="en-US" sz="1400" dirty="0"/>
          </a:p>
        </p:txBody>
      </p:sp>
      <p:sp>
        <p:nvSpPr>
          <p:cNvPr id="15" name="rec-number"/>
          <p:cNvSpPr txBox="1"/>
          <p:nvPr/>
        </p:nvSpPr>
        <p:spPr>
          <a:xfrm>
            <a:off x="548640" y="5175504"/>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6" name="Text 14"/>
          <p:cNvSpPr txBox="1"/>
          <p:nvPr/>
        </p:nvSpPr>
        <p:spPr>
          <a:xfrm>
            <a:off x="1325880" y="5157216"/>
            <a:ext cx="5120640" cy="347472"/>
          </a:xfrm>
          <a:prstGeom prst="rect">
            <a:avLst/>
          </a:prstGeom>
          <a:noFill/>
          <a:ln/>
        </p:spPr>
        <p:txBody>
          <a:bodyPr wrap="square" lIns="0" tIns="0" rIns="0" bIns="0" rtlCol="0" anchor="t"/>
          <a:lstStyle/>
          <a:p>
            <a:pPr indent="0" marL="0">
              <a:buNone/>
            </a:pPr>
            <a:r>
              <a:rPr lang="en-US" sz="1700" b="1" dirty="0">
                <a:solidFill>
                  <a:schemeClr val="bg1"/>
                </a:solidFill>
              </a:rPr>
              <a:t>Check it lasts</a:t>
            </a:r>
            <a:endParaRPr lang="en-US" sz="1700" dirty="0"/>
          </a:p>
        </p:txBody>
      </p:sp>
      <p:sp>
        <p:nvSpPr>
          <p:cNvPr id="17" name="Text 15"/>
          <p:cNvSpPr txBox="1"/>
          <p:nvPr/>
        </p:nvSpPr>
        <p:spPr>
          <a:xfrm>
            <a:off x="1325880" y="5504688"/>
            <a:ext cx="5120640" cy="548640"/>
          </a:xfrm>
          <a:prstGeom prst="rect">
            <a:avLst/>
          </a:prstGeom>
          <a:noFill/>
          <a:ln/>
        </p:spPr>
        <p:txBody>
          <a:bodyPr wrap="square" lIns="0" tIns="0" rIns="0" bIns="0" rtlCol="0" anchor="t"/>
          <a:lstStyle/>
          <a:p>
            <a:pPr indent="0" marL="0">
              <a:buNone/>
            </a:pPr>
            <a:r>
              <a:rPr lang="en-US" sz="1400" dirty="0">
                <a:solidFill>
                  <a:schemeClr val="accent4"/>
                </a:solidFill>
              </a:rPr>
              <a:t>A follow-up survey 4–6 weeks later to measure retention</a:t>
            </a:r>
            <a:endParaRPr lang="en-US" sz="1400" dirty="0"/>
          </a:p>
        </p:txBody>
      </p:sp>
      <p:sp>
        <p:nvSpPr>
          <p:cNvPr id="18" name="card"/>
          <p:cNvSpPr/>
          <p:nvPr/>
        </p:nvSpPr>
        <p:spPr>
          <a:xfrm>
            <a:off x="6949440" y="1371600"/>
            <a:ext cx="4690872" cy="4754880"/>
          </a:xfrm>
          <a:prstGeom prst="roundRect">
            <a:avLst>
              <a:gd name="adj" fmla="val 2339"/>
            </a:avLst>
          </a:prstGeom>
          <a:solidFill>
            <a:schemeClr val="tx2"/>
          </a:solidFill>
          <a:ln/>
        </p:spPr>
      </p:sp>
      <p:sp>
        <p:nvSpPr>
          <p:cNvPr id="19" name="Text 17"/>
          <p:cNvSpPr txBox="1"/>
          <p:nvPr/>
        </p:nvSpPr>
        <p:spPr>
          <a:xfrm>
            <a:off x="7269480" y="1645920"/>
            <a:ext cx="2514600" cy="2377440"/>
          </a:xfrm>
          <a:prstGeom prst="rect">
            <a:avLst/>
          </a:prstGeom>
          <a:noFill/>
          <a:ln/>
        </p:spPr>
        <p:txBody>
          <a:bodyPr wrap="square" lIns="0" tIns="0" rIns="0" bIns="0" rtlCol="0" anchor="t"/>
          <a:lstStyle/>
          <a:p>
            <a:pPr indent="0" marL="0">
              <a:lnSpc>
                <a:spcPct val="100000"/>
              </a:lnSpc>
              <a:buNone/>
            </a:pPr>
            <a:r>
              <a:rPr lang="en-US" sz="3600" b="1" dirty="0">
                <a:solidFill>
                  <a:schemeClr val="bg1"/>
                </a:solidFill>
                <a:latin typeface="Arial" pitchFamily="34" charset="0"/>
                <a:ea typeface="Arial" pitchFamily="34" charset="-122"/>
                <a:cs typeface="Arial" pitchFamily="34" charset="-120"/>
              </a:rPr>
              <a:t>Think.</a:t>
            </a:r>
            <a:endParaRPr lang="en-US" sz="3600" dirty="0"/>
          </a:p>
          <a:p>
            <a:pPr indent="0" marL="0">
              <a:lnSpc>
                <a:spcPct val="100000"/>
              </a:lnSpc>
              <a:buNone/>
            </a:pPr>
            <a:r>
              <a:rPr lang="en-US" sz="3600" b="1" dirty="0">
                <a:solidFill>
                  <a:schemeClr val="bg1"/>
                </a:solidFill>
                <a:latin typeface="Arial" pitchFamily="34" charset="0"/>
                <a:ea typeface="Arial" pitchFamily="34" charset="-122"/>
                <a:cs typeface="Arial" pitchFamily="34" charset="-120"/>
              </a:rPr>
              <a:t>Check.</a:t>
            </a:r>
            <a:endParaRPr lang="en-US" sz="3600" dirty="0"/>
          </a:p>
          <a:p>
            <a:pPr indent="0" marL="0">
              <a:lnSpc>
                <a:spcPct val="100000"/>
              </a:lnSpc>
              <a:buNone/>
            </a:pPr>
            <a:r>
              <a:rPr lang="en-US" sz="3600" b="1" dirty="0">
                <a:solidFill>
                  <a:schemeClr val="bg1"/>
                </a:solidFill>
                <a:latin typeface="Arial" pitchFamily="34" charset="0"/>
                <a:ea typeface="Arial" pitchFamily="34" charset="-122"/>
                <a:cs typeface="Arial" pitchFamily="34" charset="-120"/>
              </a:rPr>
              <a:t>Stay safe.</a:t>
            </a:r>
            <a:endParaRPr lang="en-US" sz="3600" dirty="0"/>
          </a:p>
        </p:txBody>
      </p:sp>
      <p:sp>
        <p:nvSpPr>
          <p:cNvPr id="20" name="qr-slot"/>
          <p:cNvSpPr/>
          <p:nvPr/>
        </p:nvSpPr>
        <p:spPr>
          <a:xfrm>
            <a:off x="9692640" y="1737360"/>
            <a:ext cx="1645920" cy="1645920"/>
          </a:xfrm>
          <a:prstGeom prst="roundRect">
            <a:avLst>
              <a:gd name="adj" fmla="val 5556"/>
            </a:avLst>
          </a:prstGeom>
          <a:solidFill>
            <a:schemeClr val="bg1"/>
          </a:solidFill>
          <a:ln/>
        </p:spPr>
      </p:sp>
      <p:sp>
        <p:nvSpPr>
          <p:cNvPr id="21" name="Text 19"/>
          <p:cNvSpPr txBox="1"/>
          <p:nvPr/>
        </p:nvSpPr>
        <p:spPr>
          <a:xfrm>
            <a:off x="9692640" y="2194560"/>
            <a:ext cx="1645920" cy="731520"/>
          </a:xfrm>
          <a:prstGeom prst="rect">
            <a:avLst/>
          </a:prstGeom>
          <a:noFill/>
          <a:ln/>
        </p:spPr>
        <p:txBody>
          <a:bodyPr wrap="square" lIns="0" tIns="0" rIns="0" bIns="0" rtlCol="0" anchor="ctr"/>
          <a:lstStyle/>
          <a:p>
            <a:pPr algn="ctr" indent="0" marL="0">
              <a:buNone/>
            </a:pPr>
            <a:r>
              <a:rPr lang="en-US" sz="1200" dirty="0">
                <a:solidFill>
                  <a:schemeClr val="tx1"/>
                </a:solidFill>
              </a:rPr>
              <a:t>Survey QR code (added at launch)</a:t>
            </a:r>
            <a:endParaRPr lang="en-US" sz="1200" dirty="0"/>
          </a:p>
        </p:txBody>
      </p:sp>
      <p:sp>
        <p:nvSpPr>
          <p:cNvPr id="22" name="Text 20"/>
          <p:cNvSpPr txBox="1"/>
          <p:nvPr/>
        </p:nvSpPr>
        <p:spPr>
          <a:xfrm>
            <a:off x="7269480" y="4206240"/>
            <a:ext cx="4114800" cy="731520"/>
          </a:xfrm>
          <a:prstGeom prst="rect">
            <a:avLst/>
          </a:prstGeom>
          <a:noFill/>
          <a:ln/>
        </p:spPr>
        <p:txBody>
          <a:bodyPr wrap="square" lIns="0" tIns="0" rIns="0" bIns="0" rtlCol="0" anchor="t"/>
          <a:lstStyle/>
          <a:p>
            <a:pPr indent="0" marL="0">
              <a:buNone/>
            </a:pPr>
            <a:r>
              <a:rPr lang="en-US" sz="1600" dirty="0">
                <a:solidFill>
                  <a:schemeClr val="bg1"/>
                </a:solidFill>
              </a:rPr>
              <a:t>Follow @cyber.decoded_ and take part when the survey opens.</a:t>
            </a:r>
            <a:endParaRPr lang="en-US" sz="1600" dirty="0"/>
          </a:p>
        </p:txBody>
      </p:sp>
      <p:sp>
        <p:nvSpPr>
          <p:cNvPr id="23" name="sticky"/>
          <p:cNvSpPr txBox="1"/>
          <p:nvPr/>
        </p:nvSpPr>
        <p:spPr>
          <a:xfrm rot="-180000">
            <a:off x="7269480" y="5120640"/>
            <a:ext cx="2011680" cy="594360"/>
          </a:xfrm>
          <a:prstGeom prst="rect">
            <a:avLst/>
          </a:prstGeom>
          <a:solidFill>
            <a:schemeClr val="bg2"/>
          </a:solidFill>
          <a:ln/>
          <a:effectLst>
            <a:outerShdw sx="100000" sy="100000" kx="0" ky="0" algn="bl" rotWithShape="0" blurRad="76200" dist="25400" dir="5400000">
              <a:srgbClr val="000000">
                <a:alpha val="35000"/>
              </a:srgbClr>
            </a:outerShdw>
          </a:effectLst>
        </p:spPr>
        <p:txBody>
          <a:bodyPr wrap="square" lIns="50800" tIns="127000" rIns="127000" bIns="50800" rtlCol="0" anchor="ctr"/>
          <a:lstStyle/>
          <a:p>
            <a:pPr algn="l" indent="0" marL="0">
              <a:buNone/>
            </a:pPr>
            <a:r>
              <a:rPr lang="en-US" sz="2000" b="1" dirty="0">
                <a:solidFill>
                  <a:schemeClr val="tx1"/>
                </a:solidFill>
              </a:rPr>
              <a:t>Questions?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References</a:t>
            </a:r>
            <a:endParaRPr lang="en-US" sz="3400" dirty="0"/>
          </a:p>
        </p:txBody>
      </p:sp>
      <p:sp>
        <p:nvSpPr>
          <p:cNvPr id="3" name="Text 1"/>
          <p:cNvSpPr txBox="1"/>
          <p:nvPr/>
        </p:nvSpPr>
        <p:spPr>
          <a:xfrm>
            <a:off x="548640" y="1371600"/>
            <a:ext cx="8686800" cy="4114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Verizon (2024). 2024 Data Breach Investigations Report. verizon.com/dbir</a:t>
            </a:r>
            <a:endParaRPr lang="en-US" sz="1600" dirty="0"/>
          </a:p>
          <a:p>
            <a:pPr marL="342900" indent="-342900">
              <a:spcAft>
                <a:spcPts val="1000"/>
              </a:spcAft>
              <a:buSzPct val="100000"/>
              <a:buChar char="•"/>
            </a:pPr>
            <a:r>
              <a:rPr lang="en-US" sz="1600" dirty="0">
                <a:solidFill>
                  <a:schemeClr val="bg1"/>
                </a:solidFill>
              </a:rPr>
              <a:t>Cybernews (June 2025). Research on 16 billion leaked login credentials. cybernews.com</a:t>
            </a:r>
            <a:endParaRPr lang="en-US" sz="1600" dirty="0"/>
          </a:p>
          <a:p>
            <a:pPr marL="342900" indent="-342900">
              <a:spcAft>
                <a:spcPts val="1000"/>
              </a:spcAft>
              <a:buSzPct val="100000"/>
              <a:buChar char="•"/>
            </a:pPr>
            <a:r>
              <a:rPr lang="en-US" sz="1600" dirty="0">
                <a:solidFill>
                  <a:schemeClr val="bg1"/>
                </a:solidFill>
              </a:rPr>
              <a:t>HumanFactor source code, survey design and analysis report: github.com/sokhiaryan/HumanFactor</a:t>
            </a:r>
            <a:endParaRPr lang="en-US" sz="1600" dirty="0"/>
          </a:p>
          <a:p>
            <a:pPr marL="342900" indent="-342900">
              <a:spcAft>
                <a:spcPts val="1000"/>
              </a:spcAft>
              <a:buSzPct val="100000"/>
              <a:buChar char="•"/>
            </a:pPr>
            <a:r>
              <a:rPr lang="en-US" sz="1600" dirty="0">
                <a:solidFill>
                  <a:schemeClr val="bg1"/>
                </a:solidFill>
              </a:rPr>
              <a:t>Campaign materials: ClickWise poster series and the Instagram account @cyber.decoded_</a:t>
            </a:r>
            <a:endParaRPr lang="en-US" sz="1600" dirty="0"/>
          </a:p>
          <a:p>
            <a:pPr marL="342900" indent="-342900">
              <a:spcAft>
                <a:spcPts val="1000"/>
              </a:spcAft>
              <a:buSzPct val="100000"/>
              <a:buChar char="•"/>
            </a:pPr>
            <a:r>
              <a:rPr lang="en-US" sz="1600" dirty="0">
                <a:solidFill>
                  <a:schemeClr val="bg1"/>
                </a:solidFill>
              </a:rPr>
              <a:t>Results on slides 13–15 come from a demonstration dataset used to validate the analysis pipeline before launch.</a:t>
            </a:r>
            <a:endParaRPr lang="en-US" sz="1600" dirty="0"/>
          </a:p>
        </p:txBody>
      </p:sp>
      <p:sp>
        <p:nvSpPr>
          <p:cNvPr id="4" name="icon-bg-info"/>
          <p:cNvSpPr/>
          <p:nvPr/>
        </p:nvSpPr>
        <p:spPr>
          <a:xfrm>
            <a:off x="10149840" y="1463040"/>
            <a:ext cx="1280160" cy="1280160"/>
          </a:xfrm>
          <a:prstGeom prst="ellipse">
            <a:avLst/>
          </a:prstGeom>
          <a:solidFill>
            <a:schemeClr val="accent5"/>
          </a:solidFill>
          <a:ln/>
        </p:spPr>
      </p:sp>
      <p:pic>
        <p:nvPicPr>
          <p:cNvPr id="5" name="icon-info" descr="preencoded.png">    </p:cNvPr>
          <p:cNvPicPr>
            <a:picLocks noChangeAspect="1"/>
          </p:cNvPicPr>
          <p:nvPr/>
        </p:nvPicPr>
        <p:blipFill>
          <a:blip r:embed="rId1"/>
          <a:stretch>
            <a:fillRect/>
          </a:stretch>
        </p:blipFill>
        <p:spPr>
          <a:xfrm>
            <a:off x="10431475" y="1744675"/>
            <a:ext cx="716890" cy="71689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lickWise">
  <a:themeElements>
    <a:clrScheme name="ClickWise">
      <a:dk1>
        <a:srgbClr val="0D1424"/>
      </a:dk1>
      <a:lt1>
        <a:srgbClr val="FFFFFF"/>
      </a:lt1>
      <a:dk2>
        <a:srgbClr val="18233A"/>
      </a:dk2>
      <a:lt2>
        <a:srgbClr val="F4EAD5"/>
      </a:lt2>
      <a:accent1>
        <a:srgbClr val="F0656F"/>
      </a:accent1>
      <a:accent2>
        <a:srgbClr val="5EE08E"/>
      </a:accent2>
      <a:accent3>
        <a:srgbClr val="4CC3F5"/>
      </a:accent3>
      <a:accent4>
        <a:srgbClr val="9AA6BD"/>
      </a:accent4>
      <a:accent5>
        <a:srgbClr val="223050"/>
      </a:accent5>
      <a:accent6>
        <a:srgbClr val="F2B01E"/>
      </a:accent6>
      <a:hlink>
        <a:srgbClr val="4CC3F5"/>
      </a:hlink>
      <a:folHlink>
        <a:srgbClr val="9AA6BD"/>
      </a:folHlink>
    </a:clrScheme>
    <a:fontScheme name="ClickWi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ClickWise: Think. Check. Stay safe.</dc:title>
  <dc:subject>PptxGenJS Presentation</dc:subject>
  <dc:creator>HumanFactor project team</dc:creator>
  <cp:lastModifiedBy>HumanFactor project team</cp:lastModifiedBy>
  <cp:revision>1</cp:revision>
  <dcterms:created xsi:type="dcterms:W3CDTF">2026-10-29T05:33:33Z</dcterms:created>
  <dcterms:modified xsi:type="dcterms:W3CDTF">2026-10-29T05:33:33Z</dcterms:modified>
</cp:coreProperties>
</file>